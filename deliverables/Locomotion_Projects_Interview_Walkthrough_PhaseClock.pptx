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304434f23014a76" /><Relationship Type="http://schemas.openxmlformats.org/officeDocument/2006/relationships/extended-properties" Target="/docProps/app.xml" Id="R91f9515978864dc9" /><Relationship Type="http://schemas.openxmlformats.org/officeDocument/2006/relationships/officeDocument" Target="/ppt/presentation.xml" Id="Rc8c2b4dbb8444aa9" /></Relationships>
</file>

<file path=ppt/presentation.xml><?xml version="1.0" encoding="utf-8"?>
<p:presentation xmlns:p="http://schemas.openxmlformats.org/presentationml/2006/main">
  <p:sldMasterIdLst>
    <p:sldMasterId xmlns:r="http://schemas.openxmlformats.org/officeDocument/2006/relationships" id="2147483648" r:id="R3d0f56ad0c0a4c71"/>
  </p:sldMasterIdLst>
  <p:notesMasterIdLst>
    <p:notesMasterId xmlns:r="http://schemas.openxmlformats.org/officeDocument/2006/relationships" r:id="R8cc6ceef97b54418"/>
  </p:notesMasterIdLst>
  <p:sldIdLst>
    <p:sldId xmlns:r="http://schemas.openxmlformats.org/officeDocument/2006/relationships" id="256" r:id="Rdaabb8e01a2449ae"/>
    <p:sldId xmlns:r="http://schemas.openxmlformats.org/officeDocument/2006/relationships" id="257" r:id="R28fa313d0a7c44ef"/>
    <p:sldId xmlns:r="http://schemas.openxmlformats.org/officeDocument/2006/relationships" id="258" r:id="Rc197b14fe7fe4d1e"/>
    <p:sldId xmlns:r="http://schemas.openxmlformats.org/officeDocument/2006/relationships" id="259" r:id="Rfa91aca7fcac488b"/>
    <p:sldId xmlns:r="http://schemas.openxmlformats.org/officeDocument/2006/relationships" id="260" r:id="R14f5d3f2f4124917"/>
    <p:sldId xmlns:r="http://schemas.openxmlformats.org/officeDocument/2006/relationships" id="261" r:id="Rbcc026c52b14410d"/>
    <p:sldId xmlns:r="http://schemas.openxmlformats.org/officeDocument/2006/relationships" id="262" r:id="R5c20ecf568234eb5"/>
    <p:sldId xmlns:r="http://schemas.openxmlformats.org/officeDocument/2006/relationships" id="263" r:id="R726c77e09dc948ec"/>
    <p:sldId xmlns:r="http://schemas.openxmlformats.org/officeDocument/2006/relationships" id="264" r:id="Rb9dce8d06b8a474e"/>
    <p:sldId xmlns:r="http://schemas.openxmlformats.org/officeDocument/2006/relationships" id="265" r:id="R4e5a8c5dd7d043ca"/>
    <p:sldId xmlns:r="http://schemas.openxmlformats.org/officeDocument/2006/relationships" id="266" r:id="R464d4a663b5c4859"/>
    <p:sldId xmlns:r="http://schemas.openxmlformats.org/officeDocument/2006/relationships" id="267" r:id="Rc194a077ca0f4d10"/>
    <p:sldId xmlns:r="http://schemas.openxmlformats.org/officeDocument/2006/relationships" id="268" r:id="R06bb8eb5e93a4df2"/>
    <p:sldId xmlns:r="http://schemas.openxmlformats.org/officeDocument/2006/relationships" id="269" r:id="R396a8f1f4f2247f5"/>
    <p:sldId xmlns:r="http://schemas.openxmlformats.org/officeDocument/2006/relationships" id="270" r:id="R9b57dd22630e4c1c"/>
    <p:sldId xmlns:r="http://schemas.openxmlformats.org/officeDocument/2006/relationships" id="271" r:id="R987ea55293f143de"/>
    <p:sldId xmlns:r="http://schemas.openxmlformats.org/officeDocument/2006/relationships" id="272" r:id="R1d74714daf9c4d83"/>
    <p:sldId xmlns:r="http://schemas.openxmlformats.org/officeDocument/2006/relationships" id="273" r:id="R7b4b98c2465e413d"/>
    <p:sldId xmlns:r="http://schemas.openxmlformats.org/officeDocument/2006/relationships" id="274" r:id="R6dd182b2df604471"/>
    <p:sldId xmlns:r="http://schemas.openxmlformats.org/officeDocument/2006/relationships" id="275" r:id="Rf23631c7394f4d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180d6ad3e74511" /><Relationship Type="http://schemas.openxmlformats.org/officeDocument/2006/relationships/slideMaster" Target="/ppt/slideMasters/slideMaster1.xml" Id="R3d0f56ad0c0a4c71" /><Relationship Type="http://schemas.openxmlformats.org/officeDocument/2006/relationships/notesMaster" Target="/ppt/notesMasters/notesMaster1.xml" Id="R8cc6ceef97b54418" /><Relationship Type="http://schemas.openxmlformats.org/officeDocument/2006/relationships/presProps" Target="/ppt/presProps.xml" Id="R50c8e47cf26645f3" /><Relationship Type="http://schemas.openxmlformats.org/officeDocument/2006/relationships/tableStyles" Target="/ppt/tableStyles.xml" Id="R14ab98b12d0d46c2" /><Relationship Type="http://schemas.openxmlformats.org/officeDocument/2006/relationships/slide" Target="/ppt/slides/slide1.xml" Id="Rdaabb8e01a2449ae" /><Relationship Type="http://schemas.openxmlformats.org/officeDocument/2006/relationships/slide" Target="/ppt/slides/slide2.xml" Id="R28fa313d0a7c44ef" /><Relationship Type="http://schemas.openxmlformats.org/officeDocument/2006/relationships/slide" Target="/ppt/slides/slide3.xml" Id="Rc197b14fe7fe4d1e" /><Relationship Type="http://schemas.openxmlformats.org/officeDocument/2006/relationships/slide" Target="/ppt/slides/slide4.xml" Id="Rfa91aca7fcac488b" /><Relationship Type="http://schemas.openxmlformats.org/officeDocument/2006/relationships/slide" Target="/ppt/slides/slide5.xml" Id="R14f5d3f2f4124917" /><Relationship Type="http://schemas.openxmlformats.org/officeDocument/2006/relationships/slide" Target="/ppt/slides/slide6.xml" Id="Rbcc026c52b14410d" /><Relationship Type="http://schemas.openxmlformats.org/officeDocument/2006/relationships/slide" Target="/ppt/slides/slide7.xml" Id="R5c20ecf568234eb5" /><Relationship Type="http://schemas.openxmlformats.org/officeDocument/2006/relationships/slide" Target="/ppt/slides/slide8.xml" Id="R726c77e09dc948ec" /><Relationship Type="http://schemas.openxmlformats.org/officeDocument/2006/relationships/slide" Target="/ppt/slides/slide9.xml" Id="Rb9dce8d06b8a474e" /><Relationship Type="http://schemas.openxmlformats.org/officeDocument/2006/relationships/slide" Target="/ppt/slides/slide10.xml" Id="R4e5a8c5dd7d043ca" /><Relationship Type="http://schemas.openxmlformats.org/officeDocument/2006/relationships/slide" Target="/ppt/slides/slide11.xml" Id="R464d4a663b5c4859" /><Relationship Type="http://schemas.openxmlformats.org/officeDocument/2006/relationships/slide" Target="/ppt/slides/slide12.xml" Id="Rc194a077ca0f4d10" /><Relationship Type="http://schemas.openxmlformats.org/officeDocument/2006/relationships/slide" Target="/ppt/slides/slide13.xml" Id="R06bb8eb5e93a4df2" /><Relationship Type="http://schemas.openxmlformats.org/officeDocument/2006/relationships/slide" Target="/ppt/slides/slide14.xml" Id="R396a8f1f4f2247f5" /><Relationship Type="http://schemas.openxmlformats.org/officeDocument/2006/relationships/slide" Target="/ppt/slides/slide15.xml" Id="R9b57dd22630e4c1c" /><Relationship Type="http://schemas.openxmlformats.org/officeDocument/2006/relationships/slide" Target="/ppt/slides/slide16.xml" Id="R987ea55293f143de" /><Relationship Type="http://schemas.openxmlformats.org/officeDocument/2006/relationships/slide" Target="/ppt/slides/slide17.xml" Id="R1d74714daf9c4d83" /><Relationship Type="http://schemas.openxmlformats.org/officeDocument/2006/relationships/slide" Target="/ppt/slides/slide18.xml" Id="R7b4b98c2465e413d" /><Relationship Type="http://schemas.openxmlformats.org/officeDocument/2006/relationships/slide" Target="/ppt/slides/slide19.xml" Id="R6dd182b2df604471" /><Relationship Type="http://schemas.openxmlformats.org/officeDocument/2006/relationships/slide" Target="/ppt/slides/slide20.xml" Id="Rf23631c7394f4d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909e40aef14e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7859c3ab9a42b2" /><Relationship Type="http://schemas.openxmlformats.org/officeDocument/2006/relationships/notesMaster" Target="/ppt/notesMasters/notesMaster1.xml" Id="R97751f7101db49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17556f17424ed1" /><Relationship Type="http://schemas.openxmlformats.org/officeDocument/2006/relationships/notesMaster" Target="/ppt/notesMasters/notesMaster1.xml" Id="R68a307eb9e2847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e6498ac4484918" /><Relationship Type="http://schemas.openxmlformats.org/officeDocument/2006/relationships/notesMaster" Target="/ppt/notesMasters/notesMaster1.xml" Id="Rb8fbad3032f047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2eb62fb02a4b7d" /><Relationship Type="http://schemas.openxmlformats.org/officeDocument/2006/relationships/notesMaster" Target="/ppt/notesMasters/notesMaster1.xml" Id="R328af83916b44c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3cba7fbf484c03" /><Relationship Type="http://schemas.openxmlformats.org/officeDocument/2006/relationships/notesMaster" Target="/ppt/notesMasters/notesMaster1.xml" Id="R7a282fce189345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2f10c9cea0eb4936" /><Relationship Type="http://schemas.openxmlformats.org/officeDocument/2006/relationships/notesMaster" Target="/ppt/notesMasters/notesMaster1.xml" Id="R19a6e67134484a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acc8a85108414f" /><Relationship Type="http://schemas.openxmlformats.org/officeDocument/2006/relationships/notesMaster" Target="/ppt/notesMasters/notesMaster1.xml" Id="R8df748e3f0ab4c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b172a3b981c4216" /><Relationship Type="http://schemas.openxmlformats.org/officeDocument/2006/relationships/notesMaster" Target="/ppt/notesMasters/notesMaster1.xml" Id="R798155f86c52476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325f6237b6460e" /><Relationship Type="http://schemas.openxmlformats.org/officeDocument/2006/relationships/notesMaster" Target="/ppt/notesMasters/notesMaster1.xml" Id="R51f7ab607e3d49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af130f144243b5" /><Relationship Type="http://schemas.openxmlformats.org/officeDocument/2006/relationships/notesMaster" Target="/ppt/notesMasters/notesMaster1.xml" Id="Rdedc920fee804a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ff50b9fbd01410b" /><Relationship Type="http://schemas.openxmlformats.org/officeDocument/2006/relationships/notesMaster" Target="/ppt/notesMasters/notesMaster1.xml" Id="Rb29c4fbbe0e940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206b99b84a40e1" /><Relationship Type="http://schemas.openxmlformats.org/officeDocument/2006/relationships/notesMaster" Target="/ppt/notesMasters/notesMaster1.xml" Id="Re70ed597a81445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016d064e3fd4640" /><Relationship Type="http://schemas.openxmlformats.org/officeDocument/2006/relationships/notesMaster" Target="/ppt/notesMasters/notesMaster1.xml" Id="Rc2f695dda08b44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0753b7ff5e84b12" /><Relationship Type="http://schemas.openxmlformats.org/officeDocument/2006/relationships/notesMaster" Target="/ppt/notesMasters/notesMaster1.xml" Id="Rb2709783fdaa4f1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3624c49ec1d45a5" /><Relationship Type="http://schemas.openxmlformats.org/officeDocument/2006/relationships/notesMaster" Target="/ppt/notesMasters/notesMaster1.xml" Id="R90b831f1dcfd4ae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8d0c9a06d6c4480" /><Relationship Type="http://schemas.openxmlformats.org/officeDocument/2006/relationships/notesMaster" Target="/ppt/notesMasters/notesMaster1.xml" Id="Rcef230c6899b496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16fe24312314ade" /><Relationship Type="http://schemas.openxmlformats.org/officeDocument/2006/relationships/notesMaster" Target="/ppt/notesMasters/notesMaster1.xml" Id="Rdd455a3a2a324f7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1e2c279a4d64d30" /><Relationship Type="http://schemas.openxmlformats.org/officeDocument/2006/relationships/notesMaster" Target="/ppt/notesMasters/notesMaster1.xml" Id="R1c597a44c2634fc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100b87d53fe49a0" /><Relationship Type="http://schemas.openxmlformats.org/officeDocument/2006/relationships/notesMaster" Target="/ppt/notesMasters/notesMaster1.xml" Id="Rb6d5708b520f4d2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cd23fe32d4e4393" /><Relationship Type="http://schemas.openxmlformats.org/officeDocument/2006/relationships/notesMaster" Target="/ppt/notesMasters/notesMaster1.xml" Id="R80eb318ab534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presentation as two different locomotion problems solved with the same engineering mindset: define the desired behavior, build progressively, and validate the result under realistic constraints.</a:t>
            </a:r>
          </a:p>
          <a:p xmlns:a="http://schemas.openxmlformats.org/drawingml/2006/main">
            <a:r>
              <a:t/>
            </a:r>
          </a:p>
          <a:p xmlns:a="http://schemas.openxmlformats.org/drawingml/2006/main">
            <a:r>
              <a:t>[Sources]</a:t>
            </a:r>
          </a:p>
          <a:p xmlns:a="http://schemas.openxmlformats.org/drawingml/2006/main">
            <a:r>
              <a:t>- User-provided MIG Presentation.pptx</a:t>
            </a:r>
          </a:p>
          <a:p xmlns:a="http://schemas.openxmlformats.org/drawingml/2006/main">
            <a:r>
              <a:t>- Local ANYmal project report: DOMAIN_RANDOMIZATION_REPORT.md</a:t>
            </a:r>
          </a:p>
          <a:p xmlns:a="http://schemas.openxmlformats.org/drawingml/2006/main">
            <a:r>
              <a:t>- Generated ANYmal cover visual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portfolio map. Spend only enough time to distinguish the two projects, then move directly into the thesis story.</a:t>
            </a:r>
          </a:p>
          <a:p xmlns:a="http://schemas.openxmlformats.org/drawingml/2006/main">
            <a:r>
              <a:t/>
            </a:r>
          </a:p>
          <a:p xmlns:a="http://schemas.openxmlformats.org/drawingml/2006/main">
            <a:r>
              <a:t>[Sources]</a:t>
            </a:r>
          </a:p>
          <a:p xmlns:a="http://schemas.openxmlformats.org/drawingml/2006/main">
            <a:r>
              <a:t>- User-provided MIG Presentation.pptx</a:t>
            </a:r>
          </a:p>
          <a:p xmlns:a="http://schemas.openxmlformats.org/drawingml/2006/main">
            <a:r>
              <a:t>- Local ANYmal project README and DOMAIN_RANDOMIZATION_REPORT.md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concrete example: moving a hand to an interaction target requires the feet and body to arrive in the right place, not merely look plausible from far away.</a:t>
            </a:r>
          </a:p>
          <a:p xmlns:a="http://schemas.openxmlformats.org/drawingml/2006/main">
            <a:r>
              <a:t/>
            </a:r>
          </a:p>
          <a:p xmlns:a="http://schemas.openxmlformats.org/drawingml/2006/main">
            <a:r>
              <a:t>[Sources]</a:t>
            </a:r>
          </a:p>
          <a:p xmlns:a="http://schemas.openxmlformats.org/drawingml/2006/main">
            <a:r>
              <a:t>- User-provided MIG Presentation.pptx, slides 2–9 and embedded image22.png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this nontechnical. The method is a select–adapt–repair pipeline. The important decision was to preserve authored motion quality while changing only the pieces needed for spatial precision.</a:t>
            </a:r>
          </a:p>
          <a:p xmlns:a="http://schemas.openxmlformats.org/drawingml/2006/main">
            <a:r>
              <a:t/>
            </a:r>
          </a:p>
          <a:p xmlns:a="http://schemas.openxmlformats.org/drawingml/2006/main">
            <a:r>
              <a:t>[Sources]</a:t>
            </a:r>
          </a:p>
          <a:p xmlns:a="http://schemas.openxmlformats.org/drawingml/2006/main">
            <a:r>
              <a:t>- User-provided MIG Presentation.pptx, slides 10–26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what shipped: not an offline algorithm, but a hybrid runtime component that could accept goals repeatedly, adapt sequences, and gracefully fall back when needed.</a:t>
            </a:r>
          </a:p>
          <a:p xmlns:a="http://schemas.openxmlformats.org/drawingml/2006/main">
            <a:r>
              <a:t/>
            </a:r>
          </a:p>
          <a:p xmlns:a="http://schemas.openxmlformats.org/drawingml/2006/main">
            <a:r>
              <a:t>[Sources]</a:t>
            </a:r>
          </a:p>
          <a:p xmlns:a="http://schemas.openxmlformats.org/drawingml/2006/main">
            <a:r>
              <a:t>- User-provided MIG Presentation.pptx, slide 36 and embedded image37.png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the plot rather than explaining its axes. Blue targets succeeded across most of the reachable area; red clusters show where the available clips could not be adapted convincingly. State that these timings came from the thesis measurements.</a:t>
            </a:r>
          </a:p>
          <a:p xmlns:a="http://schemas.openxmlformats.org/drawingml/2006/main">
            <a:r>
              <a:t/>
            </a:r>
          </a:p>
          <a:p xmlns:a="http://schemas.openxmlformats.org/drawingml/2006/main">
            <a:r>
              <a:t>[Sources]</a:t>
            </a:r>
          </a:p>
          <a:p xmlns:a="http://schemas.openxmlformats.org/drawingml/2006/main">
            <a:r>
              <a:t>- User-provided MIG Presentation.pptx, slides 29–34 and embedded image31.png/image33.png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transition is important. It makes the second project feel like a progression in engineering judgment rather than an unrelated hobby project.</a:t>
            </a:r>
          </a:p>
          <a:p xmlns:a="http://schemas.openxmlformats.org/drawingml/2006/main">
            <a:r>
              <a:t/>
            </a:r>
          </a:p>
          <a:p xmlns:a="http://schemas.openxmlformats.org/drawingml/2006/main">
            <a:r>
              <a:t>[Sources]</a:t>
            </a:r>
          </a:p>
          <a:p xmlns:a="http://schemas.openxmlformats.org/drawingml/2006/main">
            <a:r>
              <a:t>- Synthesis based on user-provided MIG Presentation.pptx and local ANYmal project history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reward hacking in plain language: the robot did exactly what the incentives allowed. The work became behavior specification and diagnosis, not merely parameter tuning.</a:t>
            </a:r>
          </a:p>
          <a:p xmlns:a="http://schemas.openxmlformats.org/drawingml/2006/main">
            <a:r>
              <a:t/>
            </a:r>
          </a:p>
          <a:p xmlns:a="http://schemas.openxmlformats.org/drawingml/2006/main">
            <a:r>
              <a:t>[Sources]</a:t>
            </a:r>
          </a:p>
          <a:p xmlns:a="http://schemas.openxmlformats.org/drawingml/2006/main">
            <a:r>
              <a:t>- Local ANYmal project report: DOMAIN_RANDOMIZATION_REPORT.md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this quickly as an engineering progression. Each stage was validated before adding the next source of complexity.</a:t>
            </a:r>
          </a:p>
          <a:p xmlns:a="http://schemas.openxmlformats.org/drawingml/2006/main">
            <a:r>
              <a:t/>
            </a:r>
          </a:p>
          <a:p xmlns:a="http://schemas.openxmlformats.org/drawingml/2006/main">
            <a:r>
              <a:t>[Sources]</a:t>
            </a:r>
          </a:p>
          <a:p xmlns:a="http://schemas.openxmlformats.org/drawingml/2006/main">
            <a:r>
              <a:t>- Local ANYmal project history and DOMAIN_RANDOMIZATION_REPORT.md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what another engineer could actually use: interactive control, terrain inspection, reproducible runs, checkpoint management, and evaluation artifacts.</a:t>
            </a:r>
          </a:p>
          <a:p xmlns:a="http://schemas.openxmlformats.org/drawingml/2006/main">
            <a:r>
              <a:t/>
            </a:r>
          </a:p>
          <a:p xmlns:a="http://schemas.openxmlformats.org/drawingml/2006/main">
            <a:r>
              <a:t>[Sources]</a:t>
            </a:r>
          </a:p>
          <a:p xmlns:a="http://schemas.openxmlformats.org/drawingml/2006/main">
            <a:r>
              <a:t>- Local ANYmal project README.md and source configuration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objective as a hierarchy. Tracking produces the task behavior. Stability and efficiency keep the solution physically plausible. The gait terms remove degenerate solutions. The phase reward remains gated so it does not prescribe a trot during standing or turning.</a:t>
            </a:r>
          </a:p>
          <a:p xmlns:a="http://schemas.openxmlformats.org/drawingml/2006/main">
            <a:r>
              <a:t/>
            </a:r>
          </a:p>
          <a:p xmlns:a="http://schemas.openxmlformats.org/drawingml/2006/main">
            <a:r>
              <a:t>[Sources]</a:t>
            </a:r>
          </a:p>
          <a:p xmlns:a="http://schemas.openxmlformats.org/drawingml/2006/main">
            <a:r>
              <a:t>- anymaltraining_env_cfg.py</a:t>
            </a:r>
          </a:p>
          <a:p xmlns:a="http://schemas.openxmlformats.org/drawingml/2006/main">
            <a:r>
              <a:t>- anymaltraining_env.py</a:t>
            </a:r>
          </a:p>
          <a:p xmlns:a="http://schemas.openxmlformats.org/drawingml/2006/main">
            <a:r>
              <a:t>- PHASE_CLOCK_GAIT_REPORT.md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gait evaluation uses LF touchdowns to delimit stride cycles. It measures where the other three feet touch down within each cycle and uses circular distance to avoid a discontinuity at zero. TDI combines phase accuracy with load balance and stride regularity. The controlled protocol fixes the terrain, command, seed, warm-up, and measurement duration.</a:t>
            </a:r>
          </a:p>
          <a:p xmlns:a="http://schemas.openxmlformats.org/drawingml/2006/main">
            <a:r>
              <a:t/>
            </a:r>
          </a:p>
          <a:p xmlns:a="http://schemas.openxmlformats.org/drawingml/2006/main">
            <a:r>
              <a:t>[Sources]</a:t>
            </a:r>
          </a:p>
          <a:p xmlns:a="http://schemas.openxmlformats.org/drawingml/2006/main">
            <a:r>
              <a:t>- scripts/rsl_rl/evaluate_gait.py</a:t>
            </a:r>
          </a:p>
          <a:p xmlns:a="http://schemas.openxmlformats.org/drawingml/2006/main">
            <a:r>
              <a:t>- gait_evaluation/scale035_error020/summary.json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negative result is central to the engineering story. The event reward directly referenced touchdown error, but the signal remained sparse and partially observable. The controlled evaluation showed a statistically clear regression, so the code was reverted and the experiment retained as an ablation.</a:t>
            </a:r>
          </a:p>
          <a:p xmlns:a="http://schemas.openxmlformats.org/drawingml/2006/main">
            <a:r>
              <a:t/>
            </a:r>
          </a:p>
          <a:p xmlns:a="http://schemas.openxmlformats.org/drawingml/2006/main">
            <a:r>
              <a:t>[Sources]</a:t>
            </a:r>
          </a:p>
          <a:p xmlns:a="http://schemas.openxmlformats.org/drawingml/2006/main">
            <a:r>
              <a:t>- gait_evaluation/explicit_touchdown_phase/summary.json</a:t>
            </a:r>
          </a:p>
          <a:p xmlns:a="http://schemas.openxmlformats.org/drawingml/2006/main">
            <a:r>
              <a:t>- gait_evaluation/comparison_best_vs_explicit_phase.json</a:t>
            </a:r>
          </a:p>
          <a:p xmlns:a="http://schemas.openxmlformats.org/drawingml/2006/main">
            <a:r>
              <a:t>- PHASE_CLOCK_GAIT_REPORT.md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clock runs at 2.5 Hz, close to the baseline policy's measured 0.39 second stride. LF and RH share one stance window. RF and LH use the same window shifted by half a cycle. The dense reward compares desired and actual contact at every policy step. The gate limits the schedule to straight forward motion.</a:t>
            </a:r>
          </a:p>
          <a:p xmlns:a="http://schemas.openxmlformats.org/drawingml/2006/main">
            <a:r>
              <a:t/>
            </a:r>
          </a:p>
          <a:p xmlns:a="http://schemas.openxmlformats.org/drawingml/2006/main">
            <a:r>
              <a:t>[Sources]</a:t>
            </a:r>
          </a:p>
          <a:p xmlns:a="http://schemas.openxmlformats.org/drawingml/2006/main">
            <a:r>
              <a:t>- anymaltraining_env.py</a:t>
            </a:r>
          </a:p>
          <a:p xmlns:a="http://schemas.openxmlformats.org/drawingml/2006/main">
            <a:r>
              <a:t>- anymaltraining_env_cfg.py</a:t>
            </a:r>
          </a:p>
          <a:p xmlns:a="http://schemas.openxmlformats.org/drawingml/2006/main">
            <a:r>
              <a:t>- PHASE_CLOCK_GAIT_REPORT.md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changed from 235 to 237 inputs. The migration utility appended zero columns to the actor and critic first layers and to the Adam moments. All other parameters remained unchanged. This makes the experiment a clean fine-tune rather than a new training run. The first strong result appeared around 100 updates, so training stopped there.</a:t>
            </a:r>
          </a:p>
          <a:p xmlns:a="http://schemas.openxmlformats.org/drawingml/2006/main">
            <a:r>
              <a:t/>
            </a:r>
          </a:p>
          <a:p xmlns:a="http://schemas.openxmlformats.org/drawingml/2006/main">
            <a:r>
              <a:t>[Sources]</a:t>
            </a:r>
          </a:p>
          <a:p xmlns:a="http://schemas.openxmlformats.org/drawingml/2006/main">
            <a:r>
              <a:t>- scripts/rsl_rl/migrate_phase_clock_checkpoint.py</a:t>
            </a:r>
          </a:p>
          <a:p xmlns:a="http://schemas.openxmlformats.org/drawingml/2006/main">
            <a:r>
              <a:t>- PHASE_CLOCK_GAIT_REPORT.md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phase MAE because it was the stated defect. The paired confidence interval excludes zero. TDI, duty balance, stride consistency, diagonal agreement, and opposition all moved in the desired direction. Velocity error changed by only 0.00020 metres per second and no robot fell in the controlled trials.</a:t>
            </a:r>
          </a:p>
          <a:p xmlns:a="http://schemas.openxmlformats.org/drawingml/2006/main">
            <a:r>
              <a:t/>
            </a:r>
          </a:p>
          <a:p xmlns:a="http://schemas.openxmlformats.org/drawingml/2006/main">
            <a:r>
              <a:t>[Sources]</a:t>
            </a:r>
          </a:p>
          <a:p xmlns:a="http://schemas.openxmlformats.org/drawingml/2006/main">
            <a:r>
              <a:t>- gait_evaluation/comparison_best_vs_phase_clock_3100.json</a:t>
            </a:r>
          </a:p>
          <a:p xmlns:a="http://schemas.openxmlformats.org/drawingml/2006/main">
            <a:r>
              <a:t>- gait_evaluation/phase_clock_3100/summary.json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present the phase clock as an unconditional improvement. On generated rough terrain, completion decreased by two episodes out of 256 and planar tracking error rose by eight millimetres per second. This suggests that rigid periodicity can conflict with adaptive foot placement. A terrain-conditioned phase weight or adaptive oscillator would be the next experiment.</a:t>
            </a:r>
          </a:p>
          <a:p xmlns:a="http://schemas.openxmlformats.org/drawingml/2006/main">
            <a:r>
              <a:t/>
            </a:r>
          </a:p>
          <a:p xmlns:a="http://schemas.openxmlformats.org/drawingml/2006/main">
            <a:r>
              <a:t>[Sources]</a:t>
            </a:r>
          </a:p>
          <a:p xmlns:a="http://schemas.openxmlformats.org/drawingml/2006/main">
            <a:r>
              <a:t>- evaluations/baseline_model_2996_rough_matched/summary.json</a:t>
            </a:r>
          </a:p>
          <a:p xmlns:a="http://schemas.openxmlformats.org/drawingml/2006/main">
            <a:r>
              <a:t>- evaluations/phase_clock_3100_rough/summary.json</a:t>
            </a:r>
          </a:p>
          <a:p xmlns:a="http://schemas.openxmlformats.org/drawingml/2006/main">
            <a:r>
              <a:t>- PHASE_CLOCK_GAIT_REPORT.md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matched experimental design: both policies started from the same checkpoint and trained for the same additional budget. Then state the result honestly—randomization improved difficult translational survival but did not improve every behavior.</a:t>
            </a:r>
          </a:p>
          <a:p xmlns:a="http://schemas.openxmlformats.org/drawingml/2006/main">
            <a:r>
              <a:t/>
            </a:r>
          </a:p>
          <a:p xmlns:a="http://schemas.openxmlformats.org/drawingml/2006/main">
            <a:r>
              <a:t>[Sources]</a:t>
            </a:r>
          </a:p>
          <a:p xmlns:a="http://schemas.openxmlformats.org/drawingml/2006/main">
            <a:r>
              <a:t>- Local ANYmal DOMAIN_RANDOMIZATION_REPORT.md and evaluation summary JSON files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qualify the previous result. The DR policy did not simply become more accurate everywhere: under unseen physics it traded some planar command precision for a higher probability of finishing the episode. Yaw tracking still improved slightly.</a:t>
            </a:r>
          </a:p>
          <a:p xmlns:a="http://schemas.openxmlformats.org/drawingml/2006/main">
            <a:r>
              <a:t/>
            </a:r>
          </a:p>
          <a:p xmlns:a="http://schemas.openxmlformats.org/drawingml/2006/main">
            <a:r>
              <a:t>[Sources]</a:t>
            </a:r>
          </a:p>
          <a:p xmlns:a="http://schemas.openxmlformats.org/drawingml/2006/main">
            <a:r>
              <a:t>- Local ANYmal DOMAIN_RANDOMIZATION_REPORT.md — primary matched comparison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the work to the role: you can formulate locomotion problems, make system-level tradeoffs, implement the full loop, and evaluate claims critically.</a:t>
            </a:r>
          </a:p>
          <a:p xmlns:a="http://schemas.openxmlformats.org/drawingml/2006/main">
            <a:r>
              <a:t/>
            </a:r>
          </a:p>
          <a:p xmlns:a="http://schemas.openxmlformats.org/drawingml/2006/main">
            <a:r>
              <a:t>[Sources]</a:t>
            </a:r>
          </a:p>
          <a:p xmlns:a="http://schemas.openxmlformats.org/drawingml/2006/main">
            <a:r>
              <a:t>- User-provided MIG Presentation.pptx</a:t>
            </a:r>
          </a:p>
          <a:p xmlns:a="http://schemas.openxmlformats.org/drawingml/2006/main">
            <a:r>
              <a:t>- Local ANYmal project report: DOMAIN_RANDOMIZATION_REPORT.md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09046c3a4e40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9e2fe4dcfc146ef" /><Relationship Type="http://schemas.openxmlformats.org/officeDocument/2006/relationships/slideLayout" Target="/ppt/slideLayouts/slideLayout1.xml" Id="R5f3917b848ea4b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3917b848ea4b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9d43e896ab4375" /><Relationship Type="http://schemas.openxmlformats.org/officeDocument/2006/relationships/image" Target="/ppt/media/image.png" Id="R9961c65e2dc54379" /><Relationship Type="http://schemas.openxmlformats.org/officeDocument/2006/relationships/image" Target="/ppt/media/image2.png" Id="R9851d7aab52f43cc" /><Relationship Type="http://schemas.openxmlformats.org/officeDocument/2006/relationships/notesSlide" Target="/ppt/notesSlides/notesSlide1.xml" Id="R5b02f825c23a41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61b8d62d934856" /><Relationship Type="http://schemas.openxmlformats.org/officeDocument/2006/relationships/notesSlide" Target="/ppt/notesSlides/notesSlide2.xml" Id="Rca422a29c8914b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9f384d67f045e2" /><Relationship Type="http://schemas.openxmlformats.org/officeDocument/2006/relationships/image" Target="/ppt/media/image3.png" Id="R373e2e39bb234684" /><Relationship Type="http://schemas.openxmlformats.org/officeDocument/2006/relationships/notesSlide" Target="/ppt/notesSlides/notesSlide3.xml" Id="R77b7efefa1f042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9fb4227b9647bf" /><Relationship Type="http://schemas.openxmlformats.org/officeDocument/2006/relationships/notesSlide" Target="/ppt/notesSlides/notesSlide4.xml" Id="R8f561e890360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f6dada2fb84a29" /><Relationship Type="http://schemas.openxmlformats.org/officeDocument/2006/relationships/image" Target="/ppt/media/image4.png" Id="Rfd6a7458273d4fca" /><Relationship Type="http://schemas.openxmlformats.org/officeDocument/2006/relationships/notesSlide" Target="/ppt/notesSlides/notesSlide5.xml" Id="R1fa9f07cae6346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faf14e741b648d9" /><Relationship Type="http://schemas.openxmlformats.org/officeDocument/2006/relationships/image" Target="/ppt/media/image5.png" Id="Ra16a4be32c5f4a2c" /><Relationship Type="http://schemas.openxmlformats.org/officeDocument/2006/relationships/notesSlide" Target="/ppt/notesSlides/notesSlide6.xml" Id="R71281f2e473c48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097e2b08f2048d8" /><Relationship Type="http://schemas.openxmlformats.org/officeDocument/2006/relationships/notesSlide" Target="/ppt/notesSlides/notesSlide7.xml" Id="R638f0c19c08845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cadfa889e3446dd" /><Relationship Type="http://schemas.openxmlformats.org/officeDocument/2006/relationships/notesSlide" Target="/ppt/notesSlides/notesSlide8.xml" Id="R957231501b1b4e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3ac6edd9fe438b" /><Relationship Type="http://schemas.openxmlformats.org/officeDocument/2006/relationships/notesSlide" Target="/ppt/notesSlides/notesSlide9.xml" Id="Re65be78b21ad43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8c88369b914160" /><Relationship Type="http://schemas.openxmlformats.org/officeDocument/2006/relationships/notesSlide" Target="/ppt/notesSlides/notesSlide10.xml" Id="R0299724eb8e24b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f94eb98d0c84efd" /><Relationship Type="http://schemas.openxmlformats.org/officeDocument/2006/relationships/notesSlide" Target="/ppt/notesSlides/notesSlide11.xml" Id="Rc1c2e52ea0294c5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d96ce40091473e" /><Relationship Type="http://schemas.openxmlformats.org/officeDocument/2006/relationships/notesSlide" Target="/ppt/notesSlides/notesSlide12.xml" Id="R259ca793b5e4433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30958e72ff437d" /><Relationship Type="http://schemas.openxmlformats.org/officeDocument/2006/relationships/notesSlide" Target="/ppt/notesSlides/notesSlide13.xml" Id="Rc2056153668b44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2d5b67835eb478e" /><Relationship Type="http://schemas.openxmlformats.org/officeDocument/2006/relationships/notesSlide" Target="/ppt/notesSlides/notesSlide14.xml" Id="Rcd75c303ce0d42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803076ebc14d7a" /><Relationship Type="http://schemas.openxmlformats.org/officeDocument/2006/relationships/notesSlide" Target="/ppt/notesSlides/notesSlide15.xml" Id="R4de8988cb9a049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869b7fb3fa84588" /><Relationship Type="http://schemas.openxmlformats.org/officeDocument/2006/relationships/notesSlide" Target="/ppt/notesSlides/notesSlide16.xml" Id="Rfff29e4181304a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394148eb604da2" /><Relationship Type="http://schemas.openxmlformats.org/officeDocument/2006/relationships/notesSlide" Target="/ppt/notesSlides/notesSlide17.xml" Id="R3c241304de6d470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3cc93c4ec1a444f" /><Relationship Type="http://schemas.openxmlformats.org/officeDocument/2006/relationships/chart" Target="/ppt/slides/charts/chart1.xml" Id="R4603074660034ed1" /><Relationship Type="http://schemas.openxmlformats.org/officeDocument/2006/relationships/notesSlide" Target="/ppt/notesSlides/notesSlide18.xml" Id="R8193e01c4d2b4a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6acfe7383274944" /><Relationship Type="http://schemas.openxmlformats.org/officeDocument/2006/relationships/notesSlide" Target="/ppt/notesSlides/notesSlide19.xml" Id="R0849c8b2ad7744e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e36bd11ca704c77" /><Relationship Type="http://schemas.openxmlformats.org/officeDocument/2006/relationships/notesSlide" Target="/ppt/notesSlides/notesSlide20.xml" Id="Rd961b0ba3fd045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Nominal control</c:v>
          </c:tx>
          <c:spPr>
            <a:solidFill xmlns:a="http://schemas.openxmlformats.org/drawingml/2006/main">
              <a:srgbClr val="B8BCC4"/>
            </a:solidFill>
          </c:spPr>
          <c:cat>
            <c:strRef>
              <c:f>'Chart Data'!$A$2:$A$3</c:f>
              <c:strCache>
                <c:ptCount val="2"/>
                <c:pt idx="0">
                  <c:v>Nominal physics</c:v>
                </c:pt>
                <c:pt idx="1">
                  <c:v>Held-out OOD</c:v>
                </c:pt>
              </c:strCache>
            </c:strRef>
          </c:cat>
          <c:val>
            <c:numRef>
              <c:f>'Chart Data'!$B$2:$B$3</c:f>
              <c:numCache>
                <c:formatCode>0%</c:formatCode>
                <c:ptCount val="2"/>
                <c:pt idx="0">
                  <c:v>0.965</c:v>
                </c:pt>
                <c:pt idx="1">
                  <c:v>0.852</c:v>
                </c:pt>
              </c:numCache>
            </c:numRef>
          </c:val>
        </c:ser>
        <c:ser>
          <c:idx val="1"/>
          <c:order val="1"/>
          <c:tx>
            <c:v>DR policy</c:v>
          </c:tx>
          <c:spPr>
            <a:solidFill xmlns:a="http://schemas.openxmlformats.org/drawingml/2006/main">
              <a:srgbClr val="3D8DFF"/>
            </a:solidFill>
          </c:spPr>
          <c:cat>
            <c:strRef>
              <c:f>'Chart Data'!$C$2:$C$3</c:f>
              <c:strCache>
                <c:ptCount val="2"/>
                <c:pt idx="0">
                  <c:v>Nominal physics</c:v>
                </c:pt>
                <c:pt idx="1">
                  <c:v>Held-out OOD</c:v>
                </c:pt>
              </c:strCache>
            </c:strRef>
          </c:cat>
          <c:val>
            <c:numRef>
              <c:f>'Chart Data'!$D$2:$D$3</c:f>
              <c:numCache>
                <c:formatCode>0%</c:formatCode>
                <c:ptCount val="2"/>
                <c:pt idx="0">
                  <c:v>0.992</c:v>
                </c:pt>
                <c:pt idx="1">
                  <c:v>0.891</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11318"/>
                  </a:solidFil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7CBD1"/>
            </a:solidFill>
            <a:prstDash val="solid"/>
          </a:ln>
        </c:spPr>
        <c:txPr>
          <a:bodyPr xmlns:a="http://schemas.openxmlformats.org/drawingml/2006/main" anchorCtr="1"/>
          <a:lstStyle xmlns:a="http://schemas.openxmlformats.org/drawingml/2006/main"/>
          <a:p xmlns:a="http://schemas.openxmlformats.org/drawingml/2006/main">
            <a:pPr>
              <a:defRPr sz="1125">
                <a:solidFill>
                  <a:srgbClr val="111318"/>
                </a:solidFill>
              </a:defRPr>
            </a:pPr>
          </a:p>
        </c:txPr>
        <c:crossAx val="48672768"/>
      </c:catAx>
      <c:valAx>
        <c:axId val="48672768"/>
        <c:scaling>
          <c:orientation val="minMax"/>
          <c:max val="1"/>
          <c:min val="0.8"/>
        </c:scaling>
        <c:delete val="0"/>
        <c:axPos val="l"/>
        <c:majorGridlines>
          <c:spPr>
            <a:ln xmlns:a="http://schemas.openxmlformats.org/drawingml/2006/main" w="9525">
              <a:solidFill>
                <a:srgbClr val="E6E8EB"/>
              </a:solidFill>
              <a:prstDash val="solid"/>
            </a:ln>
          </c:spPr>
        </c:majorGridlines>
        <c:numFmt formatCode="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5F6672"/>
                </a:solidFill>
              </a:defRPr>
            </a:pPr>
          </a:p>
        </c:txPr>
        <c:crossAx val="48650112"/>
        <c:crossBetween val="between"/>
        <c:majorUnit val="0.0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11318"/>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294E7B-224F-421F-9122-2ACC9F504CCD}"/>
              </a:ext>
            </a:extLst>
          </p:cNvPr>
          <p:cNvSpPr>
            <a:spLocks xmlns:a="http://schemas.openxmlformats.org/drawingml/2006/main" noGrp="1"/>
          </p:cNvSpPr>
          <p:nvPr/>
        </p:nvSpPr>
        <p:spPr>
          <a:xfrm xmlns:a="http://schemas.openxmlformats.org/drawingml/2006/main">
            <a:off x="514350" y="40005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INTERVIEW PROJECT WALKTHROUGH</a:t>
            </a:r>
          </a:p>
        </p:txBody>
      </p:sp>
      <p:sp>
        <p:nvSpPr>
          <p:cNvPr id="2" name="">
            <a:extLst xmlns:a="http://schemas.openxmlformats.org/drawingml/2006/main">
              <a:ext uri="{FF2B5EF4-FFF2-40B4-BE49-F238E27FC236}">
                <a16:creationId xmlns:a16="http://schemas.microsoft.com/office/drawing/2014/main" id="{4AEAE78A-3D07-435F-936C-19C444D89072}"/>
              </a:ext>
            </a:extLst>
          </p:cNvPr>
          <p:cNvSpPr>
            <a:spLocks xmlns:a="http://schemas.openxmlformats.org/drawingml/2006/main" noGrp="1"/>
          </p:cNvSpPr>
          <p:nvPr/>
        </p:nvSpPr>
        <p:spPr>
          <a:xfrm xmlns:a="http://schemas.openxmlformats.org/drawingml/2006/main">
            <a:off x="514350" y="1190625"/>
            <a:ext cx="5095875"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977"/>
          </a:bodyPr>
          <a:lstStyle xmlns:a="http://schemas.openxmlformats.org/drawingml/2006/main"/>
          <a:p xmlns:a="http://schemas.openxmlformats.org/drawingml/2006/main">
            <a:pPr algn="l">
              <a:buNone/>
              <a:defRPr sz="3750" b="1">
                <a:solidFill>
                  <a:srgbClr val="111318"/>
                </a:solidFill>
                <a:latin typeface="Arial"/>
                <a:ea typeface="Arial"/>
                <a:cs typeface="Arial"/>
              </a:defRPr>
            </a:pPr>
            <a:r>
              <a:rPr sz="3750" b="1">
                <a:solidFill>
                  <a:srgbClr val="111318"/>
                </a:solidFill>
                <a:latin typeface="Arial"/>
                <a:ea typeface="Arial"/>
                <a:cs typeface="Arial"/>
              </a:rPr>
              <a:t>Two approaches to</a:t>
            </a:r>
          </a:p>
          <a:p xmlns:a="http://schemas.openxmlformats.org/drawingml/2006/main">
            <a:pPr algn="l">
              <a:buNone/>
              <a:defRPr sz="3750" b="1">
                <a:solidFill>
                  <a:srgbClr val="111318"/>
                </a:solidFill>
                <a:latin typeface="Arial"/>
                <a:ea typeface="Arial"/>
                <a:cs typeface="Arial"/>
              </a:defRPr>
            </a:pPr>
            <a:r>
              <a:rPr sz="3750" b="1">
                <a:solidFill>
                  <a:srgbClr val="111318"/>
                </a:solidFill>
                <a:latin typeface="Arial"/>
                <a:ea typeface="Arial"/>
                <a:cs typeface="Arial"/>
              </a:rPr>
              <a:t>believable locomotion</a:t>
            </a:r>
          </a:p>
        </p:txBody>
      </p:sp>
      <p:sp>
        <p:nvSpPr>
          <p:cNvPr id="3" name="">
            <a:extLst xmlns:a="http://schemas.openxmlformats.org/drawingml/2006/main">
              <a:ext uri="{FF2B5EF4-FFF2-40B4-BE49-F238E27FC236}">
                <a16:creationId xmlns:a16="http://schemas.microsoft.com/office/drawing/2014/main" id="{93536A59-0C60-453C-BCF5-8BF5D64D7501}"/>
              </a:ext>
            </a:extLst>
          </p:cNvPr>
          <p:cNvSpPr>
            <a:spLocks xmlns:a="http://schemas.openxmlformats.org/drawingml/2006/main" noGrp="1"/>
          </p:cNvSpPr>
          <p:nvPr/>
        </p:nvSpPr>
        <p:spPr>
          <a:xfrm xmlns:a="http://schemas.openxmlformats.org/drawingml/2006/main">
            <a:off x="514350" y="3095625"/>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0">
                <a:solidFill>
                  <a:srgbClr val="5F6672"/>
                </a:solidFill>
                <a:latin typeface="Arial"/>
                <a:ea typeface="Arial"/>
                <a:cs typeface="Arial"/>
              </a:defRPr>
            </a:pPr>
            <a:r>
              <a:rPr sz="1800" b="0">
                <a:solidFill>
                  <a:srgbClr val="5F6672"/>
                </a:solidFill>
                <a:latin typeface="Arial"/>
                <a:ea typeface="Arial"/>
                <a:cs typeface="Arial"/>
              </a:rPr>
              <a:t>Runtime character animation and reinforcement-learning control</a:t>
            </a:r>
          </a:p>
        </p:txBody>
      </p:sp>
      <p:sp>
        <p:nvSpPr>
          <p:cNvPr id="4" name="">
            <a:extLst xmlns:a="http://schemas.openxmlformats.org/drawingml/2006/main">
              <a:ext uri="{FF2B5EF4-FFF2-40B4-BE49-F238E27FC236}">
                <a16:creationId xmlns:a16="http://schemas.microsoft.com/office/drawing/2014/main" id="{788CCEEF-78B5-4351-9E2E-753AEDB4D106}"/>
              </a:ext>
            </a:extLst>
          </p:cNvPr>
          <p:cNvSpPr>
            <a:spLocks xmlns:a="http://schemas.openxmlformats.org/drawingml/2006/main" noGrp="1"/>
          </p:cNvSpPr>
          <p:nvPr/>
        </p:nvSpPr>
        <p:spPr>
          <a:xfrm xmlns:a="http://schemas.openxmlformats.org/drawingml/2006/main">
            <a:off x="514350" y="4838700"/>
            <a:ext cx="3714750" cy="381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5" name="">
            <a:extLst xmlns:a="http://schemas.openxmlformats.org/drawingml/2006/main">
              <a:ext uri="{FF2B5EF4-FFF2-40B4-BE49-F238E27FC236}">
                <a16:creationId xmlns:a16="http://schemas.microsoft.com/office/drawing/2014/main" id="{1E21090A-2D95-42AA-917B-74202F654EB8}"/>
              </a:ext>
            </a:extLst>
          </p:cNvPr>
          <p:cNvSpPr>
            <a:spLocks xmlns:a="http://schemas.openxmlformats.org/drawingml/2006/main" noGrp="1"/>
          </p:cNvSpPr>
          <p:nvPr/>
        </p:nvSpPr>
        <p:spPr>
          <a:xfrm xmlns:a="http://schemas.openxmlformats.org/drawingml/2006/main">
            <a:off x="514350" y="51435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buNone/>
              <a:defRPr sz="1575" b="1">
                <a:solidFill>
                  <a:srgbClr val="111318"/>
                </a:solidFill>
                <a:latin typeface="Arial"/>
                <a:ea typeface="Arial"/>
                <a:cs typeface="Arial"/>
              </a:defRPr>
            </a:pPr>
            <a:r>
              <a:rPr sz="1575" b="1">
                <a:solidFill>
                  <a:srgbClr val="111318"/>
                </a:solidFill>
                <a:latin typeface="Arial"/>
                <a:ea typeface="Arial"/>
                <a:cs typeface="Arial"/>
              </a:rPr>
              <a:t>Project 1 · Master thesis</a:t>
            </a:r>
          </a:p>
        </p:txBody>
      </p:sp>
      <p:sp>
        <p:nvSpPr>
          <p:cNvPr id="6" name="">
            <a:extLst xmlns:a="http://schemas.openxmlformats.org/drawingml/2006/main">
              <a:ext uri="{FF2B5EF4-FFF2-40B4-BE49-F238E27FC236}">
                <a16:creationId xmlns:a16="http://schemas.microsoft.com/office/drawing/2014/main" id="{DAD30F68-5C18-406A-A435-53A75EB21BA0}"/>
              </a:ext>
            </a:extLst>
          </p:cNvPr>
          <p:cNvSpPr>
            <a:spLocks xmlns:a="http://schemas.openxmlformats.org/drawingml/2006/main" noGrp="1"/>
          </p:cNvSpPr>
          <p:nvPr/>
        </p:nvSpPr>
        <p:spPr>
          <a:xfrm xmlns:a="http://schemas.openxmlformats.org/drawingml/2006/main">
            <a:off x="514350" y="55435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Project 2 · Isaac Lab locomotion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961c65e2dc54379"/>
          <a:stretch xmlns:a="http://schemas.openxmlformats.org/drawingml/2006/main"/>
        </p:blipFill>
        <p:spPr>
          <a:xfrm xmlns:a="http://schemas.openxmlformats.org/drawingml/2006/main">
            <a:off x="6286500" y="1978819"/>
            <a:ext cx="2000250" cy="2900363"/>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851d7aab52f43cc"/>
          <a:srcRect xmlns:a="http://schemas.openxmlformats.org/drawingml/2006/main" l="33976" t="0" r="33976" b="0"/>
          <a:stretch xmlns:a="http://schemas.openxmlformats.org/drawingml/2006/main">
            <a:fillRect l="0" t="0" r="0" b="0"/>
          </a:stretch>
        </p:blipFill>
        <p:spPr>
          <a:xfrm xmlns:a="http://schemas.openxmlformats.org/drawingml/2006/main">
            <a:off x="8286750" y="0"/>
            <a:ext cx="3905250" cy="6858000"/>
          </a:xfrm>
          <a:prstGeom xmlns:a="http://schemas.openxmlformats.org/drawingml/2006/main" prst="rect">
            <a:avLst/>
          </a:prstGeom>
        </p:spPr>
      </p:pic>
    </p:spTree>
    <p:extLst>
      <p:ext uri="{BB962C8B-B14F-4D97-AF65-F5344CB8AC3E}">
        <p14:creationId xmlns:p14="http://schemas.microsoft.com/office/powerpoint/2010/main" val="139608185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6B7F42A-154B-4618-A11B-E5AB9163E045}"/>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TWO PROJECTS · ONE THROUGHLINE</a:t>
            </a:r>
          </a:p>
        </p:txBody>
      </p:sp>
      <p:sp>
        <p:nvSpPr>
          <p:cNvPr id="2" name="">
            <a:extLst xmlns:a="http://schemas.openxmlformats.org/drawingml/2006/main">
              <a:ext uri="{FF2B5EF4-FFF2-40B4-BE49-F238E27FC236}">
                <a16:creationId xmlns:a16="http://schemas.microsoft.com/office/drawing/2014/main" id="{9AA1482B-ACB8-41EC-9901-FD258CAEC6C7}"/>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The projects differ in technique, but share the same engineering question</a:t>
            </a:r>
          </a:p>
        </p:txBody>
      </p:sp>
      <p:sp>
        <p:nvSpPr>
          <p:cNvPr id="3" name="">
            <a:extLst xmlns:a="http://schemas.openxmlformats.org/drawingml/2006/main">
              <a:ext uri="{FF2B5EF4-FFF2-40B4-BE49-F238E27FC236}">
                <a16:creationId xmlns:a16="http://schemas.microsoft.com/office/drawing/2014/main" id="{3444D939-4F9C-4762-B027-B6C82FD31B0D}"/>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409831F0-5CEF-4642-B7ED-93EE8A3BB367}"/>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54AB4505-A11F-43E7-A271-E56B38ADA894}"/>
              </a:ext>
            </a:extLst>
          </p:cNvPr>
          <p:cNvSpPr>
            <a:spLocks xmlns:a="http://schemas.openxmlformats.org/drawingml/2006/main" noGrp="1"/>
          </p:cNvSpPr>
          <p:nvPr/>
        </p:nvSpPr>
        <p:spPr>
          <a:xfrm xmlns:a="http://schemas.openxmlformats.org/drawingml/2006/main">
            <a:off x="762000" y="1809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34"/>
          </a:bodyPr>
          <a:lstStyle xmlns:a="http://schemas.openxmlformats.org/drawingml/2006/main"/>
          <a:p xmlns:a="http://schemas.openxmlformats.org/drawingml/2006/main">
            <a:pPr algn="ctr">
              <a:buNone/>
              <a:defRPr sz="2100" b="1">
                <a:solidFill>
                  <a:srgbClr val="111318"/>
                </a:solidFill>
                <a:latin typeface="Arial"/>
                <a:ea typeface="Arial"/>
                <a:cs typeface="Arial"/>
              </a:defRPr>
            </a:pPr>
            <a:r>
              <a:rPr sz="2100" b="1">
                <a:solidFill>
                  <a:srgbClr val="111318"/>
                </a:solidFill>
                <a:latin typeface="Arial"/>
                <a:ea typeface="Arial"/>
                <a:cs typeface="Arial"/>
              </a:rPr>
              <a:t>How do we turn a desired motion into a system that is controllable, natural, and reliable?</a:t>
            </a:r>
          </a:p>
        </p:txBody>
      </p:sp>
      <p:sp>
        <p:nvSpPr>
          <p:cNvPr id="6" name="">
            <a:extLst xmlns:a="http://schemas.openxmlformats.org/drawingml/2006/main">
              <a:ext uri="{FF2B5EF4-FFF2-40B4-BE49-F238E27FC236}">
                <a16:creationId xmlns:a16="http://schemas.microsoft.com/office/drawing/2014/main" id="{30CF22D9-F1FE-45C7-8B17-AB865493DC6C}"/>
              </a:ext>
            </a:extLst>
          </p:cNvPr>
          <p:cNvSpPr>
            <a:spLocks xmlns:a="http://schemas.openxmlformats.org/drawingml/2006/main" noGrp="1"/>
          </p:cNvSpPr>
          <p:nvPr/>
        </p:nvSpPr>
        <p:spPr>
          <a:xfrm xmlns:a="http://schemas.openxmlformats.org/drawingml/2006/main">
            <a:off x="762000" y="2952750"/>
            <a:ext cx="4762500" cy="2286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759CC36-D06D-41EE-AA31-E95EEF939911}"/>
              </a:ext>
            </a:extLst>
          </p:cNvPr>
          <p:cNvSpPr>
            <a:spLocks xmlns:a="http://schemas.openxmlformats.org/drawingml/2006/main" noGrp="1"/>
          </p:cNvSpPr>
          <p:nvPr/>
        </p:nvSpPr>
        <p:spPr>
          <a:xfrm xmlns:a="http://schemas.openxmlformats.org/drawingml/2006/main">
            <a:off x="1047750" y="32385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buNone/>
              <a:defRPr sz="1950" b="1">
                <a:solidFill>
                  <a:srgbClr val="3D8DFF"/>
                </a:solidFill>
                <a:latin typeface="Arial"/>
                <a:ea typeface="Arial"/>
                <a:cs typeface="Arial"/>
              </a:defRPr>
            </a:pPr>
            <a:r>
              <a:rPr sz="1950" b="1">
                <a:solidFill>
                  <a:srgbClr val="3D8D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65095324-DEE4-44F2-974E-6652ED752E13}"/>
              </a:ext>
            </a:extLst>
          </p:cNvPr>
          <p:cNvSpPr>
            <a:spLocks xmlns:a="http://schemas.openxmlformats.org/drawingml/2006/main" noGrp="1"/>
          </p:cNvSpPr>
          <p:nvPr/>
        </p:nvSpPr>
        <p:spPr>
          <a:xfrm xmlns:a="http://schemas.openxmlformats.org/drawingml/2006/main">
            <a:off x="1714500" y="3219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318"/>
                </a:solidFill>
                <a:latin typeface="Arial"/>
                <a:ea typeface="Arial"/>
                <a:cs typeface="Arial"/>
              </a:defRPr>
            </a:pPr>
            <a:r>
              <a:rPr sz="1875" b="1">
                <a:solidFill>
                  <a:srgbClr val="111318"/>
                </a:solidFill>
                <a:latin typeface="Arial"/>
                <a:ea typeface="Arial"/>
                <a:cs typeface="Arial"/>
              </a:rPr>
              <a:t>Precise character locomotion</a:t>
            </a:r>
          </a:p>
        </p:txBody>
      </p:sp>
      <p:sp>
        <p:nvSpPr>
          <p:cNvPr id="9" name="">
            <a:extLst xmlns:a="http://schemas.openxmlformats.org/drawingml/2006/main">
              <a:ext uri="{FF2B5EF4-FFF2-40B4-BE49-F238E27FC236}">
                <a16:creationId xmlns:a16="http://schemas.microsoft.com/office/drawing/2014/main" id="{5338BB37-29A0-47FC-9F79-69C5DCC5E744}"/>
              </a:ext>
            </a:extLst>
          </p:cNvPr>
          <p:cNvSpPr>
            <a:spLocks xmlns:a="http://schemas.openxmlformats.org/drawingml/2006/main" noGrp="1"/>
          </p:cNvSpPr>
          <p:nvPr/>
        </p:nvSpPr>
        <p:spPr>
          <a:xfrm xmlns:a="http://schemas.openxmlformats.org/drawingml/2006/main">
            <a:off x="1047750" y="3905250"/>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Adapt a small motion-capture library at runtime so a character can reach nearby targets precisely without foot sliding.</a:t>
            </a:r>
          </a:p>
        </p:txBody>
      </p:sp>
      <p:sp>
        <p:nvSpPr>
          <p:cNvPr id="10" name="">
            <a:extLst xmlns:a="http://schemas.openxmlformats.org/drawingml/2006/main">
              <a:ext uri="{FF2B5EF4-FFF2-40B4-BE49-F238E27FC236}">
                <a16:creationId xmlns:a16="http://schemas.microsoft.com/office/drawing/2014/main" id="{8B764961-86AF-40ED-8CE3-E228B5DDDA4F}"/>
              </a:ext>
            </a:extLst>
          </p:cNvPr>
          <p:cNvSpPr>
            <a:spLocks xmlns:a="http://schemas.openxmlformats.org/drawingml/2006/main" noGrp="1"/>
          </p:cNvSpPr>
          <p:nvPr/>
        </p:nvSpPr>
        <p:spPr>
          <a:xfrm xmlns:a="http://schemas.openxmlformats.org/drawingml/2006/main">
            <a:off x="6667500" y="2952750"/>
            <a:ext cx="4762500" cy="22860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546D484-6824-42B2-887B-8C90A594E724}"/>
              </a:ext>
            </a:extLst>
          </p:cNvPr>
          <p:cNvSpPr>
            <a:spLocks xmlns:a="http://schemas.openxmlformats.org/drawingml/2006/main" noGrp="1"/>
          </p:cNvSpPr>
          <p:nvPr/>
        </p:nvSpPr>
        <p:spPr>
          <a:xfrm xmlns:a="http://schemas.openxmlformats.org/drawingml/2006/main">
            <a:off x="6953250" y="3238500"/>
            <a:ext cx="52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buNone/>
              <a:defRPr sz="1950" b="1">
                <a:solidFill>
                  <a:srgbClr val="3D8DFF"/>
                </a:solidFill>
                <a:latin typeface="Arial"/>
                <a:ea typeface="Arial"/>
                <a:cs typeface="Arial"/>
              </a:defRPr>
            </a:pPr>
            <a:r>
              <a:rPr sz="1950" b="1">
                <a:solidFill>
                  <a:srgbClr val="3D8DFF"/>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F766DBB4-215D-40EF-8473-1ADB6109F433}"/>
              </a:ext>
            </a:extLst>
          </p:cNvPr>
          <p:cNvSpPr>
            <a:spLocks xmlns:a="http://schemas.openxmlformats.org/drawingml/2006/main" noGrp="1"/>
          </p:cNvSpPr>
          <p:nvPr/>
        </p:nvSpPr>
        <p:spPr>
          <a:xfrm xmlns:a="http://schemas.openxmlformats.org/drawingml/2006/main">
            <a:off x="7620000" y="3219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000"/>
          </a:bodyPr>
          <a:lstStyle xmlns:a="http://schemas.openxmlformats.org/drawingml/2006/main"/>
          <a:p xmlns:a="http://schemas.openxmlformats.org/drawingml/2006/main">
            <a:pPr algn="l">
              <a:buNone/>
              <a:defRPr sz="1875" b="1">
                <a:solidFill>
                  <a:srgbClr val="111318"/>
                </a:solidFill>
                <a:latin typeface="Arial"/>
                <a:ea typeface="Arial"/>
                <a:cs typeface="Arial"/>
              </a:defRPr>
            </a:pPr>
            <a:r>
              <a:rPr sz="1875" b="1">
                <a:solidFill>
                  <a:srgbClr val="111318"/>
                </a:solidFill>
                <a:latin typeface="Arial"/>
                <a:ea typeface="Arial"/>
                <a:cs typeface="Arial"/>
              </a:rPr>
              <a:t>Robust robot locomotion</a:t>
            </a:r>
          </a:p>
        </p:txBody>
      </p:sp>
      <p:sp>
        <p:nvSpPr>
          <p:cNvPr id="13" name="">
            <a:extLst xmlns:a="http://schemas.openxmlformats.org/drawingml/2006/main">
              <a:ext uri="{FF2B5EF4-FFF2-40B4-BE49-F238E27FC236}">
                <a16:creationId xmlns:a16="http://schemas.microsoft.com/office/drawing/2014/main" id="{6CA12AB0-D228-46E2-8633-38DF309162F6}"/>
              </a:ext>
            </a:extLst>
          </p:cNvPr>
          <p:cNvSpPr>
            <a:spLocks xmlns:a="http://schemas.openxmlformats.org/drawingml/2006/main" noGrp="1"/>
          </p:cNvSpPr>
          <p:nvPr/>
        </p:nvSpPr>
        <p:spPr>
          <a:xfrm xmlns:a="http://schemas.openxmlformats.org/drawingml/2006/main">
            <a:off x="6953250" y="3905250"/>
            <a:ext cx="3810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Train a quadruped policy that follows commands, traverses rough terrain, and remains useful when the physics changes.</a:t>
            </a:r>
          </a:p>
        </p:txBody>
      </p:sp>
    </p:spTree>
    <p:extLst>
      <p:ext uri="{BB962C8B-B14F-4D97-AF65-F5344CB8AC3E}">
        <p14:creationId xmlns:p14="http://schemas.microsoft.com/office/powerpoint/2010/main" val="41847497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ED7B159-AE17-43F9-A97D-39D52BDCDAE1}"/>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1 · MASTER THESIS</a:t>
            </a:r>
          </a:p>
        </p:txBody>
      </p:sp>
      <p:sp>
        <p:nvSpPr>
          <p:cNvPr id="2" name="">
            <a:extLst xmlns:a="http://schemas.openxmlformats.org/drawingml/2006/main">
              <a:ext uri="{FF2B5EF4-FFF2-40B4-BE49-F238E27FC236}">
                <a16:creationId xmlns:a16="http://schemas.microsoft.com/office/drawing/2014/main" id="{B0D8073C-AB4F-44FD-9B67-B6387A086EDA}"/>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Small repositioning exposed a gap in real-time character locomotion</a:t>
            </a:r>
          </a:p>
        </p:txBody>
      </p:sp>
      <p:sp>
        <p:nvSpPr>
          <p:cNvPr id="3" name="">
            <a:extLst xmlns:a="http://schemas.openxmlformats.org/drawingml/2006/main">
              <a:ext uri="{FF2B5EF4-FFF2-40B4-BE49-F238E27FC236}">
                <a16:creationId xmlns:a16="http://schemas.microsoft.com/office/drawing/2014/main" id="{6794960D-AB9C-4C26-BF39-2DF061EF0C7E}"/>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E984442A-009B-4D9A-B335-14F2B79C7B9D}"/>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05160CD7-B867-46AE-8EE1-857BD7EAA533}"/>
              </a:ext>
            </a:extLst>
          </p:cNvPr>
          <p:cNvSpPr>
            <a:spLocks xmlns:a="http://schemas.openxmlformats.org/drawingml/2006/main" noGrp="1"/>
          </p:cNvSpPr>
          <p:nvPr/>
        </p:nvSpPr>
        <p:spPr>
          <a:xfrm xmlns:a="http://schemas.openxmlformats.org/drawingml/2006/main">
            <a:off x="666750" y="1857375"/>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l">
              <a:buNone/>
              <a:defRPr sz="1800" b="1">
                <a:solidFill>
                  <a:srgbClr val="3D8DFF"/>
                </a:solidFill>
                <a:latin typeface="Arial"/>
                <a:ea typeface="Arial"/>
                <a:cs typeface="Arial"/>
              </a:defRPr>
            </a:pPr>
            <a:r>
              <a:rPr sz="1800" b="1">
                <a:solidFill>
                  <a:srgbClr val="3D8DFF"/>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71811A2D-F27B-4DB4-A954-5C2E909E2B95}"/>
              </a:ext>
            </a:extLst>
          </p:cNvPr>
          <p:cNvSpPr>
            <a:spLocks xmlns:a="http://schemas.openxmlformats.org/drawingml/2006/main" noGrp="1"/>
          </p:cNvSpPr>
          <p:nvPr/>
        </p:nvSpPr>
        <p:spPr>
          <a:xfrm xmlns:a="http://schemas.openxmlformats.org/drawingml/2006/main">
            <a:off x="666750" y="2381250"/>
            <a:ext cx="4810125"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68"/>
          </a:bodyPr>
          <a:lstStyle xmlns:a="http://schemas.openxmlformats.org/drawingml/2006/main"/>
          <a:p xmlns:a="http://schemas.openxmlformats.org/drawingml/2006/main">
            <a:pPr algn="l">
              <a:buNone/>
              <a:defRPr sz="1950" b="1">
                <a:solidFill>
                  <a:srgbClr val="111318"/>
                </a:solidFill>
                <a:latin typeface="Arial"/>
                <a:ea typeface="Arial"/>
                <a:cs typeface="Arial"/>
              </a:defRPr>
            </a:pPr>
            <a:r>
              <a:rPr sz="1950" b="1">
                <a:solidFill>
                  <a:srgbClr val="111318"/>
                </a:solidFill>
                <a:latin typeface="Arial"/>
                <a:ea typeface="Arial"/>
                <a:cs typeface="Arial"/>
              </a:rPr>
              <a:t>An interactive character often needs to move only a few steps—toward an object, another person, or an exact interaction point.</a:t>
            </a:r>
          </a:p>
        </p:txBody>
      </p:sp>
      <p:sp>
        <p:nvSpPr>
          <p:cNvPr id="7" name="">
            <a:extLst xmlns:a="http://schemas.openxmlformats.org/drawingml/2006/main">
              <a:ext uri="{FF2B5EF4-FFF2-40B4-BE49-F238E27FC236}">
                <a16:creationId xmlns:a16="http://schemas.microsoft.com/office/drawing/2014/main" id="{50566CCD-6E71-419D-8A01-A724552EE24E}"/>
              </a:ext>
            </a:extLst>
          </p:cNvPr>
          <p:cNvSpPr>
            <a:spLocks xmlns:a="http://schemas.openxmlformats.org/drawingml/2006/main" noGrp="1"/>
          </p:cNvSpPr>
          <p:nvPr/>
        </p:nvSpPr>
        <p:spPr>
          <a:xfrm xmlns:a="http://schemas.openxmlformats.org/drawingml/2006/main">
            <a:off x="666750" y="4000500"/>
            <a:ext cx="4572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Existing approaches traded off precision, natural motion, runtime cost, or dependence on large datasets.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73e2e39bb234684"/>
          <a:srcRect xmlns:a="http://schemas.openxmlformats.org/drawingml/2006/main" l="0" t="334" r="0" b="334"/>
          <a:stretch xmlns:a="http://schemas.openxmlformats.org/drawingml/2006/main">
            <a:fillRect l="0" t="0" r="0" b="0"/>
          </a:stretch>
        </p:blipFill>
        <p:spPr>
          <a:xfrm xmlns:a="http://schemas.openxmlformats.org/drawingml/2006/main">
            <a:off x="6191250" y="1809750"/>
            <a:ext cx="5048250" cy="300037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97ABCF6-FEC7-40FE-8737-A1FF80D369D9}"/>
              </a:ext>
            </a:extLst>
          </p:cNvPr>
          <p:cNvSpPr>
            <a:spLocks xmlns:a="http://schemas.openxmlformats.org/drawingml/2006/main" noGrp="1"/>
          </p:cNvSpPr>
          <p:nvPr/>
        </p:nvSpPr>
        <p:spPr>
          <a:xfrm xmlns:a="http://schemas.openxmlformats.org/drawingml/2006/main">
            <a:off x="6191250" y="50958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buNone/>
              <a:defRPr sz="1500" b="1">
                <a:solidFill>
                  <a:srgbClr val="111318"/>
                </a:solidFill>
                <a:latin typeface="Arial"/>
                <a:ea typeface="Arial"/>
                <a:cs typeface="Arial"/>
              </a:defRPr>
            </a:pPr>
            <a:r>
              <a:rPr sz="1500" b="1">
                <a:solidFill>
                  <a:srgbClr val="111318"/>
                </a:solidFill>
                <a:latin typeface="Arial"/>
                <a:ea typeface="Arial"/>
                <a:cs typeface="Arial"/>
              </a:rPr>
              <a:t>Design target</a:t>
            </a:r>
          </a:p>
        </p:txBody>
      </p:sp>
      <p:sp>
        <p:nvSpPr>
          <p:cNvPr id="10" name="">
            <a:extLst xmlns:a="http://schemas.openxmlformats.org/drawingml/2006/main">
              <a:ext uri="{FF2B5EF4-FFF2-40B4-BE49-F238E27FC236}">
                <a16:creationId xmlns:a16="http://schemas.microsoft.com/office/drawing/2014/main" id="{4294889E-DB76-4B0D-AC78-5C6195237EFF}"/>
              </a:ext>
            </a:extLst>
          </p:cNvPr>
          <p:cNvSpPr>
            <a:spLocks xmlns:a="http://schemas.openxmlformats.org/drawingml/2006/main" noGrp="1"/>
          </p:cNvSpPr>
          <p:nvPr/>
        </p:nvSpPr>
        <p:spPr>
          <a:xfrm xmlns:a="http://schemas.openxmlformats.org/drawingml/2006/main">
            <a:off x="6191250" y="547687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34"/>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Natural motion · exact goal pose · low latency · limited data</a:t>
            </a:r>
          </a:p>
        </p:txBody>
      </p:sp>
    </p:spTree>
    <p:extLst>
      <p:ext uri="{BB962C8B-B14F-4D97-AF65-F5344CB8AC3E}">
        <p14:creationId xmlns:p14="http://schemas.microsoft.com/office/powerpoint/2010/main" val="5133050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98AEA06-3943-46A7-85F6-91183C29D15D}"/>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1 · METHOD</a:t>
            </a:r>
          </a:p>
        </p:txBody>
      </p:sp>
      <p:sp>
        <p:nvSpPr>
          <p:cNvPr id="2" name="">
            <a:extLst xmlns:a="http://schemas.openxmlformats.org/drawingml/2006/main">
              <a:ext uri="{FF2B5EF4-FFF2-40B4-BE49-F238E27FC236}">
                <a16:creationId xmlns:a16="http://schemas.microsoft.com/office/drawing/2014/main" id="{BBA6E9FC-7A01-4DE2-B488-AE7D6F404AF8}"/>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The method reused real motion, then adapted only what the goal required</a:t>
            </a:r>
          </a:p>
        </p:txBody>
      </p:sp>
      <p:sp>
        <p:nvSpPr>
          <p:cNvPr id="3" name="">
            <a:extLst xmlns:a="http://schemas.openxmlformats.org/drawingml/2006/main">
              <a:ext uri="{FF2B5EF4-FFF2-40B4-BE49-F238E27FC236}">
                <a16:creationId xmlns:a16="http://schemas.microsoft.com/office/drawing/2014/main" id="{055A3CF9-8A10-4116-9789-CEBA48B75069}"/>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BFFA8351-C6AA-42A3-A6F5-E880F7C796EC}"/>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ABFD694-0B6E-4EFB-A4E3-36A645E45816}"/>
              </a:ext>
            </a:extLst>
          </p:cNvPr>
          <p:cNvSpPr>
            <a:spLocks xmlns:a="http://schemas.openxmlformats.org/drawingml/2006/main" noGrp="1"/>
          </p:cNvSpPr>
          <p:nvPr/>
        </p:nvSpPr>
        <p:spPr>
          <a:xfrm xmlns:a="http://schemas.openxmlformats.org/drawingml/2006/main">
            <a:off x="1381125" y="3181350"/>
            <a:ext cx="9239250" cy="19050"/>
          </a:xfrm>
          <a:prstGeom xmlns:a="http://schemas.openxmlformats.org/drawingml/2006/main" prst="rect">
            <a:avLst/>
          </a:prstGeom>
          <a:solidFill xmlns:a="http://schemas.openxmlformats.org/drawingml/2006/main">
            <a:srgbClr val="111318"/>
          </a:solidFill>
          <a:ln xmlns:a="http://schemas.openxmlformats.org/drawingml/2006/main" w="0">
            <a:solidFill>
              <a:srgbClr val="111318"/>
            </a:solidFill>
            <a:prstDash val="solid"/>
          </a:ln>
        </p:spPr>
      </p:sp>
      <p:sp>
        <p:nvSpPr>
          <p:cNvPr id="6" name="">
            <a:extLst xmlns:a="http://schemas.openxmlformats.org/drawingml/2006/main">
              <a:ext uri="{FF2B5EF4-FFF2-40B4-BE49-F238E27FC236}">
                <a16:creationId xmlns:a16="http://schemas.microsoft.com/office/drawing/2014/main" id="{A6B5210C-3997-4C57-A084-5FFBD1B7E397}"/>
              </a:ext>
            </a:extLst>
          </p:cNvPr>
          <p:cNvSpPr>
            <a:spLocks xmlns:a="http://schemas.openxmlformats.org/drawingml/2006/main" noGrp="1"/>
          </p:cNvSpPr>
          <p:nvPr/>
        </p:nvSpPr>
        <p:spPr>
          <a:xfrm xmlns:a="http://schemas.openxmlformats.org/drawingml/2006/main">
            <a:off x="1143000" y="2971800"/>
            <a:ext cx="438150" cy="4381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7" name="">
            <a:extLst xmlns:a="http://schemas.openxmlformats.org/drawingml/2006/main">
              <a:ext uri="{FF2B5EF4-FFF2-40B4-BE49-F238E27FC236}">
                <a16:creationId xmlns:a16="http://schemas.microsoft.com/office/drawing/2014/main" id="{E788BDA4-9A8E-47BD-8903-486465620F78}"/>
              </a:ext>
            </a:extLst>
          </p:cNvPr>
          <p:cNvSpPr>
            <a:spLocks xmlns:a="http://schemas.openxmlformats.org/drawingml/2006/main" noGrp="1"/>
          </p:cNvSpPr>
          <p:nvPr/>
        </p:nvSpPr>
        <p:spPr>
          <a:xfrm xmlns:a="http://schemas.openxmlformats.org/drawingml/2006/main">
            <a:off x="1143000" y="30670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50D2EE6E-03CB-422D-B8FD-A8DBF7083726}"/>
              </a:ext>
            </a:extLst>
          </p:cNvPr>
          <p:cNvSpPr>
            <a:spLocks xmlns:a="http://schemas.openxmlformats.org/drawingml/2006/main" noGrp="1"/>
          </p:cNvSpPr>
          <p:nvPr/>
        </p:nvSpPr>
        <p:spPr>
          <a:xfrm xmlns:a="http://schemas.openxmlformats.org/drawingml/2006/main">
            <a:off x="1000125" y="20002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buNone/>
              <a:defRPr sz="1950" b="1">
                <a:solidFill>
                  <a:srgbClr val="111318"/>
                </a:solidFill>
                <a:latin typeface="Arial"/>
                <a:ea typeface="Arial"/>
                <a:cs typeface="Arial"/>
              </a:defRPr>
            </a:pPr>
            <a:r>
              <a:rPr sz="1950" b="1">
                <a:solidFill>
                  <a:srgbClr val="111318"/>
                </a:solidFill>
                <a:latin typeface="Arial"/>
                <a:ea typeface="Arial"/>
                <a:cs typeface="Arial"/>
              </a:rPr>
              <a:t>Select</a:t>
            </a:r>
          </a:p>
        </p:txBody>
      </p:sp>
      <p:sp>
        <p:nvSpPr>
          <p:cNvPr id="9" name="">
            <a:extLst xmlns:a="http://schemas.openxmlformats.org/drawingml/2006/main">
              <a:ext uri="{FF2B5EF4-FFF2-40B4-BE49-F238E27FC236}">
                <a16:creationId xmlns:a16="http://schemas.microsoft.com/office/drawing/2014/main" id="{4DBC8D5C-7BDC-4530-AFB9-B0D80417428E}"/>
              </a:ext>
            </a:extLst>
          </p:cNvPr>
          <p:cNvSpPr>
            <a:spLocks xmlns:a="http://schemas.openxmlformats.org/drawingml/2006/main" noGrp="1"/>
          </p:cNvSpPr>
          <p:nvPr/>
        </p:nvSpPr>
        <p:spPr>
          <a:xfrm xmlns:a="http://schemas.openxmlformats.org/drawingml/2006/main">
            <a:off x="1000125" y="3714750"/>
            <a:ext cx="266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Search a compact database for a short sequence aimed near the target.</a:t>
            </a:r>
          </a:p>
        </p:txBody>
      </p:sp>
      <p:sp>
        <p:nvSpPr>
          <p:cNvPr id="10" name="">
            <a:extLst xmlns:a="http://schemas.openxmlformats.org/drawingml/2006/main">
              <a:ext uri="{FF2B5EF4-FFF2-40B4-BE49-F238E27FC236}">
                <a16:creationId xmlns:a16="http://schemas.microsoft.com/office/drawing/2014/main" id="{C072A23F-9F1F-40A6-A15F-84C48A709D12}"/>
              </a:ext>
            </a:extLst>
          </p:cNvPr>
          <p:cNvSpPr>
            <a:spLocks xmlns:a="http://schemas.openxmlformats.org/drawingml/2006/main" noGrp="1"/>
          </p:cNvSpPr>
          <p:nvPr/>
        </p:nvSpPr>
        <p:spPr>
          <a:xfrm xmlns:a="http://schemas.openxmlformats.org/drawingml/2006/main">
            <a:off x="4857750" y="2971800"/>
            <a:ext cx="438150" cy="4381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11" name="">
            <a:extLst xmlns:a="http://schemas.openxmlformats.org/drawingml/2006/main">
              <a:ext uri="{FF2B5EF4-FFF2-40B4-BE49-F238E27FC236}">
                <a16:creationId xmlns:a16="http://schemas.microsoft.com/office/drawing/2014/main" id="{87740520-BECC-4730-A154-EBCF52230F8B}"/>
              </a:ext>
            </a:extLst>
          </p:cNvPr>
          <p:cNvSpPr>
            <a:spLocks xmlns:a="http://schemas.openxmlformats.org/drawingml/2006/main" noGrp="1"/>
          </p:cNvSpPr>
          <p:nvPr/>
        </p:nvSpPr>
        <p:spPr>
          <a:xfrm xmlns:a="http://schemas.openxmlformats.org/drawingml/2006/main">
            <a:off x="4857750" y="30670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309C253B-2A02-48C2-8AFB-90D507605745}"/>
              </a:ext>
            </a:extLst>
          </p:cNvPr>
          <p:cNvSpPr>
            <a:spLocks xmlns:a="http://schemas.openxmlformats.org/drawingml/2006/main" noGrp="1"/>
          </p:cNvSpPr>
          <p:nvPr/>
        </p:nvSpPr>
        <p:spPr>
          <a:xfrm xmlns:a="http://schemas.openxmlformats.org/drawingml/2006/main">
            <a:off x="4714875" y="20002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buNone/>
              <a:defRPr sz="1950" b="1">
                <a:solidFill>
                  <a:srgbClr val="111318"/>
                </a:solidFill>
                <a:latin typeface="Arial"/>
                <a:ea typeface="Arial"/>
                <a:cs typeface="Arial"/>
              </a:defRPr>
            </a:pPr>
            <a:r>
              <a:rPr sz="1950" b="1">
                <a:solidFill>
                  <a:srgbClr val="111318"/>
                </a:solidFill>
                <a:latin typeface="Arial"/>
                <a:ea typeface="Arial"/>
                <a:cs typeface="Arial"/>
              </a:rPr>
              <a:t>Adapt</a:t>
            </a:r>
          </a:p>
        </p:txBody>
      </p:sp>
      <p:sp>
        <p:nvSpPr>
          <p:cNvPr id="13" name="">
            <a:extLst xmlns:a="http://schemas.openxmlformats.org/drawingml/2006/main">
              <a:ext uri="{FF2B5EF4-FFF2-40B4-BE49-F238E27FC236}">
                <a16:creationId xmlns:a16="http://schemas.microsoft.com/office/drawing/2014/main" id="{042D4D4E-47CC-41CE-9F5F-B40538C6EBCC}"/>
              </a:ext>
            </a:extLst>
          </p:cNvPr>
          <p:cNvSpPr>
            <a:spLocks xmlns:a="http://schemas.openxmlformats.org/drawingml/2006/main" noGrp="1"/>
          </p:cNvSpPr>
          <p:nvPr/>
        </p:nvSpPr>
        <p:spPr>
          <a:xfrm xmlns:a="http://schemas.openxmlformats.org/drawingml/2006/main">
            <a:off x="4714875" y="3714750"/>
            <a:ext cx="266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Transform the root and feet so the sequence lands on the requested pose.</a:t>
            </a:r>
          </a:p>
        </p:txBody>
      </p:sp>
      <p:sp>
        <p:nvSpPr>
          <p:cNvPr id="14" name="">
            <a:extLst xmlns:a="http://schemas.openxmlformats.org/drawingml/2006/main">
              <a:ext uri="{FF2B5EF4-FFF2-40B4-BE49-F238E27FC236}">
                <a16:creationId xmlns:a16="http://schemas.microsoft.com/office/drawing/2014/main" id="{92A99B7B-EA09-467D-816F-259DA58A090B}"/>
              </a:ext>
            </a:extLst>
          </p:cNvPr>
          <p:cNvSpPr>
            <a:spLocks xmlns:a="http://schemas.openxmlformats.org/drawingml/2006/main" noGrp="1"/>
          </p:cNvSpPr>
          <p:nvPr/>
        </p:nvSpPr>
        <p:spPr>
          <a:xfrm xmlns:a="http://schemas.openxmlformats.org/drawingml/2006/main">
            <a:off x="8572500" y="2971800"/>
            <a:ext cx="438150" cy="4381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5" name="">
            <a:extLst xmlns:a="http://schemas.openxmlformats.org/drawingml/2006/main">
              <a:ext uri="{FF2B5EF4-FFF2-40B4-BE49-F238E27FC236}">
                <a16:creationId xmlns:a16="http://schemas.microsoft.com/office/drawing/2014/main" id="{B50678C2-71C2-46ED-A8A1-5BC7DAD9E81D}"/>
              </a:ext>
            </a:extLst>
          </p:cNvPr>
          <p:cNvSpPr>
            <a:spLocks xmlns:a="http://schemas.openxmlformats.org/drawingml/2006/main" noGrp="1"/>
          </p:cNvSpPr>
          <p:nvPr/>
        </p:nvSpPr>
        <p:spPr>
          <a:xfrm xmlns:a="http://schemas.openxmlformats.org/drawingml/2006/main">
            <a:off x="8572500" y="3067050"/>
            <a:ext cx="438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8459C69E-CD47-4AC4-800E-9D46050C64CC}"/>
              </a:ext>
            </a:extLst>
          </p:cNvPr>
          <p:cNvSpPr>
            <a:spLocks xmlns:a="http://schemas.openxmlformats.org/drawingml/2006/main" noGrp="1"/>
          </p:cNvSpPr>
          <p:nvPr/>
        </p:nvSpPr>
        <p:spPr>
          <a:xfrm xmlns:a="http://schemas.openxmlformats.org/drawingml/2006/main">
            <a:off x="8429625" y="200025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buNone/>
              <a:defRPr sz="1950" b="1">
                <a:solidFill>
                  <a:srgbClr val="111318"/>
                </a:solidFill>
                <a:latin typeface="Arial"/>
                <a:ea typeface="Arial"/>
                <a:cs typeface="Arial"/>
              </a:defRPr>
            </a:pPr>
            <a:r>
              <a:rPr sz="1950" b="1">
                <a:solidFill>
                  <a:srgbClr val="111318"/>
                </a:solidFill>
                <a:latin typeface="Arial"/>
                <a:ea typeface="Arial"/>
                <a:cs typeface="Arial"/>
              </a:rPr>
              <a:t>Repair</a:t>
            </a:r>
          </a:p>
        </p:txBody>
      </p:sp>
      <p:sp>
        <p:nvSpPr>
          <p:cNvPr id="17" name="">
            <a:extLst xmlns:a="http://schemas.openxmlformats.org/drawingml/2006/main">
              <a:ext uri="{FF2B5EF4-FFF2-40B4-BE49-F238E27FC236}">
                <a16:creationId xmlns:a16="http://schemas.microsoft.com/office/drawing/2014/main" id="{B602D142-4CA6-4889-9425-74231155C42D}"/>
              </a:ext>
            </a:extLst>
          </p:cNvPr>
          <p:cNvSpPr>
            <a:spLocks xmlns:a="http://schemas.openxmlformats.org/drawingml/2006/main" noGrp="1"/>
          </p:cNvSpPr>
          <p:nvPr/>
        </p:nvSpPr>
        <p:spPr>
          <a:xfrm xmlns:a="http://schemas.openxmlformats.org/drawingml/2006/main">
            <a:off x="8429625" y="3714750"/>
            <a:ext cx="2667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Apply constraints, blending, and inertialization to preserve visual quality.</a:t>
            </a:r>
          </a:p>
        </p:txBody>
      </p:sp>
      <p:sp>
        <p:nvSpPr>
          <p:cNvPr id="18" name="">
            <a:extLst xmlns:a="http://schemas.openxmlformats.org/drawingml/2006/main">
              <a:ext uri="{FF2B5EF4-FFF2-40B4-BE49-F238E27FC236}">
                <a16:creationId xmlns:a16="http://schemas.microsoft.com/office/drawing/2014/main" id="{D838BDFF-1144-4798-9E9C-91CAED5CD5DC}"/>
              </a:ext>
            </a:extLst>
          </p:cNvPr>
          <p:cNvSpPr>
            <a:spLocks xmlns:a="http://schemas.openxmlformats.org/drawingml/2006/main" noGrp="1"/>
          </p:cNvSpPr>
          <p:nvPr/>
        </p:nvSpPr>
        <p:spPr>
          <a:xfrm xmlns:a="http://schemas.openxmlformats.org/drawingml/2006/main">
            <a:off x="666750" y="5334000"/>
            <a:ext cx="10858500" cy="5905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BCC1B67-DDB1-4519-BED5-20787A3B61B0}"/>
              </a:ext>
            </a:extLst>
          </p:cNvPr>
          <p:cNvSpPr>
            <a:spLocks xmlns:a="http://schemas.openxmlformats.org/drawingml/2006/main" noGrp="1"/>
          </p:cNvSpPr>
          <p:nvPr/>
        </p:nvSpPr>
        <p:spPr>
          <a:xfrm xmlns:a="http://schemas.openxmlformats.org/drawingml/2006/main">
            <a:off x="904875" y="550545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692"/>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Core decision: preserve the captured performance and make targeted geometric corrections instead of synthesizing motion from scratch.</a:t>
            </a:r>
          </a:p>
        </p:txBody>
      </p:sp>
    </p:spTree>
    <p:extLst>
      <p:ext uri="{BB962C8B-B14F-4D97-AF65-F5344CB8AC3E}">
        <p14:creationId xmlns:p14="http://schemas.microsoft.com/office/powerpoint/2010/main" val="5744069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4F8911-2DB2-4E4B-B036-A00367D83595}"/>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1 · WHAT SHIPPED</a:t>
            </a:r>
          </a:p>
        </p:txBody>
      </p:sp>
      <p:sp>
        <p:nvSpPr>
          <p:cNvPr id="2" name="">
            <a:extLst xmlns:a="http://schemas.openxmlformats.org/drawingml/2006/main">
              <a:ext uri="{FF2B5EF4-FFF2-40B4-BE49-F238E27FC236}">
                <a16:creationId xmlns:a16="http://schemas.microsoft.com/office/drawing/2014/main" id="{49DA37D0-40CE-4048-A022-8E416879499A}"/>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A hybrid runtime made precise motion usable inside an interactive system</a:t>
            </a:r>
          </a:p>
        </p:txBody>
      </p:sp>
      <p:sp>
        <p:nvSpPr>
          <p:cNvPr id="3" name="">
            <a:extLst xmlns:a="http://schemas.openxmlformats.org/drawingml/2006/main">
              <a:ext uri="{FF2B5EF4-FFF2-40B4-BE49-F238E27FC236}">
                <a16:creationId xmlns:a16="http://schemas.microsoft.com/office/drawing/2014/main" id="{21CBFABE-842D-4053-A4C6-3EEEDA106F24}"/>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4FF8327F-2F7C-45AC-997B-13123AE209B3}"/>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05</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d6a7458273d4fca"/>
          <a:stretch xmlns:a="http://schemas.openxmlformats.org/drawingml/2006/main"/>
        </p:blipFill>
        <p:spPr>
          <a:xfrm xmlns:a="http://schemas.openxmlformats.org/drawingml/2006/main">
            <a:off x="571500" y="1866188"/>
            <a:ext cx="6953250" cy="379237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69E4F3-F343-41A2-A416-A414B76AD49B}"/>
              </a:ext>
            </a:extLst>
          </p:cNvPr>
          <p:cNvSpPr>
            <a:spLocks xmlns:a="http://schemas.openxmlformats.org/drawingml/2006/main" noGrp="1"/>
          </p:cNvSpPr>
          <p:nvPr/>
        </p:nvSpPr>
        <p:spPr>
          <a:xfrm xmlns:a="http://schemas.openxmlformats.org/drawingml/2006/main">
            <a:off x="8096250" y="19526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3D8DFF"/>
                </a:solidFill>
                <a:latin typeface="Arial"/>
                <a:ea typeface="Arial"/>
                <a:cs typeface="Arial"/>
              </a:defRPr>
            </a:pPr>
            <a:r>
              <a:rPr sz="1800" b="1">
                <a:solidFill>
                  <a:srgbClr val="3D8DFF"/>
                </a:solidFill>
                <a:latin typeface="Arial"/>
                <a:ea typeface="Arial"/>
                <a:cs typeface="Arial"/>
              </a:rPr>
              <a:t>Runtime behavior</a:t>
            </a:r>
          </a:p>
        </p:txBody>
      </p:sp>
      <p:sp>
        <p:nvSpPr>
          <p:cNvPr id="7" name="">
            <a:extLst xmlns:a="http://schemas.openxmlformats.org/drawingml/2006/main">
              <a:ext uri="{FF2B5EF4-FFF2-40B4-BE49-F238E27FC236}">
                <a16:creationId xmlns:a16="http://schemas.microsoft.com/office/drawing/2014/main" id="{1E3F8DAE-0979-4080-A041-E8814B783E53}"/>
              </a:ext>
            </a:extLst>
          </p:cNvPr>
          <p:cNvSpPr>
            <a:spLocks xmlns:a="http://schemas.openxmlformats.org/drawingml/2006/main" noGrp="1"/>
          </p:cNvSpPr>
          <p:nvPr/>
        </p:nvSpPr>
        <p:spPr>
          <a:xfrm xmlns:a="http://schemas.openxmlformats.org/drawingml/2006/main">
            <a:off x="8096250" y="2657475"/>
            <a:ext cx="123825" cy="123825"/>
          </a:xfrm>
          <a:prstGeom xmlns:a="http://schemas.openxmlformats.org/drawingml/2006/main" prst="ellipse">
            <a:avLst/>
          </a:prstGeom>
          <a:solidFill xmlns:a="http://schemas.openxmlformats.org/drawingml/2006/main">
            <a:srgbClr val="6DCBF4"/>
          </a:solidFill>
          <a:ln xmlns:a="http://schemas.openxmlformats.org/drawingml/2006/main" w="9525">
            <a:solidFill>
              <a:srgbClr val="6DCBF4"/>
            </a:solidFill>
            <a:prstDash val="solid"/>
          </a:ln>
        </p:spPr>
      </p:sp>
      <p:sp>
        <p:nvSpPr>
          <p:cNvPr id="8" name="">
            <a:extLst xmlns:a="http://schemas.openxmlformats.org/drawingml/2006/main">
              <a:ext uri="{FF2B5EF4-FFF2-40B4-BE49-F238E27FC236}">
                <a16:creationId xmlns:a16="http://schemas.microsoft.com/office/drawing/2014/main" id="{A2E2C9DB-FEA6-40D7-94A1-ACDCC0F8DA29}"/>
              </a:ext>
            </a:extLst>
          </p:cNvPr>
          <p:cNvSpPr>
            <a:spLocks xmlns:a="http://schemas.openxmlformats.org/drawingml/2006/main" noGrp="1"/>
          </p:cNvSpPr>
          <p:nvPr/>
        </p:nvSpPr>
        <p:spPr>
          <a:xfrm xmlns:a="http://schemas.openxmlformats.org/drawingml/2006/main">
            <a:off x="8382000" y="261937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Target arrives</a:t>
            </a:r>
          </a:p>
        </p:txBody>
      </p:sp>
      <p:sp>
        <p:nvSpPr>
          <p:cNvPr id="9" name="">
            <a:extLst xmlns:a="http://schemas.openxmlformats.org/drawingml/2006/main">
              <a:ext uri="{FF2B5EF4-FFF2-40B4-BE49-F238E27FC236}">
                <a16:creationId xmlns:a16="http://schemas.microsoft.com/office/drawing/2014/main" id="{E8D726C3-A37E-4AA6-AA1D-CE36F6F103E0}"/>
              </a:ext>
            </a:extLst>
          </p:cNvPr>
          <p:cNvSpPr>
            <a:spLocks xmlns:a="http://schemas.openxmlformats.org/drawingml/2006/main" noGrp="1"/>
          </p:cNvSpPr>
          <p:nvPr/>
        </p:nvSpPr>
        <p:spPr>
          <a:xfrm xmlns:a="http://schemas.openxmlformats.org/drawingml/2006/main">
            <a:off x="8382000" y="2905125"/>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A goal position and orientation enter the system.</a:t>
            </a:r>
          </a:p>
        </p:txBody>
      </p:sp>
      <p:sp>
        <p:nvSpPr>
          <p:cNvPr id="10" name="">
            <a:extLst xmlns:a="http://schemas.openxmlformats.org/drawingml/2006/main">
              <a:ext uri="{FF2B5EF4-FFF2-40B4-BE49-F238E27FC236}">
                <a16:creationId xmlns:a16="http://schemas.microsoft.com/office/drawing/2014/main" id="{CB91D28E-71B8-4A05-8D77-875B787D7ED7}"/>
              </a:ext>
            </a:extLst>
          </p:cNvPr>
          <p:cNvSpPr>
            <a:spLocks xmlns:a="http://schemas.openxmlformats.org/drawingml/2006/main" noGrp="1"/>
          </p:cNvSpPr>
          <p:nvPr/>
        </p:nvSpPr>
        <p:spPr>
          <a:xfrm xmlns:a="http://schemas.openxmlformats.org/drawingml/2006/main">
            <a:off x="8096250" y="3657600"/>
            <a:ext cx="123825" cy="123825"/>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1" name="">
            <a:extLst xmlns:a="http://schemas.openxmlformats.org/drawingml/2006/main">
              <a:ext uri="{FF2B5EF4-FFF2-40B4-BE49-F238E27FC236}">
                <a16:creationId xmlns:a16="http://schemas.microsoft.com/office/drawing/2014/main" id="{71EE3C50-ED99-4630-B4C5-95E33C1064F1}"/>
              </a:ext>
            </a:extLst>
          </p:cNvPr>
          <p:cNvSpPr>
            <a:spLocks xmlns:a="http://schemas.openxmlformats.org/drawingml/2006/main" noGrp="1"/>
          </p:cNvSpPr>
          <p:nvPr/>
        </p:nvSpPr>
        <p:spPr>
          <a:xfrm xmlns:a="http://schemas.openxmlformats.org/drawingml/2006/main">
            <a:off x="8382000" y="36195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Best sequence found</a:t>
            </a:r>
          </a:p>
        </p:txBody>
      </p:sp>
      <p:sp>
        <p:nvSpPr>
          <p:cNvPr id="12" name="">
            <a:extLst xmlns:a="http://schemas.openxmlformats.org/drawingml/2006/main">
              <a:ext uri="{FF2B5EF4-FFF2-40B4-BE49-F238E27FC236}">
                <a16:creationId xmlns:a16="http://schemas.microsoft.com/office/drawing/2014/main" id="{F92F9A00-A570-41D3-8CB9-E9EB00F51B37}"/>
              </a:ext>
            </a:extLst>
          </p:cNvPr>
          <p:cNvSpPr>
            <a:spLocks xmlns:a="http://schemas.openxmlformats.org/drawingml/2006/main" noGrp="1"/>
          </p:cNvSpPr>
          <p:nvPr/>
        </p:nvSpPr>
        <p:spPr>
          <a:xfrm xmlns:a="http://schemas.openxmlformats.org/drawingml/2006/main">
            <a:off x="8382000" y="3905250"/>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The captured clip is adapted and post-processed.</a:t>
            </a:r>
          </a:p>
        </p:txBody>
      </p:sp>
      <p:sp>
        <p:nvSpPr>
          <p:cNvPr id="13" name="">
            <a:extLst xmlns:a="http://schemas.openxmlformats.org/drawingml/2006/main">
              <a:ext uri="{FF2B5EF4-FFF2-40B4-BE49-F238E27FC236}">
                <a16:creationId xmlns:a16="http://schemas.microsoft.com/office/drawing/2014/main" id="{63AEA1DB-7265-4F4B-A839-4D6EAD563C3C}"/>
              </a:ext>
            </a:extLst>
          </p:cNvPr>
          <p:cNvSpPr>
            <a:spLocks xmlns:a="http://schemas.openxmlformats.org/drawingml/2006/main" noGrp="1"/>
          </p:cNvSpPr>
          <p:nvPr/>
        </p:nvSpPr>
        <p:spPr>
          <a:xfrm xmlns:a="http://schemas.openxmlformats.org/drawingml/2006/main">
            <a:off x="8096250" y="4657725"/>
            <a:ext cx="123825" cy="123825"/>
          </a:xfrm>
          <a:prstGeom xmlns:a="http://schemas.openxmlformats.org/drawingml/2006/main" prst="ellipse">
            <a:avLst/>
          </a:prstGeom>
          <a:solidFill xmlns:a="http://schemas.openxmlformats.org/drawingml/2006/main">
            <a:srgbClr val="6DCBF4"/>
          </a:solidFill>
          <a:ln xmlns:a="http://schemas.openxmlformats.org/drawingml/2006/main" w="9525">
            <a:solidFill>
              <a:srgbClr val="6DCBF4"/>
            </a:solidFill>
            <a:prstDash val="solid"/>
          </a:ln>
        </p:spPr>
      </p:sp>
      <p:sp>
        <p:nvSpPr>
          <p:cNvPr id="14" name="">
            <a:extLst xmlns:a="http://schemas.openxmlformats.org/drawingml/2006/main">
              <a:ext uri="{FF2B5EF4-FFF2-40B4-BE49-F238E27FC236}">
                <a16:creationId xmlns:a16="http://schemas.microsoft.com/office/drawing/2014/main" id="{B3F93787-A843-4331-A070-4E7771F73310}"/>
              </a:ext>
            </a:extLst>
          </p:cNvPr>
          <p:cNvSpPr>
            <a:spLocks xmlns:a="http://schemas.openxmlformats.org/drawingml/2006/main" noGrp="1"/>
          </p:cNvSpPr>
          <p:nvPr/>
        </p:nvSpPr>
        <p:spPr>
          <a:xfrm xmlns:a="http://schemas.openxmlformats.org/drawingml/2006/main">
            <a:off x="8382000" y="4619625"/>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No valid sequence</a:t>
            </a:r>
          </a:p>
        </p:txBody>
      </p:sp>
      <p:sp>
        <p:nvSpPr>
          <p:cNvPr id="15" name="">
            <a:extLst xmlns:a="http://schemas.openxmlformats.org/drawingml/2006/main">
              <a:ext uri="{FF2B5EF4-FFF2-40B4-BE49-F238E27FC236}">
                <a16:creationId xmlns:a16="http://schemas.microsoft.com/office/drawing/2014/main" id="{5BFB8A82-B5C2-485E-B225-E34F3E437443}"/>
              </a:ext>
            </a:extLst>
          </p:cNvPr>
          <p:cNvSpPr>
            <a:spLocks xmlns:a="http://schemas.openxmlformats.org/drawingml/2006/main" noGrp="1"/>
          </p:cNvSpPr>
          <p:nvPr/>
        </p:nvSpPr>
        <p:spPr>
          <a:xfrm xmlns:a="http://schemas.openxmlformats.org/drawingml/2006/main">
            <a:off x="8382000" y="4905375"/>
            <a:ext cx="2714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The standard locomotion controller remains available as fallback.</a:t>
            </a:r>
          </a:p>
        </p:txBody>
      </p:sp>
    </p:spTree>
    <p:extLst>
      <p:ext uri="{BB962C8B-B14F-4D97-AF65-F5344CB8AC3E}">
        <p14:creationId xmlns:p14="http://schemas.microsoft.com/office/powerpoint/2010/main" val="21098996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9CA05C-CC87-42BC-AD26-131055A57A48}"/>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1 · RESULTS</a:t>
            </a:r>
          </a:p>
        </p:txBody>
      </p:sp>
      <p:sp>
        <p:nvSpPr>
          <p:cNvPr id="2" name="">
            <a:extLst xmlns:a="http://schemas.openxmlformats.org/drawingml/2006/main">
              <a:ext uri="{FF2B5EF4-FFF2-40B4-BE49-F238E27FC236}">
                <a16:creationId xmlns:a16="http://schemas.microsoft.com/office/drawing/2014/main" id="{BCF6936F-DD18-45C3-9761-3AC2B31D21CA}"/>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The system covered most nearby goals while staying within a real-time budget</a:t>
            </a:r>
          </a:p>
        </p:txBody>
      </p:sp>
      <p:sp>
        <p:nvSpPr>
          <p:cNvPr id="3" name="">
            <a:extLst xmlns:a="http://schemas.openxmlformats.org/drawingml/2006/main">
              <a:ext uri="{FF2B5EF4-FFF2-40B4-BE49-F238E27FC236}">
                <a16:creationId xmlns:a16="http://schemas.microsoft.com/office/drawing/2014/main" id="{CC196E01-BB5B-49F2-BE3F-D06CB556FBD2}"/>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D8D19ACA-3B1D-45A5-9E21-CD2779D729A3}"/>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16a4be32c5f4a2c"/>
          <a:stretch xmlns:a="http://schemas.openxmlformats.org/drawingml/2006/main"/>
        </p:blipFill>
        <p:spPr>
          <a:xfrm xmlns:a="http://schemas.openxmlformats.org/drawingml/2006/main">
            <a:off x="619125" y="1839438"/>
            <a:ext cx="4953000" cy="403637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8C679C7-EEB1-4842-8C6B-42CD715D2A9F}"/>
              </a:ext>
            </a:extLst>
          </p:cNvPr>
          <p:cNvSpPr>
            <a:spLocks xmlns:a="http://schemas.openxmlformats.org/drawingml/2006/main" noGrp="1"/>
          </p:cNvSpPr>
          <p:nvPr/>
        </p:nvSpPr>
        <p:spPr>
          <a:xfrm xmlns:a="http://schemas.openxmlformats.org/drawingml/2006/main">
            <a:off x="6286500" y="1857375"/>
            <a:ext cx="4762500" cy="114300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8DBB5B0-0511-4831-B978-E0283947217F}"/>
              </a:ext>
            </a:extLst>
          </p:cNvPr>
          <p:cNvSpPr>
            <a:spLocks xmlns:a="http://schemas.openxmlformats.org/drawingml/2006/main" noGrp="1"/>
          </p:cNvSpPr>
          <p:nvPr/>
        </p:nvSpPr>
        <p:spPr>
          <a:xfrm xmlns:a="http://schemas.openxmlformats.org/drawingml/2006/main">
            <a:off x="6667500" y="20955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2700" b="1">
                <a:solidFill>
                  <a:srgbClr val="3D8DFF"/>
                </a:solidFill>
                <a:latin typeface="Arial"/>
                <a:ea typeface="Arial"/>
                <a:cs typeface="Arial"/>
              </a:defRPr>
            </a:pPr>
            <a:r>
              <a:rPr sz="2700" b="1">
                <a:solidFill>
                  <a:srgbClr val="3D8DFF"/>
                </a:solidFill>
                <a:latin typeface="Arial"/>
                <a:ea typeface="Arial"/>
                <a:cs typeface="Arial"/>
              </a:rPr>
              <a:t>≈ 4.6 ms</a:t>
            </a:r>
          </a:p>
        </p:txBody>
      </p:sp>
      <p:sp>
        <p:nvSpPr>
          <p:cNvPr id="8" name="">
            <a:extLst xmlns:a="http://schemas.openxmlformats.org/drawingml/2006/main">
              <a:ext uri="{FF2B5EF4-FFF2-40B4-BE49-F238E27FC236}">
                <a16:creationId xmlns:a16="http://schemas.microsoft.com/office/drawing/2014/main" id="{3DF19846-25D8-4D3A-BFFF-7A444B2D7158}"/>
              </a:ext>
            </a:extLst>
          </p:cNvPr>
          <p:cNvSpPr>
            <a:spLocks xmlns:a="http://schemas.openxmlformats.org/drawingml/2006/main" noGrp="1"/>
          </p:cNvSpPr>
          <p:nvPr/>
        </p:nvSpPr>
        <p:spPr>
          <a:xfrm xmlns:a="http://schemas.openxmlformats.org/drawingml/2006/main">
            <a:off x="6667500" y="2590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0">
                <a:solidFill>
                  <a:srgbClr val="5F6672"/>
                </a:solidFill>
                <a:latin typeface="Arial"/>
                <a:ea typeface="Arial"/>
                <a:cs typeface="Arial"/>
              </a:defRPr>
            </a:pPr>
            <a:r>
              <a:rPr sz="1350" b="0">
                <a:solidFill>
                  <a:srgbClr val="5F6672"/>
                </a:solidFill>
                <a:latin typeface="Arial"/>
                <a:ea typeface="Arial"/>
                <a:cs typeface="Arial"/>
              </a:rPr>
              <a:t>successful sequence selection</a:t>
            </a:r>
          </a:p>
        </p:txBody>
      </p:sp>
      <p:sp>
        <p:nvSpPr>
          <p:cNvPr id="9" name="">
            <a:extLst xmlns:a="http://schemas.openxmlformats.org/drawingml/2006/main">
              <a:ext uri="{FF2B5EF4-FFF2-40B4-BE49-F238E27FC236}">
                <a16:creationId xmlns:a16="http://schemas.microsoft.com/office/drawing/2014/main" id="{F2A0522F-5375-4893-96FA-3EF4522E14AB}"/>
              </a:ext>
            </a:extLst>
          </p:cNvPr>
          <p:cNvSpPr>
            <a:spLocks xmlns:a="http://schemas.openxmlformats.org/drawingml/2006/main" noGrp="1"/>
          </p:cNvSpPr>
          <p:nvPr/>
        </p:nvSpPr>
        <p:spPr>
          <a:xfrm xmlns:a="http://schemas.openxmlformats.org/drawingml/2006/main">
            <a:off x="6286500" y="3286125"/>
            <a:ext cx="4762500" cy="11430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5731D9E-7774-4B65-9E60-4ED0EC57EB37}"/>
              </a:ext>
            </a:extLst>
          </p:cNvPr>
          <p:cNvSpPr>
            <a:spLocks xmlns:a="http://schemas.openxmlformats.org/drawingml/2006/main" noGrp="1"/>
          </p:cNvSpPr>
          <p:nvPr/>
        </p:nvSpPr>
        <p:spPr>
          <a:xfrm xmlns:a="http://schemas.openxmlformats.org/drawingml/2006/main">
            <a:off x="6667500" y="3524250"/>
            <a:ext cx="228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889"/>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 0.15 ms</a:t>
            </a:r>
          </a:p>
        </p:txBody>
      </p:sp>
      <p:sp>
        <p:nvSpPr>
          <p:cNvPr id="11" name="">
            <a:extLst xmlns:a="http://schemas.openxmlformats.org/drawingml/2006/main">
              <a:ext uri="{FF2B5EF4-FFF2-40B4-BE49-F238E27FC236}">
                <a16:creationId xmlns:a16="http://schemas.microsoft.com/office/drawing/2014/main" id="{83CDC51A-E6F3-4617-82B6-A8E7AF706A28}"/>
              </a:ext>
            </a:extLst>
          </p:cNvPr>
          <p:cNvSpPr>
            <a:spLocks xmlns:a="http://schemas.openxmlformats.org/drawingml/2006/main" noGrp="1"/>
          </p:cNvSpPr>
          <p:nvPr/>
        </p:nvSpPr>
        <p:spPr>
          <a:xfrm xmlns:a="http://schemas.openxmlformats.org/drawingml/2006/main">
            <a:off x="6667500" y="4019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0">
                <a:solidFill>
                  <a:srgbClr val="5F6672"/>
                </a:solidFill>
                <a:latin typeface="Arial"/>
                <a:ea typeface="Arial"/>
                <a:cs typeface="Arial"/>
              </a:defRPr>
            </a:pPr>
            <a:r>
              <a:rPr sz="1350" b="0">
                <a:solidFill>
                  <a:srgbClr val="5F6672"/>
                </a:solidFill>
                <a:latin typeface="Arial"/>
                <a:ea typeface="Arial"/>
                <a:cs typeface="Arial"/>
              </a:rPr>
              <a:t>pose adaptation + post-processing</a:t>
            </a:r>
          </a:p>
        </p:txBody>
      </p:sp>
      <p:sp>
        <p:nvSpPr>
          <p:cNvPr id="12" name="">
            <a:extLst xmlns:a="http://schemas.openxmlformats.org/drawingml/2006/main">
              <a:ext uri="{FF2B5EF4-FFF2-40B4-BE49-F238E27FC236}">
                <a16:creationId xmlns:a16="http://schemas.microsoft.com/office/drawing/2014/main" id="{ABDCF745-0EEE-44E7-BC56-790F4C090451}"/>
              </a:ext>
            </a:extLst>
          </p:cNvPr>
          <p:cNvSpPr>
            <a:spLocks xmlns:a="http://schemas.openxmlformats.org/drawingml/2006/main" noGrp="1"/>
          </p:cNvSpPr>
          <p:nvPr/>
        </p:nvSpPr>
        <p:spPr>
          <a:xfrm xmlns:a="http://schemas.openxmlformats.org/drawingml/2006/main">
            <a:off x="6286500" y="4857750"/>
            <a:ext cx="4762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The main limitation was geometric: failures concentrated very close to the origin and near the edge of the reachable region.</a:t>
            </a:r>
          </a:p>
        </p:txBody>
      </p:sp>
    </p:spTree>
    <p:extLst>
      <p:ext uri="{BB962C8B-B14F-4D97-AF65-F5344CB8AC3E}">
        <p14:creationId xmlns:p14="http://schemas.microsoft.com/office/powerpoint/2010/main" val="845087450"/>
      </p:ext>
    </p:extLst>
  </p:cSld>
</p:sld>
</file>

<file path=ppt/slides/slide7.xml><?xml version="1.0" encoding="utf-8"?>
<p:sld xmlns:p="http://schemas.openxmlformats.org/presentationml/2006/main">
  <p:cSld>
    <p:bg>
      <p:bgPr>
        <a:solidFill xmlns:a="http://schemas.openxmlformats.org/drawingml/2006/main">
          <a:srgbClr val="1113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8237F25-6BD2-45FD-A449-B112D8FFA973}"/>
              </a:ext>
            </a:extLst>
          </p:cNvPr>
          <p:cNvSpPr>
            <a:spLocks xmlns:a="http://schemas.openxmlformats.org/drawingml/2006/main" noGrp="1"/>
          </p:cNvSpPr>
          <p:nvPr/>
        </p:nvSpPr>
        <p:spPr>
          <a:xfrm xmlns:a="http://schemas.openxmlformats.org/drawingml/2006/main">
            <a:off x="571500" y="5143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6DCBF4"/>
                </a:solidFill>
                <a:latin typeface="Arial"/>
                <a:ea typeface="Arial"/>
                <a:cs typeface="Arial"/>
              </a:defRPr>
            </a:pPr>
            <a:r>
              <a:rPr sz="1050" b="1">
                <a:solidFill>
                  <a:srgbClr val="6DCBF4"/>
                </a:solidFill>
                <a:latin typeface="Arial"/>
                <a:ea typeface="Arial"/>
                <a:cs typeface="Arial"/>
              </a:rPr>
              <a:t>FROM ANIMATION TO CONTROL</a:t>
            </a:r>
          </a:p>
        </p:txBody>
      </p:sp>
      <p:sp>
        <p:nvSpPr>
          <p:cNvPr id="2" name="">
            <a:extLst xmlns:a="http://schemas.openxmlformats.org/drawingml/2006/main">
              <a:ext uri="{FF2B5EF4-FFF2-40B4-BE49-F238E27FC236}">
                <a16:creationId xmlns:a16="http://schemas.microsoft.com/office/drawing/2014/main" id="{F3AD5791-66C0-4C3F-B6FE-42BD87C6B872}"/>
              </a:ext>
            </a:extLst>
          </p:cNvPr>
          <p:cNvSpPr>
            <a:spLocks xmlns:a="http://schemas.openxmlformats.org/drawingml/2006/main" noGrp="1"/>
          </p:cNvSpPr>
          <p:nvPr/>
        </p:nvSpPr>
        <p:spPr>
          <a:xfrm xmlns:a="http://schemas.openxmlformats.org/drawingml/2006/main">
            <a:off x="571500" y="1381125"/>
            <a:ext cx="10668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375" b="1">
                <a:solidFill>
                  <a:srgbClr val="FFFFFF"/>
                </a:solidFill>
                <a:latin typeface="Arial"/>
                <a:ea typeface="Arial"/>
                <a:cs typeface="Arial"/>
              </a:defRPr>
            </a:pPr>
            <a:r>
              <a:rPr sz="3375" b="1">
                <a:solidFill>
                  <a:srgbClr val="FFFFFF"/>
                </a:solidFill>
                <a:latin typeface="Arial"/>
                <a:ea typeface="Arial"/>
                <a:cs typeface="Arial"/>
              </a:rPr>
              <a:t>The thesis taught me to treat locomotion as a system problem—not just an algorithm</a:t>
            </a:r>
          </a:p>
        </p:txBody>
      </p:sp>
      <p:sp>
        <p:nvSpPr>
          <p:cNvPr id="3" name="">
            <a:extLst xmlns:a="http://schemas.openxmlformats.org/drawingml/2006/main">
              <a:ext uri="{FF2B5EF4-FFF2-40B4-BE49-F238E27FC236}">
                <a16:creationId xmlns:a16="http://schemas.microsoft.com/office/drawing/2014/main" id="{0ED48EA0-7421-4816-8D2D-8AD193F92553}"/>
              </a:ext>
            </a:extLst>
          </p:cNvPr>
          <p:cNvSpPr>
            <a:spLocks xmlns:a="http://schemas.openxmlformats.org/drawingml/2006/main" noGrp="1"/>
          </p:cNvSpPr>
          <p:nvPr/>
        </p:nvSpPr>
        <p:spPr>
          <a:xfrm xmlns:a="http://schemas.openxmlformats.org/drawingml/2006/main">
            <a:off x="57150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0C9015F-DEE6-447A-996B-76E0A9D860A5}"/>
              </a:ext>
            </a:extLst>
          </p:cNvPr>
          <p:cNvSpPr>
            <a:spLocks xmlns:a="http://schemas.openxmlformats.org/drawingml/2006/main" noGrp="1"/>
          </p:cNvSpPr>
          <p:nvPr/>
        </p:nvSpPr>
        <p:spPr>
          <a:xfrm xmlns:a="http://schemas.openxmlformats.org/drawingml/2006/main">
            <a:off x="1190625" y="34290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Specify the outcome</a:t>
            </a:r>
          </a:p>
        </p:txBody>
      </p:sp>
      <p:sp>
        <p:nvSpPr>
          <p:cNvPr id="5" name="">
            <a:extLst xmlns:a="http://schemas.openxmlformats.org/drawingml/2006/main">
              <a:ext uri="{FF2B5EF4-FFF2-40B4-BE49-F238E27FC236}">
                <a16:creationId xmlns:a16="http://schemas.microsoft.com/office/drawing/2014/main" id="{F04DFD71-B5D0-44C8-8EA9-768F8E74077C}"/>
              </a:ext>
            </a:extLst>
          </p:cNvPr>
          <p:cNvSpPr>
            <a:spLocks xmlns:a="http://schemas.openxmlformats.org/drawingml/2006/main" noGrp="1"/>
          </p:cNvSpPr>
          <p:nvPr/>
        </p:nvSpPr>
        <p:spPr>
          <a:xfrm xmlns:a="http://schemas.openxmlformats.org/drawingml/2006/main">
            <a:off x="1190625" y="3952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B8BDC7"/>
                </a:solidFill>
                <a:latin typeface="Arial"/>
                <a:ea typeface="Arial"/>
                <a:cs typeface="Arial"/>
              </a:defRPr>
            </a:pPr>
            <a:r>
              <a:rPr sz="1350" b="0">
                <a:solidFill>
                  <a:srgbClr val="B8BDC7"/>
                </a:solidFill>
                <a:latin typeface="Arial"/>
                <a:ea typeface="Arial"/>
                <a:cs typeface="Arial"/>
              </a:rPr>
              <a:t>Define what valid behavior looks like.</a:t>
            </a:r>
          </a:p>
        </p:txBody>
      </p:sp>
      <p:sp>
        <p:nvSpPr>
          <p:cNvPr id="6" name="">
            <a:extLst xmlns:a="http://schemas.openxmlformats.org/drawingml/2006/main">
              <a:ext uri="{FF2B5EF4-FFF2-40B4-BE49-F238E27FC236}">
                <a16:creationId xmlns:a16="http://schemas.microsoft.com/office/drawing/2014/main" id="{C300F6E0-F1AF-4725-AE54-4E8B76CFF62D}"/>
              </a:ext>
            </a:extLst>
          </p:cNvPr>
          <p:cNvSpPr>
            <a:spLocks xmlns:a="http://schemas.openxmlformats.org/drawingml/2006/main" noGrp="1"/>
          </p:cNvSpPr>
          <p:nvPr/>
        </p:nvSpPr>
        <p:spPr>
          <a:xfrm xmlns:a="http://schemas.openxmlformats.org/drawingml/2006/main">
            <a:off x="438150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EF1B4DE-27FE-494F-ACB6-F1311EA2D987}"/>
              </a:ext>
            </a:extLst>
          </p:cNvPr>
          <p:cNvSpPr>
            <a:spLocks xmlns:a="http://schemas.openxmlformats.org/drawingml/2006/main" noGrp="1"/>
          </p:cNvSpPr>
          <p:nvPr/>
        </p:nvSpPr>
        <p:spPr>
          <a:xfrm xmlns:a="http://schemas.openxmlformats.org/drawingml/2006/main">
            <a:off x="5000625" y="34290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Design for failure</a:t>
            </a:r>
          </a:p>
        </p:txBody>
      </p:sp>
      <p:sp>
        <p:nvSpPr>
          <p:cNvPr id="8" name="">
            <a:extLst xmlns:a="http://schemas.openxmlformats.org/drawingml/2006/main">
              <a:ext uri="{FF2B5EF4-FFF2-40B4-BE49-F238E27FC236}">
                <a16:creationId xmlns:a16="http://schemas.microsoft.com/office/drawing/2014/main" id="{DA70BFA6-A3E7-4B8C-B3BC-D4BD4889E5EA}"/>
              </a:ext>
            </a:extLst>
          </p:cNvPr>
          <p:cNvSpPr>
            <a:spLocks xmlns:a="http://schemas.openxmlformats.org/drawingml/2006/main" noGrp="1"/>
          </p:cNvSpPr>
          <p:nvPr/>
        </p:nvSpPr>
        <p:spPr>
          <a:xfrm xmlns:a="http://schemas.openxmlformats.org/drawingml/2006/main">
            <a:off x="5000625" y="3952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B8BDC7"/>
                </a:solidFill>
                <a:latin typeface="Arial"/>
                <a:ea typeface="Arial"/>
                <a:cs typeface="Arial"/>
              </a:defRPr>
            </a:pPr>
            <a:r>
              <a:rPr sz="1350" b="0">
                <a:solidFill>
                  <a:srgbClr val="B8BDC7"/>
                </a:solidFill>
                <a:latin typeface="Arial"/>
                <a:ea typeface="Arial"/>
                <a:cs typeface="Arial"/>
              </a:rPr>
              <a:t>Use fallback paths and measurable limits.</a:t>
            </a:r>
          </a:p>
        </p:txBody>
      </p:sp>
      <p:sp>
        <p:nvSpPr>
          <p:cNvPr id="9" name="">
            <a:extLst xmlns:a="http://schemas.openxmlformats.org/drawingml/2006/main">
              <a:ext uri="{FF2B5EF4-FFF2-40B4-BE49-F238E27FC236}">
                <a16:creationId xmlns:a16="http://schemas.microsoft.com/office/drawing/2014/main" id="{212AC3DE-E822-4AC9-BD09-EED63AB17529}"/>
              </a:ext>
            </a:extLst>
          </p:cNvPr>
          <p:cNvSpPr>
            <a:spLocks xmlns:a="http://schemas.openxmlformats.org/drawingml/2006/main" noGrp="1"/>
          </p:cNvSpPr>
          <p:nvPr/>
        </p:nvSpPr>
        <p:spPr>
          <a:xfrm xmlns:a="http://schemas.openxmlformats.org/drawingml/2006/main">
            <a:off x="8191500" y="34766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9697"/>
          </a:bodyPr>
          <a:lstStyle xmlns:a="http://schemas.openxmlformats.org/drawingml/2006/main"/>
          <a:p xmlns:a="http://schemas.openxmlformats.org/drawingml/2006/main">
            <a:pPr algn="l">
              <a:buNone/>
              <a:defRPr sz="1650" b="1">
                <a:solidFill>
                  <a:srgbClr val="3D8DFF"/>
                </a:solidFill>
                <a:latin typeface="Arial"/>
                <a:ea typeface="Arial"/>
                <a:cs typeface="Arial"/>
              </a:defRPr>
            </a:pPr>
            <a:r>
              <a:rPr sz="1650" b="1">
                <a:solidFill>
                  <a:srgbClr val="3D8DF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D6D0F1FD-54F4-4696-B3D4-4BA8940207E3}"/>
              </a:ext>
            </a:extLst>
          </p:cNvPr>
          <p:cNvSpPr>
            <a:spLocks xmlns:a="http://schemas.openxmlformats.org/drawingml/2006/main" noGrp="1"/>
          </p:cNvSpPr>
          <p:nvPr/>
        </p:nvSpPr>
        <p:spPr>
          <a:xfrm xmlns:a="http://schemas.openxmlformats.org/drawingml/2006/main">
            <a:off x="8810625" y="342900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Validate the whole loop</a:t>
            </a:r>
          </a:p>
        </p:txBody>
      </p:sp>
      <p:sp>
        <p:nvSpPr>
          <p:cNvPr id="11" name="">
            <a:extLst xmlns:a="http://schemas.openxmlformats.org/drawingml/2006/main">
              <a:ext uri="{FF2B5EF4-FFF2-40B4-BE49-F238E27FC236}">
                <a16:creationId xmlns:a16="http://schemas.microsoft.com/office/drawing/2014/main" id="{BAC27CBE-5E42-40D4-A285-BFFBBD2969F7}"/>
              </a:ext>
            </a:extLst>
          </p:cNvPr>
          <p:cNvSpPr>
            <a:spLocks xmlns:a="http://schemas.openxmlformats.org/drawingml/2006/main" noGrp="1"/>
          </p:cNvSpPr>
          <p:nvPr/>
        </p:nvSpPr>
        <p:spPr>
          <a:xfrm xmlns:a="http://schemas.openxmlformats.org/drawingml/2006/main">
            <a:off x="8810625" y="3952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B8BDC7"/>
                </a:solidFill>
                <a:latin typeface="Arial"/>
                <a:ea typeface="Arial"/>
                <a:cs typeface="Arial"/>
              </a:defRPr>
            </a:pPr>
            <a:r>
              <a:rPr sz="1350" b="0">
                <a:solidFill>
                  <a:srgbClr val="B8BDC7"/>
                </a:solidFill>
                <a:latin typeface="Arial"/>
                <a:ea typeface="Arial"/>
                <a:cs typeface="Arial"/>
              </a:rPr>
              <a:t>Measure runtime behavior, not isolated components.</a:t>
            </a:r>
          </a:p>
        </p:txBody>
      </p:sp>
      <p:sp>
        <p:nvSpPr>
          <p:cNvPr id="12" name="">
            <a:extLst xmlns:a="http://schemas.openxmlformats.org/drawingml/2006/main">
              <a:ext uri="{FF2B5EF4-FFF2-40B4-BE49-F238E27FC236}">
                <a16:creationId xmlns:a16="http://schemas.microsoft.com/office/drawing/2014/main" id="{52D1D20A-0A58-4BA2-A207-979AC6A6E3E2}"/>
              </a:ext>
            </a:extLst>
          </p:cNvPr>
          <p:cNvSpPr>
            <a:spLocks xmlns:a="http://schemas.openxmlformats.org/drawingml/2006/main" noGrp="1"/>
          </p:cNvSpPr>
          <p:nvPr/>
        </p:nvSpPr>
        <p:spPr>
          <a:xfrm xmlns:a="http://schemas.openxmlformats.org/drawingml/2006/main">
            <a:off x="571500" y="5572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48"/>
          </a:bodyPr>
          <a:lstStyle xmlns:a="http://schemas.openxmlformats.org/drawingml/2006/main"/>
          <a:p xmlns:a="http://schemas.openxmlformats.org/drawingml/2006/main">
            <a:pPr algn="l">
              <a:buNone/>
              <a:defRPr sz="1800" b="1">
                <a:solidFill>
                  <a:srgbClr val="FFFFFF"/>
                </a:solidFill>
                <a:latin typeface="Arial"/>
                <a:ea typeface="Arial"/>
                <a:cs typeface="Arial"/>
              </a:defRPr>
            </a:pPr>
            <a:r>
              <a:rPr sz="1800" b="1">
                <a:solidFill>
                  <a:srgbClr val="FFFFFF"/>
                </a:solidFill>
                <a:latin typeface="Arial"/>
                <a:ea typeface="Arial"/>
                <a:cs typeface="Arial"/>
              </a:rPr>
              <a:t>I applied the same mindset to a very different problem: learning a controller for a physical robot.</a:t>
            </a:r>
          </a:p>
        </p:txBody>
      </p:sp>
    </p:spTree>
    <p:extLst>
      <p:ext uri="{BB962C8B-B14F-4D97-AF65-F5344CB8AC3E}">
        <p14:creationId xmlns:p14="http://schemas.microsoft.com/office/powerpoint/2010/main" val="85960165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9AAF897-0CDF-4D3E-86AB-2054B1864C04}"/>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2 · ISAAC LAB LOCOMOTION</a:t>
            </a:r>
          </a:p>
        </p:txBody>
      </p:sp>
      <p:sp>
        <p:nvSpPr>
          <p:cNvPr id="2" name="">
            <a:extLst xmlns:a="http://schemas.openxmlformats.org/drawingml/2006/main">
              <a:ext uri="{FF2B5EF4-FFF2-40B4-BE49-F238E27FC236}">
                <a16:creationId xmlns:a16="http://schemas.microsoft.com/office/drawing/2014/main" id="{EE0427DE-28CE-4AD1-9CE9-1B608A43C68D}"/>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In reinforcement learning, the robot exploited every ambiguity in the objective</a:t>
            </a:r>
          </a:p>
        </p:txBody>
      </p:sp>
      <p:sp>
        <p:nvSpPr>
          <p:cNvPr id="3" name="">
            <a:extLst xmlns:a="http://schemas.openxmlformats.org/drawingml/2006/main">
              <a:ext uri="{FF2B5EF4-FFF2-40B4-BE49-F238E27FC236}">
                <a16:creationId xmlns:a16="http://schemas.microsoft.com/office/drawing/2014/main" id="{2F3A078C-06B0-41EA-A077-AFD304171B43}"/>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89D21D12-C0E2-41C0-B970-22F64D4E11C6}"/>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C74F849-DCA4-4B85-9799-1010552FCC85}"/>
              </a:ext>
            </a:extLst>
          </p:cNvPr>
          <p:cNvSpPr>
            <a:spLocks xmlns:a="http://schemas.openxmlformats.org/drawingml/2006/main" noGrp="1"/>
          </p:cNvSpPr>
          <p:nvPr/>
        </p:nvSpPr>
        <p:spPr>
          <a:xfrm xmlns:a="http://schemas.openxmlformats.org/drawingml/2006/main">
            <a:off x="571500" y="1809750"/>
            <a:ext cx="5334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175" b="1">
                <a:solidFill>
                  <a:srgbClr val="111318"/>
                </a:solidFill>
                <a:latin typeface="Arial"/>
                <a:ea typeface="Arial"/>
                <a:cs typeface="Arial"/>
              </a:defRPr>
            </a:pPr>
            <a:r>
              <a:rPr sz="2175" b="1">
                <a:solidFill>
                  <a:srgbClr val="111318"/>
                </a:solidFill>
                <a:latin typeface="Arial"/>
                <a:ea typeface="Arial"/>
                <a:cs typeface="Arial"/>
              </a:rPr>
              <a:t>A policy can maximize reward without learning the behavior we intended.</a:t>
            </a:r>
          </a:p>
        </p:txBody>
      </p:sp>
      <p:sp>
        <p:nvSpPr>
          <p:cNvPr id="6" name="">
            <a:extLst xmlns:a="http://schemas.openxmlformats.org/drawingml/2006/main">
              <a:ext uri="{FF2B5EF4-FFF2-40B4-BE49-F238E27FC236}">
                <a16:creationId xmlns:a16="http://schemas.microsoft.com/office/drawing/2014/main" id="{3481BF4B-CA3D-4FB1-A6AE-DA4D1F7A3EDD}"/>
              </a:ext>
            </a:extLst>
          </p:cNvPr>
          <p:cNvSpPr>
            <a:spLocks xmlns:a="http://schemas.openxmlformats.org/drawingml/2006/main" noGrp="1"/>
          </p:cNvSpPr>
          <p:nvPr/>
        </p:nvSpPr>
        <p:spPr>
          <a:xfrm xmlns:a="http://schemas.openxmlformats.org/drawingml/2006/main">
            <a:off x="571500" y="3048000"/>
            <a:ext cx="4953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5F6672"/>
                </a:solidFill>
                <a:latin typeface="Arial"/>
                <a:ea typeface="Arial"/>
                <a:cs typeface="Arial"/>
              </a:defRPr>
            </a:pPr>
            <a:r>
              <a:rPr sz="1575" b="0">
                <a:solidFill>
                  <a:srgbClr val="5F6672"/>
                </a:solidFill>
                <a:latin typeface="Arial"/>
                <a:ea typeface="Arial"/>
                <a:cs typeface="Arial"/>
              </a:rPr>
              <a:t>Early policies found locally safe shortcuts: kneeling instead of standing, walking in place, or turning on stairs to make climbing easier.</a:t>
            </a:r>
          </a:p>
        </p:txBody>
      </p:sp>
      <p:sp>
        <p:nvSpPr>
          <p:cNvPr id="7" name="">
            <a:extLst xmlns:a="http://schemas.openxmlformats.org/drawingml/2006/main">
              <a:ext uri="{FF2B5EF4-FFF2-40B4-BE49-F238E27FC236}">
                <a16:creationId xmlns:a16="http://schemas.microsoft.com/office/drawing/2014/main" id="{F1ED4D19-8FA5-44CD-AE82-CFA4FF0390CA}"/>
              </a:ext>
            </a:extLst>
          </p:cNvPr>
          <p:cNvSpPr>
            <a:spLocks xmlns:a="http://schemas.openxmlformats.org/drawingml/2006/main" noGrp="1"/>
          </p:cNvSpPr>
          <p:nvPr/>
        </p:nvSpPr>
        <p:spPr>
          <a:xfrm xmlns:a="http://schemas.openxmlformats.org/drawingml/2006/main">
            <a:off x="6381750" y="1809750"/>
            <a:ext cx="4762500" cy="3238500"/>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6210FCB-13FF-43D5-94A1-3C06E7422B84}"/>
              </a:ext>
            </a:extLst>
          </p:cNvPr>
          <p:cNvSpPr>
            <a:spLocks xmlns:a="http://schemas.openxmlformats.org/drawingml/2006/main" noGrp="1"/>
          </p:cNvSpPr>
          <p:nvPr/>
        </p:nvSpPr>
        <p:spPr>
          <a:xfrm xmlns:a="http://schemas.openxmlformats.org/drawingml/2006/main">
            <a:off x="6762750" y="21431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3D8DFF"/>
                </a:solidFill>
                <a:latin typeface="Arial"/>
                <a:ea typeface="Arial"/>
                <a:cs typeface="Arial"/>
              </a:defRPr>
            </a:pPr>
            <a:r>
              <a:rPr sz="1800" b="1">
                <a:solidFill>
                  <a:srgbClr val="3D8DFF"/>
                </a:solidFill>
                <a:latin typeface="Arial"/>
                <a:ea typeface="Arial"/>
                <a:cs typeface="Arial"/>
              </a:rPr>
              <a:t>The desired controller</a:t>
            </a:r>
          </a:p>
        </p:txBody>
      </p:sp>
      <p:sp>
        <p:nvSpPr>
          <p:cNvPr id="9" name="">
            <a:extLst xmlns:a="http://schemas.openxmlformats.org/drawingml/2006/main">
              <a:ext uri="{FF2B5EF4-FFF2-40B4-BE49-F238E27FC236}">
                <a16:creationId xmlns:a16="http://schemas.microsoft.com/office/drawing/2014/main" id="{24E57105-304D-4753-92B3-F2009893FB33}"/>
              </a:ext>
            </a:extLst>
          </p:cNvPr>
          <p:cNvSpPr>
            <a:spLocks xmlns:a="http://schemas.openxmlformats.org/drawingml/2006/main" noGrp="1"/>
          </p:cNvSpPr>
          <p:nvPr/>
        </p:nvSpPr>
        <p:spPr>
          <a:xfrm xmlns:a="http://schemas.openxmlformats.org/drawingml/2006/main">
            <a:off x="6762750" y="2895600"/>
            <a:ext cx="133350" cy="133350"/>
          </a:xfrm>
          <a:prstGeom xmlns:a="http://schemas.openxmlformats.org/drawingml/2006/main" prst="ellipse">
            <a:avLst/>
          </a:prstGeom>
          <a:solidFill xmlns:a="http://schemas.openxmlformats.org/drawingml/2006/main">
            <a:srgbClr val="6DCBF4"/>
          </a:solidFill>
          <a:ln xmlns:a="http://schemas.openxmlformats.org/drawingml/2006/main" w="9525">
            <a:solidFill>
              <a:srgbClr val="6DCBF4"/>
            </a:solidFill>
            <a:prstDash val="solid"/>
          </a:ln>
        </p:spPr>
      </p:sp>
      <p:sp>
        <p:nvSpPr>
          <p:cNvPr id="10" name="">
            <a:extLst xmlns:a="http://schemas.openxmlformats.org/drawingml/2006/main">
              <a:ext uri="{FF2B5EF4-FFF2-40B4-BE49-F238E27FC236}">
                <a16:creationId xmlns:a16="http://schemas.microsoft.com/office/drawing/2014/main" id="{129498D7-274E-4978-8985-7484C58E418F}"/>
              </a:ext>
            </a:extLst>
          </p:cNvPr>
          <p:cNvSpPr>
            <a:spLocks xmlns:a="http://schemas.openxmlformats.org/drawingml/2006/main" noGrp="1"/>
          </p:cNvSpPr>
          <p:nvPr/>
        </p:nvSpPr>
        <p:spPr>
          <a:xfrm xmlns:a="http://schemas.openxmlformats.org/drawingml/2006/main">
            <a:off x="7048500" y="28575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Controllable</a:t>
            </a:r>
          </a:p>
        </p:txBody>
      </p:sp>
      <p:sp>
        <p:nvSpPr>
          <p:cNvPr id="11" name="">
            <a:extLst xmlns:a="http://schemas.openxmlformats.org/drawingml/2006/main">
              <a:ext uri="{FF2B5EF4-FFF2-40B4-BE49-F238E27FC236}">
                <a16:creationId xmlns:a16="http://schemas.microsoft.com/office/drawing/2014/main" id="{FF3A9506-C5F8-4C4C-81CD-C7D99A63358B}"/>
              </a:ext>
            </a:extLst>
          </p:cNvPr>
          <p:cNvSpPr>
            <a:spLocks xmlns:a="http://schemas.openxmlformats.org/drawingml/2006/main" noGrp="1"/>
          </p:cNvSpPr>
          <p:nvPr/>
        </p:nvSpPr>
        <p:spPr>
          <a:xfrm xmlns:a="http://schemas.openxmlformats.org/drawingml/2006/main">
            <a:off x="7048500" y="31242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Follow forward, lateral, and turning commands</a:t>
            </a:r>
          </a:p>
        </p:txBody>
      </p:sp>
      <p:sp>
        <p:nvSpPr>
          <p:cNvPr id="12" name="">
            <a:extLst xmlns:a="http://schemas.openxmlformats.org/drawingml/2006/main">
              <a:ext uri="{FF2B5EF4-FFF2-40B4-BE49-F238E27FC236}">
                <a16:creationId xmlns:a16="http://schemas.microsoft.com/office/drawing/2014/main" id="{BF3116D2-DE54-48B0-9FB8-4F62FA4E6460}"/>
              </a:ext>
            </a:extLst>
          </p:cNvPr>
          <p:cNvSpPr>
            <a:spLocks xmlns:a="http://schemas.openxmlformats.org/drawingml/2006/main" noGrp="1"/>
          </p:cNvSpPr>
          <p:nvPr/>
        </p:nvSpPr>
        <p:spPr>
          <a:xfrm xmlns:a="http://schemas.openxmlformats.org/drawingml/2006/main">
            <a:off x="6762750" y="3657600"/>
            <a:ext cx="133350" cy="133350"/>
          </a:xfrm>
          <a:prstGeom xmlns:a="http://schemas.openxmlformats.org/drawingml/2006/main" prst="ellipse">
            <a:avLst/>
          </a:prstGeom>
          <a:solidFill xmlns:a="http://schemas.openxmlformats.org/drawingml/2006/main">
            <a:srgbClr val="6DCBF4"/>
          </a:solidFill>
          <a:ln xmlns:a="http://schemas.openxmlformats.org/drawingml/2006/main" w="9525">
            <a:solidFill>
              <a:srgbClr val="6DCBF4"/>
            </a:solidFill>
            <a:prstDash val="solid"/>
          </a:ln>
        </p:spPr>
      </p:sp>
      <p:sp>
        <p:nvSpPr>
          <p:cNvPr id="13" name="">
            <a:extLst xmlns:a="http://schemas.openxmlformats.org/drawingml/2006/main">
              <a:ext uri="{FF2B5EF4-FFF2-40B4-BE49-F238E27FC236}">
                <a16:creationId xmlns:a16="http://schemas.microsoft.com/office/drawing/2014/main" id="{78A79755-266B-450A-AC69-EB5C4E3F5DB0}"/>
              </a:ext>
            </a:extLst>
          </p:cNvPr>
          <p:cNvSpPr>
            <a:spLocks xmlns:a="http://schemas.openxmlformats.org/drawingml/2006/main" noGrp="1"/>
          </p:cNvSpPr>
          <p:nvPr/>
        </p:nvSpPr>
        <p:spPr>
          <a:xfrm xmlns:a="http://schemas.openxmlformats.org/drawingml/2006/main">
            <a:off x="7048500" y="36195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Terrain-aware</a:t>
            </a:r>
          </a:p>
        </p:txBody>
      </p:sp>
      <p:sp>
        <p:nvSpPr>
          <p:cNvPr id="14" name="">
            <a:extLst xmlns:a="http://schemas.openxmlformats.org/drawingml/2006/main">
              <a:ext uri="{FF2B5EF4-FFF2-40B4-BE49-F238E27FC236}">
                <a16:creationId xmlns:a16="http://schemas.microsoft.com/office/drawing/2014/main" id="{52711CD0-3C35-492E-B386-1497720014E1}"/>
              </a:ext>
            </a:extLst>
          </p:cNvPr>
          <p:cNvSpPr>
            <a:spLocks xmlns:a="http://schemas.openxmlformats.org/drawingml/2006/main" noGrp="1"/>
          </p:cNvSpPr>
          <p:nvPr/>
        </p:nvSpPr>
        <p:spPr>
          <a:xfrm xmlns:a="http://schemas.openxmlformats.org/drawingml/2006/main">
            <a:off x="7048500" y="38862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521"/>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Adapt gait to stairs, slopes, blocks, and rough ground</a:t>
            </a:r>
          </a:p>
        </p:txBody>
      </p:sp>
      <p:sp>
        <p:nvSpPr>
          <p:cNvPr id="15" name="">
            <a:extLst xmlns:a="http://schemas.openxmlformats.org/drawingml/2006/main">
              <a:ext uri="{FF2B5EF4-FFF2-40B4-BE49-F238E27FC236}">
                <a16:creationId xmlns:a16="http://schemas.microsoft.com/office/drawing/2014/main" id="{7AA09589-1399-49AA-972B-FD26C0777BE7}"/>
              </a:ext>
            </a:extLst>
          </p:cNvPr>
          <p:cNvSpPr>
            <a:spLocks xmlns:a="http://schemas.openxmlformats.org/drawingml/2006/main" noGrp="1"/>
          </p:cNvSpPr>
          <p:nvPr/>
        </p:nvSpPr>
        <p:spPr>
          <a:xfrm xmlns:a="http://schemas.openxmlformats.org/drawingml/2006/main">
            <a:off x="6762750" y="4419600"/>
            <a:ext cx="133350" cy="1333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6" name="">
            <a:extLst xmlns:a="http://schemas.openxmlformats.org/drawingml/2006/main">
              <a:ext uri="{FF2B5EF4-FFF2-40B4-BE49-F238E27FC236}">
                <a16:creationId xmlns:a16="http://schemas.microsoft.com/office/drawing/2014/main" id="{C7FCFCAF-3E4F-4C3F-934E-6D967D7BAB8F}"/>
              </a:ext>
            </a:extLst>
          </p:cNvPr>
          <p:cNvSpPr>
            <a:spLocks xmlns:a="http://schemas.openxmlformats.org/drawingml/2006/main" noGrp="1"/>
          </p:cNvSpPr>
          <p:nvPr/>
        </p:nvSpPr>
        <p:spPr>
          <a:xfrm xmlns:a="http://schemas.openxmlformats.org/drawingml/2006/main">
            <a:off x="7048500" y="4381500"/>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544"/>
          </a:bodyPr>
          <a:lstStyle xmlns:a="http://schemas.openxmlformats.org/drawingml/2006/main"/>
          <a:p xmlns:a="http://schemas.openxmlformats.org/drawingml/2006/main">
            <a:pPr algn="l">
              <a:buNone/>
              <a:defRPr sz="1425" b="1">
                <a:solidFill>
                  <a:srgbClr val="111318"/>
                </a:solidFill>
                <a:latin typeface="Arial"/>
                <a:ea typeface="Arial"/>
                <a:cs typeface="Arial"/>
              </a:defRPr>
            </a:pPr>
            <a:r>
              <a:rPr sz="1425" b="1">
                <a:solidFill>
                  <a:srgbClr val="111318"/>
                </a:solidFill>
                <a:latin typeface="Arial"/>
                <a:ea typeface="Arial"/>
                <a:cs typeface="Arial"/>
              </a:rPr>
              <a:t>Robust</a:t>
            </a:r>
          </a:p>
        </p:txBody>
      </p:sp>
      <p:sp>
        <p:nvSpPr>
          <p:cNvPr id="17" name="">
            <a:extLst xmlns:a="http://schemas.openxmlformats.org/drawingml/2006/main">
              <a:ext uri="{FF2B5EF4-FFF2-40B4-BE49-F238E27FC236}">
                <a16:creationId xmlns:a16="http://schemas.microsoft.com/office/drawing/2014/main" id="{2DD34563-CEE1-4E1C-96BA-6B513D5E0138}"/>
              </a:ext>
            </a:extLst>
          </p:cNvPr>
          <p:cNvSpPr>
            <a:spLocks xmlns:a="http://schemas.openxmlformats.org/drawingml/2006/main" noGrp="1"/>
          </p:cNvSpPr>
          <p:nvPr/>
        </p:nvSpPr>
        <p:spPr>
          <a:xfrm xmlns:a="http://schemas.openxmlformats.org/drawingml/2006/main">
            <a:off x="7048500" y="46482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773"/>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Remain stable when physics and disturbances change</a:t>
            </a:r>
          </a:p>
        </p:txBody>
      </p:sp>
    </p:spTree>
    <p:extLst>
      <p:ext uri="{BB962C8B-B14F-4D97-AF65-F5344CB8AC3E}">
        <p14:creationId xmlns:p14="http://schemas.microsoft.com/office/powerpoint/2010/main" val="11910357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ABB1F96-B7EF-4DC5-9F01-67E6B1671F22}"/>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2 · PROGRESSIVE TRAINING</a:t>
            </a:r>
          </a:p>
        </p:txBody>
      </p:sp>
      <p:sp>
        <p:nvSpPr>
          <p:cNvPr id="2" name="">
            <a:extLst xmlns:a="http://schemas.openxmlformats.org/drawingml/2006/main">
              <a:ext uri="{FF2B5EF4-FFF2-40B4-BE49-F238E27FC236}">
                <a16:creationId xmlns:a16="http://schemas.microsoft.com/office/drawing/2014/main" id="{D32DD942-0511-42B1-A2DE-461F50B004A2}"/>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I trained one capability at a time, then combined them on rough terrain</a:t>
            </a:r>
          </a:p>
        </p:txBody>
      </p:sp>
      <p:sp>
        <p:nvSpPr>
          <p:cNvPr id="3" name="">
            <a:extLst xmlns:a="http://schemas.openxmlformats.org/drawingml/2006/main">
              <a:ext uri="{FF2B5EF4-FFF2-40B4-BE49-F238E27FC236}">
                <a16:creationId xmlns:a16="http://schemas.microsoft.com/office/drawing/2014/main" id="{2223C194-D7F1-416F-831F-494BD240A07F}"/>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7A21D4D2-FFB4-4DA0-8C5F-C8BD8721FE74}"/>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52C5D89-AB4D-4BE0-8D49-2F91C95A54EC}"/>
              </a:ext>
            </a:extLst>
          </p:cNvPr>
          <p:cNvSpPr>
            <a:spLocks xmlns:a="http://schemas.openxmlformats.org/drawingml/2006/main" noGrp="1"/>
          </p:cNvSpPr>
          <p:nvPr/>
        </p:nvSpPr>
        <p:spPr>
          <a:xfrm xmlns:a="http://schemas.openxmlformats.org/drawingml/2006/main">
            <a:off x="1000125" y="3324225"/>
            <a:ext cx="10096500" cy="19050"/>
          </a:xfrm>
          <a:prstGeom xmlns:a="http://schemas.openxmlformats.org/drawingml/2006/main" prst="rect">
            <a:avLst/>
          </a:prstGeom>
          <a:solidFill xmlns:a="http://schemas.openxmlformats.org/drawingml/2006/main">
            <a:srgbClr val="111318"/>
          </a:solidFill>
          <a:ln xmlns:a="http://schemas.openxmlformats.org/drawingml/2006/main" w="0">
            <a:solidFill>
              <a:srgbClr val="111318"/>
            </a:solidFill>
            <a:prstDash val="solid"/>
          </a:ln>
        </p:spPr>
      </p:sp>
      <p:sp>
        <p:nvSpPr>
          <p:cNvPr id="6" name="">
            <a:extLst xmlns:a="http://schemas.openxmlformats.org/drawingml/2006/main">
              <a:ext uri="{FF2B5EF4-FFF2-40B4-BE49-F238E27FC236}">
                <a16:creationId xmlns:a16="http://schemas.microsoft.com/office/drawing/2014/main" id="{FACEEE8F-E435-40E0-B04C-30620634967E}"/>
              </a:ext>
            </a:extLst>
          </p:cNvPr>
          <p:cNvSpPr>
            <a:spLocks xmlns:a="http://schemas.openxmlformats.org/drawingml/2006/main" noGrp="1"/>
          </p:cNvSpPr>
          <p:nvPr/>
        </p:nvSpPr>
        <p:spPr>
          <a:xfrm xmlns:a="http://schemas.openxmlformats.org/drawingml/2006/main">
            <a:off x="857250" y="3124200"/>
            <a:ext cx="323850" cy="3238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7" name="">
            <a:extLst xmlns:a="http://schemas.openxmlformats.org/drawingml/2006/main">
              <a:ext uri="{FF2B5EF4-FFF2-40B4-BE49-F238E27FC236}">
                <a16:creationId xmlns:a16="http://schemas.microsoft.com/office/drawing/2014/main" id="{59133219-6874-4854-89D6-30E90CDC3F87}"/>
              </a:ext>
            </a:extLst>
          </p:cNvPr>
          <p:cNvSpPr>
            <a:spLocks xmlns:a="http://schemas.openxmlformats.org/drawingml/2006/main" noGrp="1"/>
          </p:cNvSpPr>
          <p:nvPr/>
        </p:nvSpPr>
        <p:spPr>
          <a:xfrm xmlns:a="http://schemas.openxmlformats.org/drawingml/2006/main">
            <a:off x="85725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C4472BF-00A1-411E-9D5C-031A9278395E}"/>
              </a:ext>
            </a:extLst>
          </p:cNvPr>
          <p:cNvSpPr>
            <a:spLocks xmlns:a="http://schemas.openxmlformats.org/drawingml/2006/main" noGrp="1"/>
          </p:cNvSpPr>
          <p:nvPr/>
        </p:nvSpPr>
        <p:spPr>
          <a:xfrm xmlns:a="http://schemas.openxmlformats.org/drawingml/2006/main">
            <a:off x="28575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Stand</a:t>
            </a:r>
          </a:p>
        </p:txBody>
      </p:sp>
      <p:sp>
        <p:nvSpPr>
          <p:cNvPr id="9" name="">
            <a:extLst xmlns:a="http://schemas.openxmlformats.org/drawingml/2006/main">
              <a:ext uri="{FF2B5EF4-FFF2-40B4-BE49-F238E27FC236}">
                <a16:creationId xmlns:a16="http://schemas.microsoft.com/office/drawing/2014/main" id="{C48C17C9-12F7-4BE9-ACC2-4D230B12BC1F}"/>
              </a:ext>
            </a:extLst>
          </p:cNvPr>
          <p:cNvSpPr>
            <a:spLocks xmlns:a="http://schemas.openxmlformats.org/drawingml/2006/main" noGrp="1"/>
          </p:cNvSpPr>
          <p:nvPr/>
        </p:nvSpPr>
        <p:spPr>
          <a:xfrm xmlns:a="http://schemas.openxmlformats.org/drawingml/2006/main">
            <a:off x="28575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Balance</a:t>
            </a:r>
          </a:p>
        </p:txBody>
      </p:sp>
      <p:sp>
        <p:nvSpPr>
          <p:cNvPr id="10" name="">
            <a:extLst xmlns:a="http://schemas.openxmlformats.org/drawingml/2006/main">
              <a:ext uri="{FF2B5EF4-FFF2-40B4-BE49-F238E27FC236}">
                <a16:creationId xmlns:a16="http://schemas.microsoft.com/office/drawing/2014/main" id="{619823BD-1229-451A-B87A-EE2CEC64222F}"/>
              </a:ext>
            </a:extLst>
          </p:cNvPr>
          <p:cNvSpPr>
            <a:spLocks xmlns:a="http://schemas.openxmlformats.org/drawingml/2006/main" noGrp="1"/>
          </p:cNvSpPr>
          <p:nvPr/>
        </p:nvSpPr>
        <p:spPr>
          <a:xfrm xmlns:a="http://schemas.openxmlformats.org/drawingml/2006/main">
            <a:off x="2857500" y="3124200"/>
            <a:ext cx="323850" cy="3238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11" name="">
            <a:extLst xmlns:a="http://schemas.openxmlformats.org/drawingml/2006/main">
              <a:ext uri="{FF2B5EF4-FFF2-40B4-BE49-F238E27FC236}">
                <a16:creationId xmlns:a16="http://schemas.microsoft.com/office/drawing/2014/main" id="{20A787BF-88FE-4234-8A30-FDEABCA1E6CD}"/>
              </a:ext>
            </a:extLst>
          </p:cNvPr>
          <p:cNvSpPr>
            <a:spLocks xmlns:a="http://schemas.openxmlformats.org/drawingml/2006/main" noGrp="1"/>
          </p:cNvSpPr>
          <p:nvPr/>
        </p:nvSpPr>
        <p:spPr>
          <a:xfrm xmlns:a="http://schemas.openxmlformats.org/drawingml/2006/main">
            <a:off x="285750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A25DC914-B586-4506-8EB0-0123DD089D44}"/>
              </a:ext>
            </a:extLst>
          </p:cNvPr>
          <p:cNvSpPr>
            <a:spLocks xmlns:a="http://schemas.openxmlformats.org/drawingml/2006/main" noGrp="1"/>
          </p:cNvSpPr>
          <p:nvPr/>
        </p:nvSpPr>
        <p:spPr>
          <a:xfrm xmlns:a="http://schemas.openxmlformats.org/drawingml/2006/main">
            <a:off x="228600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Recover</a:t>
            </a:r>
          </a:p>
        </p:txBody>
      </p:sp>
      <p:sp>
        <p:nvSpPr>
          <p:cNvPr id="13" name="">
            <a:extLst xmlns:a="http://schemas.openxmlformats.org/drawingml/2006/main">
              <a:ext uri="{FF2B5EF4-FFF2-40B4-BE49-F238E27FC236}">
                <a16:creationId xmlns:a16="http://schemas.microsoft.com/office/drawing/2014/main" id="{4A300986-1007-4E15-B2FD-07829EFC53B5}"/>
              </a:ext>
            </a:extLst>
          </p:cNvPr>
          <p:cNvSpPr>
            <a:spLocks xmlns:a="http://schemas.openxmlformats.org/drawingml/2006/main" noGrp="1"/>
          </p:cNvSpPr>
          <p:nvPr/>
        </p:nvSpPr>
        <p:spPr>
          <a:xfrm xmlns:a="http://schemas.openxmlformats.org/drawingml/2006/main">
            <a:off x="228600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Random starts</a:t>
            </a:r>
          </a:p>
        </p:txBody>
      </p:sp>
      <p:sp>
        <p:nvSpPr>
          <p:cNvPr id="14" name="">
            <a:extLst xmlns:a="http://schemas.openxmlformats.org/drawingml/2006/main">
              <a:ext uri="{FF2B5EF4-FFF2-40B4-BE49-F238E27FC236}">
                <a16:creationId xmlns:a16="http://schemas.microsoft.com/office/drawing/2014/main" id="{2F526C5D-4C59-426C-A7E8-CCEFDBF5394F}"/>
              </a:ext>
            </a:extLst>
          </p:cNvPr>
          <p:cNvSpPr>
            <a:spLocks xmlns:a="http://schemas.openxmlformats.org/drawingml/2006/main" noGrp="1"/>
          </p:cNvSpPr>
          <p:nvPr/>
        </p:nvSpPr>
        <p:spPr>
          <a:xfrm xmlns:a="http://schemas.openxmlformats.org/drawingml/2006/main">
            <a:off x="4857750" y="3124200"/>
            <a:ext cx="323850" cy="3238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15" name="">
            <a:extLst xmlns:a="http://schemas.openxmlformats.org/drawingml/2006/main">
              <a:ext uri="{FF2B5EF4-FFF2-40B4-BE49-F238E27FC236}">
                <a16:creationId xmlns:a16="http://schemas.microsoft.com/office/drawing/2014/main" id="{93A538B0-ED9F-456F-BC57-7C8E5FCBE4C5}"/>
              </a:ext>
            </a:extLst>
          </p:cNvPr>
          <p:cNvSpPr>
            <a:spLocks xmlns:a="http://schemas.openxmlformats.org/drawingml/2006/main" noGrp="1"/>
          </p:cNvSpPr>
          <p:nvPr/>
        </p:nvSpPr>
        <p:spPr>
          <a:xfrm xmlns:a="http://schemas.openxmlformats.org/drawingml/2006/main">
            <a:off x="485775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B80420F2-B802-4C4A-9DFB-AEF072A46848}"/>
              </a:ext>
            </a:extLst>
          </p:cNvPr>
          <p:cNvSpPr>
            <a:spLocks xmlns:a="http://schemas.openxmlformats.org/drawingml/2006/main" noGrp="1"/>
          </p:cNvSpPr>
          <p:nvPr/>
        </p:nvSpPr>
        <p:spPr>
          <a:xfrm xmlns:a="http://schemas.openxmlformats.org/drawingml/2006/main">
            <a:off x="428625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Resist</a:t>
            </a:r>
          </a:p>
        </p:txBody>
      </p:sp>
      <p:sp>
        <p:nvSpPr>
          <p:cNvPr id="17" name="">
            <a:extLst xmlns:a="http://schemas.openxmlformats.org/drawingml/2006/main">
              <a:ext uri="{FF2B5EF4-FFF2-40B4-BE49-F238E27FC236}">
                <a16:creationId xmlns:a16="http://schemas.microsoft.com/office/drawing/2014/main" id="{4E444DC2-7F87-4A90-9926-81E805FC17D7}"/>
              </a:ext>
            </a:extLst>
          </p:cNvPr>
          <p:cNvSpPr>
            <a:spLocks xmlns:a="http://schemas.openxmlformats.org/drawingml/2006/main" noGrp="1"/>
          </p:cNvSpPr>
          <p:nvPr/>
        </p:nvSpPr>
        <p:spPr>
          <a:xfrm xmlns:a="http://schemas.openxmlformats.org/drawingml/2006/main">
            <a:off x="428625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Pushes</a:t>
            </a:r>
          </a:p>
        </p:txBody>
      </p:sp>
      <p:sp>
        <p:nvSpPr>
          <p:cNvPr id="18" name="">
            <a:extLst xmlns:a="http://schemas.openxmlformats.org/drawingml/2006/main">
              <a:ext uri="{FF2B5EF4-FFF2-40B4-BE49-F238E27FC236}">
                <a16:creationId xmlns:a16="http://schemas.microsoft.com/office/drawing/2014/main" id="{AA6CBC25-5491-493A-AF60-154C545A28BC}"/>
              </a:ext>
            </a:extLst>
          </p:cNvPr>
          <p:cNvSpPr>
            <a:spLocks xmlns:a="http://schemas.openxmlformats.org/drawingml/2006/main" noGrp="1"/>
          </p:cNvSpPr>
          <p:nvPr/>
        </p:nvSpPr>
        <p:spPr>
          <a:xfrm xmlns:a="http://schemas.openxmlformats.org/drawingml/2006/main">
            <a:off x="6858000" y="3124200"/>
            <a:ext cx="323850" cy="3238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19" name="">
            <a:extLst xmlns:a="http://schemas.openxmlformats.org/drawingml/2006/main">
              <a:ext uri="{FF2B5EF4-FFF2-40B4-BE49-F238E27FC236}">
                <a16:creationId xmlns:a16="http://schemas.microsoft.com/office/drawing/2014/main" id="{5B90CBD3-1C04-438D-BA0E-126E4B17D963}"/>
              </a:ext>
            </a:extLst>
          </p:cNvPr>
          <p:cNvSpPr>
            <a:spLocks xmlns:a="http://schemas.openxmlformats.org/drawingml/2006/main" noGrp="1"/>
          </p:cNvSpPr>
          <p:nvPr/>
        </p:nvSpPr>
        <p:spPr>
          <a:xfrm xmlns:a="http://schemas.openxmlformats.org/drawingml/2006/main">
            <a:off x="685800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42FA728A-0F49-4075-A615-1B2E45E30CD7}"/>
              </a:ext>
            </a:extLst>
          </p:cNvPr>
          <p:cNvSpPr>
            <a:spLocks xmlns:a="http://schemas.openxmlformats.org/drawingml/2006/main" noGrp="1"/>
          </p:cNvSpPr>
          <p:nvPr/>
        </p:nvSpPr>
        <p:spPr>
          <a:xfrm xmlns:a="http://schemas.openxmlformats.org/drawingml/2006/main">
            <a:off x="628650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Track</a:t>
            </a:r>
          </a:p>
        </p:txBody>
      </p:sp>
      <p:sp>
        <p:nvSpPr>
          <p:cNvPr id="21" name="">
            <a:extLst xmlns:a="http://schemas.openxmlformats.org/drawingml/2006/main">
              <a:ext uri="{FF2B5EF4-FFF2-40B4-BE49-F238E27FC236}">
                <a16:creationId xmlns:a16="http://schemas.microsoft.com/office/drawing/2014/main" id="{0A6DD1B9-20AD-403B-9415-EE4C0978E299}"/>
              </a:ext>
            </a:extLst>
          </p:cNvPr>
          <p:cNvSpPr>
            <a:spLocks xmlns:a="http://schemas.openxmlformats.org/drawingml/2006/main" noGrp="1"/>
          </p:cNvSpPr>
          <p:nvPr/>
        </p:nvSpPr>
        <p:spPr>
          <a:xfrm xmlns:a="http://schemas.openxmlformats.org/drawingml/2006/main">
            <a:off x="628650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Velocity</a:t>
            </a:r>
          </a:p>
        </p:txBody>
      </p:sp>
      <p:sp>
        <p:nvSpPr>
          <p:cNvPr id="22" name="">
            <a:extLst xmlns:a="http://schemas.openxmlformats.org/drawingml/2006/main">
              <a:ext uri="{FF2B5EF4-FFF2-40B4-BE49-F238E27FC236}">
                <a16:creationId xmlns:a16="http://schemas.microsoft.com/office/drawing/2014/main" id="{CB921F8B-02ED-4CB8-8E91-3B13910C5994}"/>
              </a:ext>
            </a:extLst>
          </p:cNvPr>
          <p:cNvSpPr>
            <a:spLocks xmlns:a="http://schemas.openxmlformats.org/drawingml/2006/main" noGrp="1"/>
          </p:cNvSpPr>
          <p:nvPr/>
        </p:nvSpPr>
        <p:spPr>
          <a:xfrm xmlns:a="http://schemas.openxmlformats.org/drawingml/2006/main">
            <a:off x="8858250" y="3124200"/>
            <a:ext cx="323850" cy="323850"/>
          </a:xfrm>
          <a:prstGeom xmlns:a="http://schemas.openxmlformats.org/drawingml/2006/main" prst="ellipse">
            <a:avLst/>
          </a:prstGeom>
          <a:solidFill xmlns:a="http://schemas.openxmlformats.org/drawingml/2006/main">
            <a:srgbClr val="111318"/>
          </a:solidFill>
          <a:ln xmlns:a="http://schemas.openxmlformats.org/drawingml/2006/main" w="9525">
            <a:solidFill>
              <a:srgbClr val="111318"/>
            </a:solidFill>
            <a:prstDash val="solid"/>
          </a:ln>
        </p:spPr>
      </p:sp>
      <p:sp>
        <p:nvSpPr>
          <p:cNvPr id="23" name="">
            <a:extLst xmlns:a="http://schemas.openxmlformats.org/drawingml/2006/main">
              <a:ext uri="{FF2B5EF4-FFF2-40B4-BE49-F238E27FC236}">
                <a16:creationId xmlns:a16="http://schemas.microsoft.com/office/drawing/2014/main" id="{A50CEC6B-D9E4-4F83-A6E5-717F4DBCAD97}"/>
              </a:ext>
            </a:extLst>
          </p:cNvPr>
          <p:cNvSpPr>
            <a:spLocks xmlns:a="http://schemas.openxmlformats.org/drawingml/2006/main" noGrp="1"/>
          </p:cNvSpPr>
          <p:nvPr/>
        </p:nvSpPr>
        <p:spPr>
          <a:xfrm xmlns:a="http://schemas.openxmlformats.org/drawingml/2006/main">
            <a:off x="885825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5</a:t>
            </a:r>
          </a:p>
        </p:txBody>
      </p:sp>
      <p:sp>
        <p:nvSpPr>
          <p:cNvPr id="24" name="">
            <a:extLst xmlns:a="http://schemas.openxmlformats.org/drawingml/2006/main">
              <a:ext uri="{FF2B5EF4-FFF2-40B4-BE49-F238E27FC236}">
                <a16:creationId xmlns:a16="http://schemas.microsoft.com/office/drawing/2014/main" id="{EC9EDF6A-8E49-43DB-904B-9245A655BD71}"/>
              </a:ext>
            </a:extLst>
          </p:cNvPr>
          <p:cNvSpPr>
            <a:spLocks xmlns:a="http://schemas.openxmlformats.org/drawingml/2006/main" noGrp="1"/>
          </p:cNvSpPr>
          <p:nvPr/>
        </p:nvSpPr>
        <p:spPr>
          <a:xfrm xmlns:a="http://schemas.openxmlformats.org/drawingml/2006/main">
            <a:off x="828675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Turn</a:t>
            </a:r>
          </a:p>
        </p:txBody>
      </p:sp>
      <p:sp>
        <p:nvSpPr>
          <p:cNvPr id="25" name="">
            <a:extLst xmlns:a="http://schemas.openxmlformats.org/drawingml/2006/main">
              <a:ext uri="{FF2B5EF4-FFF2-40B4-BE49-F238E27FC236}">
                <a16:creationId xmlns:a16="http://schemas.microsoft.com/office/drawing/2014/main" id="{3246289B-AF95-4806-8B00-8053C40A3131}"/>
              </a:ext>
            </a:extLst>
          </p:cNvPr>
          <p:cNvSpPr>
            <a:spLocks xmlns:a="http://schemas.openxmlformats.org/drawingml/2006/main" noGrp="1"/>
          </p:cNvSpPr>
          <p:nvPr/>
        </p:nvSpPr>
        <p:spPr>
          <a:xfrm xmlns:a="http://schemas.openxmlformats.org/drawingml/2006/main">
            <a:off x="828675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Yaw</a:t>
            </a:r>
          </a:p>
        </p:txBody>
      </p:sp>
      <p:sp>
        <p:nvSpPr>
          <p:cNvPr id="26" name="">
            <a:extLst xmlns:a="http://schemas.openxmlformats.org/drawingml/2006/main">
              <a:ext uri="{FF2B5EF4-FFF2-40B4-BE49-F238E27FC236}">
                <a16:creationId xmlns:a16="http://schemas.microsoft.com/office/drawing/2014/main" id="{81493E88-8590-4891-BC61-0DF18A652F56}"/>
              </a:ext>
            </a:extLst>
          </p:cNvPr>
          <p:cNvSpPr>
            <a:spLocks xmlns:a="http://schemas.openxmlformats.org/drawingml/2006/main" noGrp="1"/>
          </p:cNvSpPr>
          <p:nvPr/>
        </p:nvSpPr>
        <p:spPr>
          <a:xfrm xmlns:a="http://schemas.openxmlformats.org/drawingml/2006/main">
            <a:off x="10858500" y="3124200"/>
            <a:ext cx="323850" cy="3238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7" name="">
            <a:extLst xmlns:a="http://schemas.openxmlformats.org/drawingml/2006/main">
              <a:ext uri="{FF2B5EF4-FFF2-40B4-BE49-F238E27FC236}">
                <a16:creationId xmlns:a16="http://schemas.microsoft.com/office/drawing/2014/main" id="{BB81FF34-05DD-4AA0-8E1B-402181DAC407}"/>
              </a:ext>
            </a:extLst>
          </p:cNvPr>
          <p:cNvSpPr>
            <a:spLocks xmlns:a="http://schemas.openxmlformats.org/drawingml/2006/main" noGrp="1"/>
          </p:cNvSpPr>
          <p:nvPr/>
        </p:nvSpPr>
        <p:spPr>
          <a:xfrm xmlns:a="http://schemas.openxmlformats.org/drawingml/2006/main">
            <a:off x="10858500" y="3209925"/>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6</a:t>
            </a:r>
          </a:p>
        </p:txBody>
      </p:sp>
      <p:sp>
        <p:nvSpPr>
          <p:cNvPr id="28" name="">
            <a:extLst xmlns:a="http://schemas.openxmlformats.org/drawingml/2006/main">
              <a:ext uri="{FF2B5EF4-FFF2-40B4-BE49-F238E27FC236}">
                <a16:creationId xmlns:a16="http://schemas.microsoft.com/office/drawing/2014/main" id="{34F6B70A-B238-41DE-B813-879AE59351E2}"/>
              </a:ext>
            </a:extLst>
          </p:cNvPr>
          <p:cNvSpPr>
            <a:spLocks xmlns:a="http://schemas.openxmlformats.org/drawingml/2006/main" noGrp="1"/>
          </p:cNvSpPr>
          <p:nvPr/>
        </p:nvSpPr>
        <p:spPr>
          <a:xfrm xmlns:a="http://schemas.openxmlformats.org/drawingml/2006/main">
            <a:off x="10287000" y="2333625"/>
            <a:ext cx="147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p xmlns:a="http://schemas.openxmlformats.org/drawingml/2006/main">
            <a:pPr algn="ctr">
              <a:buNone/>
              <a:defRPr sz="1500" b="1">
                <a:solidFill>
                  <a:srgbClr val="111318"/>
                </a:solidFill>
                <a:latin typeface="Arial"/>
                <a:ea typeface="Arial"/>
                <a:cs typeface="Arial"/>
              </a:defRPr>
            </a:pPr>
            <a:r>
              <a:rPr sz="1500" b="1">
                <a:solidFill>
                  <a:srgbClr val="111318"/>
                </a:solidFill>
                <a:latin typeface="Arial"/>
                <a:ea typeface="Arial"/>
                <a:cs typeface="Arial"/>
              </a:rPr>
              <a:t>Traverse</a:t>
            </a:r>
          </a:p>
        </p:txBody>
      </p:sp>
      <p:sp>
        <p:nvSpPr>
          <p:cNvPr id="29" name="">
            <a:extLst xmlns:a="http://schemas.openxmlformats.org/drawingml/2006/main">
              <a:ext uri="{FF2B5EF4-FFF2-40B4-BE49-F238E27FC236}">
                <a16:creationId xmlns:a16="http://schemas.microsoft.com/office/drawing/2014/main" id="{2532A625-1A6E-40AE-B3C6-E2941AF8832D}"/>
              </a:ext>
            </a:extLst>
          </p:cNvPr>
          <p:cNvSpPr>
            <a:spLocks xmlns:a="http://schemas.openxmlformats.org/drawingml/2006/main" noGrp="1"/>
          </p:cNvSpPr>
          <p:nvPr/>
        </p:nvSpPr>
        <p:spPr>
          <a:xfrm xmlns:a="http://schemas.openxmlformats.org/drawingml/2006/main">
            <a:off x="10287000" y="2714625"/>
            <a:ext cx="1476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ctr">
              <a:buNone/>
              <a:defRPr sz="1200" b="0">
                <a:solidFill>
                  <a:srgbClr val="5F6672"/>
                </a:solidFill>
                <a:latin typeface="Arial"/>
                <a:ea typeface="Arial"/>
                <a:cs typeface="Arial"/>
              </a:defRPr>
            </a:pPr>
            <a:r>
              <a:rPr sz="1200" b="0">
                <a:solidFill>
                  <a:srgbClr val="5F6672"/>
                </a:solidFill>
                <a:latin typeface="Arial"/>
                <a:ea typeface="Arial"/>
                <a:cs typeface="Arial"/>
              </a:rPr>
              <a:t>Rough + DR</a:t>
            </a:r>
          </a:p>
        </p:txBody>
      </p:sp>
      <p:sp>
        <p:nvSpPr>
          <p:cNvPr id="30" name="">
            <a:extLst xmlns:a="http://schemas.openxmlformats.org/drawingml/2006/main">
              <a:ext uri="{FF2B5EF4-FFF2-40B4-BE49-F238E27FC236}">
                <a16:creationId xmlns:a16="http://schemas.microsoft.com/office/drawing/2014/main" id="{D1D4739B-34F7-489A-A47B-8B9B40A06C5A}"/>
              </a:ext>
            </a:extLst>
          </p:cNvPr>
          <p:cNvSpPr>
            <a:spLocks xmlns:a="http://schemas.openxmlformats.org/drawingml/2006/main" noGrp="1"/>
          </p:cNvSpPr>
          <p:nvPr/>
        </p:nvSpPr>
        <p:spPr>
          <a:xfrm xmlns:a="http://schemas.openxmlformats.org/drawingml/2006/main">
            <a:off x="666750" y="4762500"/>
            <a:ext cx="10858500" cy="8572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20D8081-D6A4-437E-8EAB-ADE47CFDA90E}"/>
              </a:ext>
            </a:extLst>
          </p:cNvPr>
          <p:cNvSpPr>
            <a:spLocks xmlns:a="http://schemas.openxmlformats.org/drawingml/2006/main" noGrp="1"/>
          </p:cNvSpPr>
          <p:nvPr/>
        </p:nvSpPr>
        <p:spPr>
          <a:xfrm xmlns:a="http://schemas.openxmlformats.org/drawingml/2006/main">
            <a:off x="1000125" y="5019675"/>
            <a:ext cx="1019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98"/>
          </a:bodyPr>
          <a:lstStyle xmlns:a="http://schemas.openxmlformats.org/drawingml/2006/main"/>
          <a:p xmlns:a="http://schemas.openxmlformats.org/drawingml/2006/main">
            <a:pPr algn="ctr">
              <a:buNone/>
              <a:defRPr sz="1650" b="1">
                <a:solidFill>
                  <a:srgbClr val="111318"/>
                </a:solidFill>
                <a:latin typeface="Arial"/>
                <a:ea typeface="Arial"/>
                <a:cs typeface="Arial"/>
              </a:defRPr>
            </a:pPr>
            <a:r>
              <a:rPr sz="1650" b="1">
                <a:solidFill>
                  <a:srgbClr val="111318"/>
                </a:solidFill>
                <a:latin typeface="Arial"/>
                <a:ea typeface="Arial"/>
                <a:cs typeface="Arial"/>
              </a:rPr>
              <a:t>Each stage exposed a different failure mode, so the next reward, curriculum, or observation change was driven by evidence.</a:t>
            </a:r>
          </a:p>
        </p:txBody>
      </p:sp>
    </p:spTree>
    <p:extLst>
      <p:ext uri="{BB962C8B-B14F-4D97-AF65-F5344CB8AC3E}">
        <p14:creationId xmlns:p14="http://schemas.microsoft.com/office/powerpoint/2010/main" val="14742152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34CB5D0-DA94-4E21-9BA7-5066E165394A}"/>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2 · WHAT SHIPPED</a:t>
            </a:r>
          </a:p>
        </p:txBody>
      </p:sp>
      <p:sp>
        <p:nvSpPr>
          <p:cNvPr id="2" name="">
            <a:extLst xmlns:a="http://schemas.openxmlformats.org/drawingml/2006/main">
              <a:ext uri="{FF2B5EF4-FFF2-40B4-BE49-F238E27FC236}">
                <a16:creationId xmlns:a16="http://schemas.microsoft.com/office/drawing/2014/main" id="{AF387CAE-293B-4913-83B7-4A8C78140E42}"/>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The result was a controllable experimentation system—not only a checkpoint</a:t>
            </a:r>
          </a:p>
        </p:txBody>
      </p:sp>
      <p:sp>
        <p:nvSpPr>
          <p:cNvPr id="3" name="">
            <a:extLst xmlns:a="http://schemas.openxmlformats.org/drawingml/2006/main">
              <a:ext uri="{FF2B5EF4-FFF2-40B4-BE49-F238E27FC236}">
                <a16:creationId xmlns:a16="http://schemas.microsoft.com/office/drawing/2014/main" id="{75C1F3F9-B262-4879-B032-8163E98A92A4}"/>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927EBC64-464D-4080-8760-399AF6E44964}"/>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5A1E5C2E-9401-43DC-9D79-88F74BC9012F}"/>
              </a:ext>
            </a:extLst>
          </p:cNvPr>
          <p:cNvSpPr>
            <a:spLocks xmlns:a="http://schemas.openxmlformats.org/drawingml/2006/main" noGrp="1"/>
          </p:cNvSpPr>
          <p:nvPr/>
        </p:nvSpPr>
        <p:spPr>
          <a:xfrm xmlns:a="http://schemas.openxmlformats.org/drawingml/2006/main">
            <a:off x="523875" y="1809750"/>
            <a:ext cx="3333750" cy="1190625"/>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30E37BC-0CE6-41CF-A2E0-2F9D3365DE47}"/>
              </a:ext>
            </a:extLst>
          </p:cNvPr>
          <p:cNvSpPr>
            <a:spLocks xmlns:a="http://schemas.openxmlformats.org/drawingml/2006/main" noGrp="1"/>
          </p:cNvSpPr>
          <p:nvPr/>
        </p:nvSpPr>
        <p:spPr>
          <a:xfrm xmlns:a="http://schemas.openxmlformats.org/drawingml/2006/main">
            <a:off x="809625" y="20764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429"/>
          </a:bodyPr>
          <a:lstStyle xmlns:a="http://schemas.openxmlformats.org/drawingml/2006/main"/>
          <a:p xmlns:a="http://schemas.openxmlformats.org/drawingml/2006/main">
            <a:pPr algn="l">
              <a:buNone/>
              <a:defRPr sz="2625" b="1">
                <a:solidFill>
                  <a:srgbClr val="111318"/>
                </a:solidFill>
                <a:latin typeface="Arial"/>
                <a:ea typeface="Arial"/>
                <a:cs typeface="Arial"/>
              </a:defRPr>
            </a:pPr>
            <a:r>
              <a:rPr sz="2625" b="1">
                <a:solidFill>
                  <a:srgbClr val="111318"/>
                </a:solidFill>
                <a:latin typeface="Arial"/>
                <a:ea typeface="Arial"/>
                <a:cs typeface="Arial"/>
              </a:rPr>
              <a:t>4,096</a:t>
            </a:r>
          </a:p>
        </p:txBody>
      </p:sp>
      <p:sp>
        <p:nvSpPr>
          <p:cNvPr id="7" name="">
            <a:extLst xmlns:a="http://schemas.openxmlformats.org/drawingml/2006/main">
              <a:ext uri="{FF2B5EF4-FFF2-40B4-BE49-F238E27FC236}">
                <a16:creationId xmlns:a16="http://schemas.microsoft.com/office/drawing/2014/main" id="{E1E4EC72-9240-49B7-A473-C824B9541714}"/>
              </a:ext>
            </a:extLst>
          </p:cNvPr>
          <p:cNvSpPr>
            <a:spLocks xmlns:a="http://schemas.openxmlformats.org/drawingml/2006/main" noGrp="1"/>
          </p:cNvSpPr>
          <p:nvPr/>
        </p:nvSpPr>
        <p:spPr>
          <a:xfrm xmlns:a="http://schemas.openxmlformats.org/drawingml/2006/main">
            <a:off x="809625" y="25908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parallel training environments</a:t>
            </a:r>
          </a:p>
        </p:txBody>
      </p:sp>
      <p:sp>
        <p:nvSpPr>
          <p:cNvPr id="8" name="">
            <a:extLst xmlns:a="http://schemas.openxmlformats.org/drawingml/2006/main">
              <a:ext uri="{FF2B5EF4-FFF2-40B4-BE49-F238E27FC236}">
                <a16:creationId xmlns:a16="http://schemas.microsoft.com/office/drawing/2014/main" id="{AE4DB1AD-353D-463A-95CC-DEE2810B14F7}"/>
              </a:ext>
            </a:extLst>
          </p:cNvPr>
          <p:cNvSpPr>
            <a:spLocks xmlns:a="http://schemas.openxmlformats.org/drawingml/2006/main" noGrp="1"/>
          </p:cNvSpPr>
          <p:nvPr/>
        </p:nvSpPr>
        <p:spPr>
          <a:xfrm xmlns:a="http://schemas.openxmlformats.org/drawingml/2006/main">
            <a:off x="4429125" y="1809750"/>
            <a:ext cx="3333750" cy="11906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534C279-8370-489B-A5EC-C5976E3C6927}"/>
              </a:ext>
            </a:extLst>
          </p:cNvPr>
          <p:cNvSpPr>
            <a:spLocks xmlns:a="http://schemas.openxmlformats.org/drawingml/2006/main" noGrp="1"/>
          </p:cNvSpPr>
          <p:nvPr/>
        </p:nvSpPr>
        <p:spPr>
          <a:xfrm xmlns:a="http://schemas.openxmlformats.org/drawingml/2006/main">
            <a:off x="4714875" y="20764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429"/>
          </a:bodyPr>
          <a:lstStyle xmlns:a="http://schemas.openxmlformats.org/drawingml/2006/main"/>
          <a:p xmlns:a="http://schemas.openxmlformats.org/drawingml/2006/main">
            <a:pPr algn="l">
              <a:buNone/>
              <a:defRPr sz="2625" b="1">
                <a:solidFill>
                  <a:srgbClr val="3D8DFF"/>
                </a:solidFill>
                <a:latin typeface="Arial"/>
                <a:ea typeface="Arial"/>
                <a:cs typeface="Arial"/>
              </a:defRPr>
            </a:pPr>
            <a:r>
              <a:rPr sz="2625" b="1">
                <a:solidFill>
                  <a:srgbClr val="3D8DFF"/>
                </a:solidFill>
                <a:latin typeface="Arial"/>
                <a:ea typeface="Arial"/>
                <a:cs typeface="Arial"/>
              </a:rPr>
              <a:t>50 Hz</a:t>
            </a:r>
          </a:p>
        </p:txBody>
      </p:sp>
      <p:sp>
        <p:nvSpPr>
          <p:cNvPr id="10" name="">
            <a:extLst xmlns:a="http://schemas.openxmlformats.org/drawingml/2006/main">
              <a:ext uri="{FF2B5EF4-FFF2-40B4-BE49-F238E27FC236}">
                <a16:creationId xmlns:a16="http://schemas.microsoft.com/office/drawing/2014/main" id="{7EB4932B-C8B2-4A31-B538-5B9FBB1C9F2A}"/>
              </a:ext>
            </a:extLst>
          </p:cNvPr>
          <p:cNvSpPr>
            <a:spLocks xmlns:a="http://schemas.openxmlformats.org/drawingml/2006/main" noGrp="1"/>
          </p:cNvSpPr>
          <p:nvPr/>
        </p:nvSpPr>
        <p:spPr>
          <a:xfrm xmlns:a="http://schemas.openxmlformats.org/drawingml/2006/main">
            <a:off x="4714875" y="25908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closed-loop policy control</a:t>
            </a:r>
          </a:p>
        </p:txBody>
      </p:sp>
      <p:sp>
        <p:nvSpPr>
          <p:cNvPr id="11" name="">
            <a:extLst xmlns:a="http://schemas.openxmlformats.org/drawingml/2006/main">
              <a:ext uri="{FF2B5EF4-FFF2-40B4-BE49-F238E27FC236}">
                <a16:creationId xmlns:a16="http://schemas.microsoft.com/office/drawing/2014/main" id="{07549CF8-3ED4-4E22-B4A0-E128E3A6E303}"/>
              </a:ext>
            </a:extLst>
          </p:cNvPr>
          <p:cNvSpPr>
            <a:spLocks xmlns:a="http://schemas.openxmlformats.org/drawingml/2006/main" noGrp="1"/>
          </p:cNvSpPr>
          <p:nvPr/>
        </p:nvSpPr>
        <p:spPr>
          <a:xfrm xmlns:a="http://schemas.openxmlformats.org/drawingml/2006/main">
            <a:off x="8334375" y="1809750"/>
            <a:ext cx="3333750" cy="1190625"/>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F86D1F2-C789-4C02-9B03-8C9CB0E78E8B}"/>
              </a:ext>
            </a:extLst>
          </p:cNvPr>
          <p:cNvSpPr>
            <a:spLocks xmlns:a="http://schemas.openxmlformats.org/drawingml/2006/main" noGrp="1"/>
          </p:cNvSpPr>
          <p:nvPr/>
        </p:nvSpPr>
        <p:spPr>
          <a:xfrm xmlns:a="http://schemas.openxmlformats.org/drawingml/2006/main">
            <a:off x="8620125" y="20764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429"/>
          </a:bodyPr>
          <a:lstStyle xmlns:a="http://schemas.openxmlformats.org/drawingml/2006/main"/>
          <a:p xmlns:a="http://schemas.openxmlformats.org/drawingml/2006/main">
            <a:pPr algn="l">
              <a:buNone/>
              <a:defRPr sz="2625" b="1">
                <a:solidFill>
                  <a:srgbClr val="111318"/>
                </a:solidFill>
                <a:latin typeface="Arial"/>
                <a:ea typeface="Arial"/>
                <a:cs typeface="Arial"/>
              </a:defRPr>
            </a:pPr>
            <a:r>
              <a:rPr sz="2625" b="1">
                <a:solidFill>
                  <a:srgbClr val="111318"/>
                </a:solidFill>
                <a:latin typeface="Arial"/>
                <a:ea typeface="Arial"/>
                <a:cs typeface="Arial"/>
              </a:rPr>
              <a:t>6 × 10</a:t>
            </a:r>
          </a:p>
        </p:txBody>
      </p:sp>
      <p:sp>
        <p:nvSpPr>
          <p:cNvPr id="13" name="">
            <a:extLst xmlns:a="http://schemas.openxmlformats.org/drawingml/2006/main">
              <a:ext uri="{FF2B5EF4-FFF2-40B4-BE49-F238E27FC236}">
                <a16:creationId xmlns:a16="http://schemas.microsoft.com/office/drawing/2014/main" id="{23524EBB-83A5-4A23-9078-3887FF4B17BE}"/>
              </a:ext>
            </a:extLst>
          </p:cNvPr>
          <p:cNvSpPr>
            <a:spLocks xmlns:a="http://schemas.openxmlformats.org/drawingml/2006/main" noGrp="1"/>
          </p:cNvSpPr>
          <p:nvPr/>
        </p:nvSpPr>
        <p:spPr>
          <a:xfrm xmlns:a="http://schemas.openxmlformats.org/drawingml/2006/main">
            <a:off x="8620125" y="25908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terrain families × levels</a:t>
            </a:r>
          </a:p>
        </p:txBody>
      </p:sp>
      <p:sp>
        <p:nvSpPr>
          <p:cNvPr id="14" name="">
            <a:extLst xmlns:a="http://schemas.openxmlformats.org/drawingml/2006/main">
              <a:ext uri="{FF2B5EF4-FFF2-40B4-BE49-F238E27FC236}">
                <a16:creationId xmlns:a16="http://schemas.microsoft.com/office/drawing/2014/main" id="{E46AEA98-9959-48D3-A173-05DD317583D4}"/>
              </a:ext>
            </a:extLst>
          </p:cNvPr>
          <p:cNvSpPr>
            <a:spLocks xmlns:a="http://schemas.openxmlformats.org/drawingml/2006/main" noGrp="1"/>
          </p:cNvSpPr>
          <p:nvPr/>
        </p:nvSpPr>
        <p:spPr>
          <a:xfrm xmlns:a="http://schemas.openxmlformats.org/drawingml/2006/main">
            <a:off x="619125" y="36195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Policy experience</a:t>
            </a:r>
          </a:p>
        </p:txBody>
      </p:sp>
      <p:sp>
        <p:nvSpPr>
          <p:cNvPr id="15" name="">
            <a:extLst xmlns:a="http://schemas.openxmlformats.org/drawingml/2006/main">
              <a:ext uri="{FF2B5EF4-FFF2-40B4-BE49-F238E27FC236}">
                <a16:creationId xmlns:a16="http://schemas.microsoft.com/office/drawing/2014/main" id="{1526832D-6089-44A7-8E5D-C84A16B10286}"/>
              </a:ext>
            </a:extLst>
          </p:cNvPr>
          <p:cNvSpPr>
            <a:spLocks xmlns:a="http://schemas.openxmlformats.org/drawingml/2006/main" noGrp="1"/>
          </p:cNvSpPr>
          <p:nvPr/>
        </p:nvSpPr>
        <p:spPr>
          <a:xfrm xmlns:a="http://schemas.openxmlformats.org/drawingml/2006/main">
            <a:off x="619125" y="4095750"/>
            <a:ext cx="428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Keyboard command control</a:t>
            </a:r>
          </a:p>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Direction markers and follow camera</a:t>
            </a:r>
          </a:p>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Live terrain switching</a:t>
            </a:r>
          </a:p>
        </p:txBody>
      </p:sp>
      <p:sp>
        <p:nvSpPr>
          <p:cNvPr id="16" name="">
            <a:extLst xmlns:a="http://schemas.openxmlformats.org/drawingml/2006/main">
              <a:ext uri="{FF2B5EF4-FFF2-40B4-BE49-F238E27FC236}">
                <a16:creationId xmlns:a16="http://schemas.microsoft.com/office/drawing/2014/main" id="{962F1D9C-4D9F-49C1-BCDB-0449EBB326F4}"/>
              </a:ext>
            </a:extLst>
          </p:cNvPr>
          <p:cNvSpPr>
            <a:spLocks xmlns:a="http://schemas.openxmlformats.org/drawingml/2006/main" noGrp="1"/>
          </p:cNvSpPr>
          <p:nvPr/>
        </p:nvSpPr>
        <p:spPr>
          <a:xfrm xmlns:a="http://schemas.openxmlformats.org/drawingml/2006/main">
            <a:off x="6191250" y="3619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Engineering workflow</a:t>
            </a:r>
          </a:p>
        </p:txBody>
      </p:sp>
      <p:sp>
        <p:nvSpPr>
          <p:cNvPr id="17" name="">
            <a:extLst xmlns:a="http://schemas.openxmlformats.org/drawingml/2006/main">
              <a:ext uri="{FF2B5EF4-FFF2-40B4-BE49-F238E27FC236}">
                <a16:creationId xmlns:a16="http://schemas.microsoft.com/office/drawing/2014/main" id="{518FA363-D770-4994-A189-A020698F73C9}"/>
              </a:ext>
            </a:extLst>
          </p:cNvPr>
          <p:cNvSpPr>
            <a:spLocks xmlns:a="http://schemas.openxmlformats.org/drawingml/2006/main" noGrp="1"/>
          </p:cNvSpPr>
          <p:nvPr/>
        </p:nvSpPr>
        <p:spPr>
          <a:xfrm xmlns:a="http://schemas.openxmlformats.org/drawingml/2006/main">
            <a:off x="6191250" y="409575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Named, reproducible training runs</a:t>
            </a:r>
          </a:p>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Resume from explicit checkpoints</a:t>
            </a:r>
          </a:p>
          <a:p xmlns:a="http://schemas.openxmlformats.org/drawingml/2006/main">
            <a:pPr algn="l">
              <a:buNone/>
              <a:defRPr sz="1500" b="0">
                <a:solidFill>
                  <a:srgbClr val="5F6672"/>
                </a:solidFill>
                <a:latin typeface="Arial"/>
                <a:ea typeface="Arial"/>
                <a:cs typeface="Arial"/>
              </a:defRPr>
            </a:pPr>
            <a:r>
              <a:rPr sz="1500" b="0">
                <a:solidFill>
                  <a:srgbClr val="5F6672"/>
                </a:solidFill>
                <a:latin typeface="Arial"/>
                <a:ea typeface="Arial"/>
                <a:cs typeface="Arial"/>
              </a:rPr>
              <a:t>• CSV + JSON evaluation reports</a:t>
            </a:r>
          </a:p>
        </p:txBody>
      </p:sp>
    </p:spTree>
    <p:extLst>
      <p:ext uri="{BB962C8B-B14F-4D97-AF65-F5344CB8AC3E}">
        <p14:creationId xmlns:p14="http://schemas.microsoft.com/office/powerpoint/2010/main" val="16535777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5BD1F10-BD9C-4BDC-A853-3A7F56617262}"/>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OBJECTIVE</a:t>
            </a:r>
          </a:p>
        </p:txBody>
      </p:sp>
      <p:sp>
        <p:nvSpPr>
          <p:cNvPr id="2" name="">
            <a:extLst xmlns:a="http://schemas.openxmlformats.org/drawingml/2006/main">
              <a:ext uri="{FF2B5EF4-FFF2-40B4-BE49-F238E27FC236}">
                <a16:creationId xmlns:a16="http://schemas.microsoft.com/office/drawing/2014/main" id="{E30B890E-3A4D-48E1-BE6C-83EBF964BBDA}"/>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The reward function balanced tracking, stability, and gait quality</a:t>
            </a:r>
          </a:p>
        </p:txBody>
      </p:sp>
      <p:sp>
        <p:nvSpPr>
          <p:cNvPr id="3" name="">
            <a:extLst xmlns:a="http://schemas.openxmlformats.org/drawingml/2006/main">
              <a:ext uri="{FF2B5EF4-FFF2-40B4-BE49-F238E27FC236}">
                <a16:creationId xmlns:a16="http://schemas.microsoft.com/office/drawing/2014/main" id="{4DD448CD-7CB0-41C6-AA31-B5DAB92AD2B2}"/>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A59921-743B-4614-9346-75F348EB39BF}"/>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87EAAA3B-3CC7-4D4A-A781-866D4D4B3A91}"/>
              </a:ext>
            </a:extLst>
          </p:cNvPr>
          <p:cNvSpPr>
            <a:spLocks xmlns:a="http://schemas.openxmlformats.org/drawingml/2006/main" noGrp="1"/>
          </p:cNvSpPr>
          <p:nvPr/>
        </p:nvSpPr>
        <p:spPr>
          <a:xfrm xmlns:a="http://schemas.openxmlformats.org/drawingml/2006/main">
            <a:off x="571500" y="17335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FINAL ROUGH-TERRAIN OBJECTIVE</a:t>
            </a:r>
          </a:p>
        </p:txBody>
      </p:sp>
      <p:sp>
        <p:nvSpPr>
          <p:cNvPr id="6" name="">
            <a:extLst xmlns:a="http://schemas.openxmlformats.org/drawingml/2006/main">
              <a:ext uri="{FF2B5EF4-FFF2-40B4-BE49-F238E27FC236}">
                <a16:creationId xmlns:a16="http://schemas.microsoft.com/office/drawing/2014/main" id="{90D3D5EB-EA60-4FB3-A454-EF4C90EAB7CA}"/>
              </a:ext>
            </a:extLst>
          </p:cNvPr>
          <p:cNvSpPr>
            <a:spLocks xmlns:a="http://schemas.openxmlformats.org/drawingml/2006/main" noGrp="1"/>
          </p:cNvSpPr>
          <p:nvPr/>
        </p:nvSpPr>
        <p:spPr>
          <a:xfrm xmlns:a="http://schemas.openxmlformats.org/drawingml/2006/main">
            <a:off x="571500" y="2047875"/>
            <a:ext cx="11049000" cy="1095375"/>
          </a:xfrm>
          <a:prstGeom xmlns:a="http://schemas.openxmlformats.org/drawingml/2006/main" prst="roundRect">
            <a:avLst>
              <a:gd name="adj" fmla="val 6957"/>
            </a:avLst>
          </a:prstGeom>
          <a:solidFill xmlns:a="http://schemas.openxmlformats.org/drawingml/2006/main">
            <a:srgbClr val="EAF6FE"/>
          </a:solidFill>
          <a:ln xmlns:a="http://schemas.openxmlformats.org/drawingml/2006/main" w="9525">
            <a:solidFill>
              <a:srgbClr val="D8E1E8"/>
            </a:solidFill>
            <a:prstDash val="solid"/>
          </a:ln>
        </p:spPr>
      </p:sp>
      <p:sp>
        <p:nvSpPr>
          <p:cNvPr id="7" name="">
            <a:extLst xmlns:a="http://schemas.openxmlformats.org/drawingml/2006/main">
              <a:ext uri="{FF2B5EF4-FFF2-40B4-BE49-F238E27FC236}">
                <a16:creationId xmlns:a16="http://schemas.microsoft.com/office/drawing/2014/main" id="{71EEF8F2-7376-4B4D-B7A7-D6D5214A9A56}"/>
              </a:ext>
            </a:extLst>
          </p:cNvPr>
          <p:cNvSpPr>
            <a:spLocks xmlns:a="http://schemas.openxmlformats.org/drawingml/2006/main" noGrp="1"/>
          </p:cNvSpPr>
          <p:nvPr/>
        </p:nvSpPr>
        <p:spPr>
          <a:xfrm xmlns:a="http://schemas.openxmlformats.org/drawingml/2006/main">
            <a:off x="809625" y="21907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0262E"/>
                </a:solidFill>
                <a:latin typeface="Arial"/>
                <a:ea typeface="Arial"/>
                <a:cs typeface="Arial"/>
              </a:defRPr>
            </a:pPr>
            <a:r>
              <a:rPr sz="1500" b="1">
                <a:solidFill>
                  <a:srgbClr val="20262E"/>
                </a:solidFill>
                <a:latin typeface="Arial"/>
                <a:ea typeface="Arial"/>
                <a:cs typeface="Arial"/>
              </a:rPr>
              <a:t>rₜ = 2e⁻⁽‖v*ₓᵧ−vₓᵧ‖²⁄⁰·²⁵⁾ + e⁻⁽ω*𝓏−ω𝓏⁾²⁄⁰·²⁵ + 0.5r_air + 0.35r_trot + 0.75𝟙_straight r_phase</a:t>
            </a:r>
          </a:p>
          <a:p xmlns:a="http://schemas.openxmlformats.org/drawingml/2006/main">
            <a:pPr algn="ctr">
              <a:defRPr sz="1500" b="1">
                <a:solidFill>
                  <a:srgbClr val="20262E"/>
                </a:solidFill>
                <a:latin typeface="Arial"/>
                <a:ea typeface="Arial"/>
                <a:cs typeface="Arial"/>
              </a:defRPr>
            </a:pPr>
            <a:r>
              <a:rPr sz="1500" b="1">
                <a:solidFill>
                  <a:srgbClr val="20262E"/>
                </a:solidFill>
                <a:latin typeface="Arial"/>
                <a:ea typeface="Arial"/>
                <a:cs typeface="Arial"/>
              </a:rPr>
              <a:t>− v𝓏² − 0.2‖ωₓᵧ‖² − 0.05‖aₜ−aₜ₋₁‖² − 2×10⁻⁵ mean(τ²) − 2.5×10⁻⁷Σq̈² − N_bad-contact</a:t>
            </a:r>
          </a:p>
        </p:txBody>
      </p:sp>
      <p:sp>
        <p:nvSpPr>
          <p:cNvPr id="8" name="">
            <a:extLst xmlns:a="http://schemas.openxmlformats.org/drawingml/2006/main">
              <a:ext uri="{FF2B5EF4-FFF2-40B4-BE49-F238E27FC236}">
                <a16:creationId xmlns:a16="http://schemas.microsoft.com/office/drawing/2014/main" id="{2D652A3F-D88B-4951-8ED2-BDB874BB6B80}"/>
              </a:ext>
            </a:extLst>
          </p:cNvPr>
          <p:cNvSpPr>
            <a:spLocks xmlns:a="http://schemas.openxmlformats.org/drawingml/2006/main" noGrp="1"/>
          </p:cNvSpPr>
          <p:nvPr/>
        </p:nvSpPr>
        <p:spPr>
          <a:xfrm xmlns:a="http://schemas.openxmlformats.org/drawingml/2006/main">
            <a:off x="714375" y="3238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Every term except the fall penalty is multiplied by Δt = 0.02 s. A fall adds −2.</a:t>
            </a:r>
          </a:p>
        </p:txBody>
      </p:sp>
      <p:sp>
        <p:nvSpPr>
          <p:cNvPr id="9" name="">
            <a:extLst xmlns:a="http://schemas.openxmlformats.org/drawingml/2006/main">
              <a:ext uri="{FF2B5EF4-FFF2-40B4-BE49-F238E27FC236}">
                <a16:creationId xmlns:a16="http://schemas.microsoft.com/office/drawing/2014/main" id="{23F34B8E-88DF-49BE-BAB1-8316F1514EC0}"/>
              </a:ext>
            </a:extLst>
          </p:cNvPr>
          <p:cNvSpPr>
            <a:spLocks xmlns:a="http://schemas.openxmlformats.org/drawingml/2006/main" noGrp="1"/>
          </p:cNvSpPr>
          <p:nvPr/>
        </p:nvSpPr>
        <p:spPr>
          <a:xfrm xmlns:a="http://schemas.openxmlformats.org/drawingml/2006/main">
            <a:off x="666750" y="38576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0262E"/>
                </a:solidFill>
                <a:latin typeface="Arial"/>
                <a:ea typeface="Arial"/>
                <a:cs typeface="Arial"/>
              </a:defRPr>
            </a:pPr>
            <a:r>
              <a:rPr sz="1350" b="1">
                <a:solidFill>
                  <a:srgbClr val="20262E"/>
                </a:solidFill>
                <a:latin typeface="Arial"/>
                <a:ea typeface="Arial"/>
                <a:cs typeface="Arial"/>
              </a:rPr>
              <a:t>Tracking</a:t>
            </a:r>
          </a:p>
        </p:txBody>
      </p:sp>
      <p:sp>
        <p:nvSpPr>
          <p:cNvPr id="10" name="">
            <a:extLst xmlns:a="http://schemas.openxmlformats.org/drawingml/2006/main">
              <a:ext uri="{FF2B5EF4-FFF2-40B4-BE49-F238E27FC236}">
                <a16:creationId xmlns:a16="http://schemas.microsoft.com/office/drawing/2014/main" id="{A4244F54-E682-465C-A0E9-186D7C84A18C}"/>
              </a:ext>
            </a:extLst>
          </p:cNvPr>
          <p:cNvSpPr>
            <a:spLocks xmlns:a="http://schemas.openxmlformats.org/drawingml/2006/main" noGrp="1"/>
          </p:cNvSpPr>
          <p:nvPr/>
        </p:nvSpPr>
        <p:spPr>
          <a:xfrm xmlns:a="http://schemas.openxmlformats.org/drawingml/2006/main">
            <a:off x="666750" y="4238625"/>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Match planar velocity and yaw commands.</a:t>
            </a:r>
          </a:p>
        </p:txBody>
      </p:sp>
      <p:sp>
        <p:nvSpPr>
          <p:cNvPr id="11" name="">
            <a:extLst xmlns:a="http://schemas.openxmlformats.org/drawingml/2006/main">
              <a:ext uri="{FF2B5EF4-FFF2-40B4-BE49-F238E27FC236}">
                <a16:creationId xmlns:a16="http://schemas.microsoft.com/office/drawing/2014/main" id="{96A01362-B193-4AF0-A494-B50F294F6315}"/>
              </a:ext>
            </a:extLst>
          </p:cNvPr>
          <p:cNvSpPr>
            <a:spLocks xmlns:a="http://schemas.openxmlformats.org/drawingml/2006/main" noGrp="1"/>
          </p:cNvSpPr>
          <p:nvPr/>
        </p:nvSpPr>
        <p:spPr>
          <a:xfrm xmlns:a="http://schemas.openxmlformats.org/drawingml/2006/main">
            <a:off x="3476625" y="38576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0262E"/>
                </a:solidFill>
                <a:latin typeface="Arial"/>
                <a:ea typeface="Arial"/>
                <a:cs typeface="Arial"/>
              </a:defRPr>
            </a:pPr>
            <a:r>
              <a:rPr sz="1350" b="1">
                <a:solidFill>
                  <a:srgbClr val="20262E"/>
                </a:solidFill>
                <a:latin typeface="Arial"/>
                <a:ea typeface="Arial"/>
                <a:cs typeface="Arial"/>
              </a:rPr>
              <a:t>Stability</a:t>
            </a:r>
          </a:p>
        </p:txBody>
      </p:sp>
      <p:sp>
        <p:nvSpPr>
          <p:cNvPr id="12" name="">
            <a:extLst xmlns:a="http://schemas.openxmlformats.org/drawingml/2006/main">
              <a:ext uri="{FF2B5EF4-FFF2-40B4-BE49-F238E27FC236}">
                <a16:creationId xmlns:a16="http://schemas.microsoft.com/office/drawing/2014/main" id="{697F3A82-AF49-48EC-87BF-3AAB2F24E812}"/>
              </a:ext>
            </a:extLst>
          </p:cNvPr>
          <p:cNvSpPr>
            <a:spLocks xmlns:a="http://schemas.openxmlformats.org/drawingml/2006/main" noGrp="1"/>
          </p:cNvSpPr>
          <p:nvPr/>
        </p:nvSpPr>
        <p:spPr>
          <a:xfrm xmlns:a="http://schemas.openxmlformats.org/drawingml/2006/main">
            <a:off x="3476625" y="4238625"/>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Suppress vertical motion, roll, pitch, and bad contacts.</a:t>
            </a:r>
          </a:p>
        </p:txBody>
      </p:sp>
      <p:sp>
        <p:nvSpPr>
          <p:cNvPr id="13" name="">
            <a:extLst xmlns:a="http://schemas.openxmlformats.org/drawingml/2006/main">
              <a:ext uri="{FF2B5EF4-FFF2-40B4-BE49-F238E27FC236}">
                <a16:creationId xmlns:a16="http://schemas.microsoft.com/office/drawing/2014/main" id="{924A06BD-7DA4-4C2E-BBDD-215A599B86DC}"/>
              </a:ext>
            </a:extLst>
          </p:cNvPr>
          <p:cNvSpPr>
            <a:spLocks xmlns:a="http://schemas.openxmlformats.org/drawingml/2006/main" noGrp="1"/>
          </p:cNvSpPr>
          <p:nvPr/>
        </p:nvSpPr>
        <p:spPr>
          <a:xfrm xmlns:a="http://schemas.openxmlformats.org/drawingml/2006/main">
            <a:off x="6286500" y="38576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0262E"/>
                </a:solidFill>
                <a:latin typeface="Arial"/>
                <a:ea typeface="Arial"/>
                <a:cs typeface="Arial"/>
              </a:defRPr>
            </a:pPr>
            <a:r>
              <a:rPr sz="1350" b="1">
                <a:solidFill>
                  <a:srgbClr val="20262E"/>
                </a:solidFill>
                <a:latin typeface="Arial"/>
                <a:ea typeface="Arial"/>
                <a:cs typeface="Arial"/>
              </a:rPr>
              <a:t>Efficiency</a:t>
            </a:r>
          </a:p>
        </p:txBody>
      </p:sp>
      <p:sp>
        <p:nvSpPr>
          <p:cNvPr id="14" name="">
            <a:extLst xmlns:a="http://schemas.openxmlformats.org/drawingml/2006/main">
              <a:ext uri="{FF2B5EF4-FFF2-40B4-BE49-F238E27FC236}">
                <a16:creationId xmlns:a16="http://schemas.microsoft.com/office/drawing/2014/main" id="{D70977FA-4D24-4919-A947-D8980680F390}"/>
              </a:ext>
            </a:extLst>
          </p:cNvPr>
          <p:cNvSpPr>
            <a:spLocks xmlns:a="http://schemas.openxmlformats.org/drawingml/2006/main" noGrp="1"/>
          </p:cNvSpPr>
          <p:nvPr/>
        </p:nvSpPr>
        <p:spPr>
          <a:xfrm xmlns:a="http://schemas.openxmlformats.org/drawingml/2006/main">
            <a:off x="6286500" y="4238625"/>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Limit abrupt actions, torque, and joint acceleration.</a:t>
            </a:r>
          </a:p>
        </p:txBody>
      </p:sp>
      <p:sp>
        <p:nvSpPr>
          <p:cNvPr id="15" name="">
            <a:extLst xmlns:a="http://schemas.openxmlformats.org/drawingml/2006/main">
              <a:ext uri="{FF2B5EF4-FFF2-40B4-BE49-F238E27FC236}">
                <a16:creationId xmlns:a16="http://schemas.microsoft.com/office/drawing/2014/main" id="{57AACE59-2641-4E2F-AD20-0D687051BE62}"/>
              </a:ext>
            </a:extLst>
          </p:cNvPr>
          <p:cNvSpPr>
            <a:spLocks xmlns:a="http://schemas.openxmlformats.org/drawingml/2006/main" noGrp="1"/>
          </p:cNvSpPr>
          <p:nvPr/>
        </p:nvSpPr>
        <p:spPr>
          <a:xfrm xmlns:a="http://schemas.openxmlformats.org/drawingml/2006/main">
            <a:off x="9096375" y="3857625"/>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l">
              <a:defRPr sz="1350" b="1">
                <a:solidFill>
                  <a:srgbClr val="2596E8"/>
                </a:solidFill>
                <a:latin typeface="Arial"/>
                <a:ea typeface="Arial"/>
                <a:cs typeface="Arial"/>
              </a:defRPr>
            </a:pPr>
            <a:r>
              <a:rPr sz="1350" b="1">
                <a:solidFill>
                  <a:srgbClr val="2596E8"/>
                </a:solidFill>
                <a:latin typeface="Arial"/>
                <a:ea typeface="Arial"/>
                <a:cs typeface="Arial"/>
              </a:rPr>
              <a:t>Gait structure</a:t>
            </a:r>
          </a:p>
        </p:txBody>
      </p:sp>
      <p:sp>
        <p:nvSpPr>
          <p:cNvPr id="16" name="">
            <a:extLst xmlns:a="http://schemas.openxmlformats.org/drawingml/2006/main">
              <a:ext uri="{FF2B5EF4-FFF2-40B4-BE49-F238E27FC236}">
                <a16:creationId xmlns:a16="http://schemas.microsoft.com/office/drawing/2014/main" id="{84462536-9581-4F14-9C6F-B812E15D46C9}"/>
              </a:ext>
            </a:extLst>
          </p:cNvPr>
          <p:cNvSpPr>
            <a:spLocks xmlns:a="http://schemas.openxmlformats.org/drawingml/2006/main" noGrp="1"/>
          </p:cNvSpPr>
          <p:nvPr/>
        </p:nvSpPr>
        <p:spPr>
          <a:xfrm xmlns:a="http://schemas.openxmlformats.org/drawingml/2006/main">
            <a:off x="9096375" y="4238625"/>
            <a:ext cx="2238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Encourage air time, trot consistency, and phase scheduling.</a:t>
            </a:r>
          </a:p>
        </p:txBody>
      </p:sp>
      <p:sp>
        <p:nvSpPr>
          <p:cNvPr id="17" name="">
            <a:extLst xmlns:a="http://schemas.openxmlformats.org/drawingml/2006/main">
              <a:ext uri="{FF2B5EF4-FFF2-40B4-BE49-F238E27FC236}">
                <a16:creationId xmlns:a16="http://schemas.microsoft.com/office/drawing/2014/main" id="{160E7E58-022E-4FF9-9047-1EBE5A27DE6F}"/>
              </a:ext>
            </a:extLst>
          </p:cNvPr>
          <p:cNvSpPr>
            <a:spLocks xmlns:a="http://schemas.openxmlformats.org/drawingml/2006/main" noGrp="1"/>
          </p:cNvSpPr>
          <p:nvPr/>
        </p:nvSpPr>
        <p:spPr>
          <a:xfrm xmlns:a="http://schemas.openxmlformats.org/drawingml/2006/main">
            <a:off x="666750" y="5381625"/>
            <a:ext cx="10858500" cy="590550"/>
          </a:xfrm>
          <a:prstGeom xmlns:a="http://schemas.openxmlformats.org/drawingml/2006/main" prst="roundRect">
            <a:avLst>
              <a:gd name="adj" fmla="val 12903"/>
            </a:avLst>
          </a:prstGeom>
          <a:solidFill xmlns:a="http://schemas.openxmlformats.org/drawingml/2006/main">
            <a:srgbClr val="EAF6FE"/>
          </a:solidFill>
          <a:ln xmlns:a="http://schemas.openxmlformats.org/drawingml/2006/main" w="9525">
            <a:solidFill>
              <a:srgbClr val="D8E1E8"/>
            </a:solidFill>
            <a:prstDash val="solid"/>
          </a:ln>
        </p:spPr>
      </p:sp>
      <p:sp>
        <p:nvSpPr>
          <p:cNvPr id="18" name="">
            <a:extLst xmlns:a="http://schemas.openxmlformats.org/drawingml/2006/main">
              <a:ext uri="{FF2B5EF4-FFF2-40B4-BE49-F238E27FC236}">
                <a16:creationId xmlns:a16="http://schemas.microsoft.com/office/drawing/2014/main" id="{CCD92945-817B-4368-A82E-01D1166FC643}"/>
              </a:ext>
            </a:extLst>
          </p:cNvPr>
          <p:cNvSpPr>
            <a:spLocks xmlns:a="http://schemas.openxmlformats.org/drawingml/2006/main" noGrp="1"/>
          </p:cNvSpPr>
          <p:nvPr/>
        </p:nvSpPr>
        <p:spPr>
          <a:xfrm xmlns:a="http://schemas.openxmlformats.org/drawingml/2006/main">
            <a:off x="904875" y="55054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21"/>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Design choice: the phase term activates only for straight forward commands, so standing, turning, and lateral motion keep their adaptive behavior.</a:t>
            </a:r>
          </a:p>
        </p:txBody>
      </p:sp>
    </p:spTree>
    <p:extLst>
      <p:ext uri="{BB962C8B-B14F-4D97-AF65-F5344CB8AC3E}">
        <p14:creationId xmlns:p14="http://schemas.microsoft.com/office/powerpoint/2010/main" val="10876838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EEB55EE-118B-4A68-9550-16F3CB75B257}"/>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MEASUREMENT</a:t>
            </a:r>
          </a:p>
        </p:txBody>
      </p:sp>
      <p:sp>
        <p:nvSpPr>
          <p:cNvPr id="2" name="">
            <a:extLst xmlns:a="http://schemas.openxmlformats.org/drawingml/2006/main">
              <a:ext uri="{FF2B5EF4-FFF2-40B4-BE49-F238E27FC236}">
                <a16:creationId xmlns:a16="http://schemas.microsoft.com/office/drawing/2014/main" id="{E6ED06F4-F29B-4CA0-9A9C-8B0E1C7616AE}"/>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A controlled gait test converted visual concerns into measurable errors</a:t>
            </a:r>
          </a:p>
        </p:txBody>
      </p:sp>
      <p:sp>
        <p:nvSpPr>
          <p:cNvPr id="3" name="">
            <a:extLst xmlns:a="http://schemas.openxmlformats.org/drawingml/2006/main">
              <a:ext uri="{FF2B5EF4-FFF2-40B4-BE49-F238E27FC236}">
                <a16:creationId xmlns:a16="http://schemas.microsoft.com/office/drawing/2014/main" id="{114D9023-5249-459C-8D3F-4021A7349B45}"/>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C5A0F1-6D04-4ECA-9B6C-9BCAE25D121A}"/>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9EF3653-9261-4639-AD93-84C5DF70937C}"/>
              </a:ext>
            </a:extLst>
          </p:cNvPr>
          <p:cNvSpPr>
            <a:spLocks xmlns:a="http://schemas.openxmlformats.org/drawingml/2006/main" noGrp="1"/>
          </p:cNvSpPr>
          <p:nvPr/>
        </p:nvSpPr>
        <p:spPr>
          <a:xfrm xmlns:a="http://schemas.openxmlformats.org/drawingml/2006/main">
            <a:off x="571500" y="1809750"/>
            <a:ext cx="4953000" cy="3714750"/>
          </a:xfrm>
          <a:prstGeom xmlns:a="http://schemas.openxmlformats.org/drawingml/2006/main" prst="roundRect">
            <a:avLst>
              <a:gd name="adj" fmla="val 2051"/>
            </a:avLst>
          </a:prstGeom>
          <a:solidFill xmlns:a="http://schemas.openxmlformats.org/drawingml/2006/main">
            <a:srgbClr val="F6FAFD"/>
          </a:solidFill>
          <a:ln xmlns:a="http://schemas.openxmlformats.org/drawingml/2006/main" w="9525">
            <a:solidFill>
              <a:srgbClr val="D8E1E8"/>
            </a:solidFill>
            <a:prstDash val="solid"/>
          </a:ln>
        </p:spPr>
      </p:sp>
      <p:sp>
        <p:nvSpPr>
          <p:cNvPr id="6" name="">
            <a:extLst xmlns:a="http://schemas.openxmlformats.org/drawingml/2006/main">
              <a:ext uri="{FF2B5EF4-FFF2-40B4-BE49-F238E27FC236}">
                <a16:creationId xmlns:a16="http://schemas.microsoft.com/office/drawing/2014/main" id="{C8836F95-BF31-4F94-AFE1-580C1793D5B6}"/>
              </a:ext>
            </a:extLst>
          </p:cNvPr>
          <p:cNvSpPr>
            <a:spLocks xmlns:a="http://schemas.openxmlformats.org/drawingml/2006/main" noGrp="1"/>
          </p:cNvSpPr>
          <p:nvPr/>
        </p:nvSpPr>
        <p:spPr>
          <a:xfrm xmlns:a="http://schemas.openxmlformats.org/drawingml/2006/main">
            <a:off x="809625" y="2047875"/>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TOUCHDOWN PHASE MAE</a:t>
            </a:r>
          </a:p>
        </p:txBody>
      </p:sp>
      <p:sp>
        <p:nvSpPr>
          <p:cNvPr id="7" name="">
            <a:extLst xmlns:a="http://schemas.openxmlformats.org/drawingml/2006/main">
              <a:ext uri="{FF2B5EF4-FFF2-40B4-BE49-F238E27FC236}">
                <a16:creationId xmlns:a16="http://schemas.microsoft.com/office/drawing/2014/main" id="{A85DEBA8-106F-4CC6-A3DC-0D85D93AA4C8}"/>
              </a:ext>
            </a:extLst>
          </p:cNvPr>
          <p:cNvSpPr>
            <a:spLocks xmlns:a="http://schemas.openxmlformats.org/drawingml/2006/main" noGrp="1"/>
          </p:cNvSpPr>
          <p:nvPr/>
        </p:nvSpPr>
        <p:spPr>
          <a:xfrm xmlns:a="http://schemas.openxmlformats.org/drawingml/2006/main">
            <a:off x="809625" y="24288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20262E"/>
                </a:solidFill>
                <a:latin typeface="Arial"/>
                <a:ea typeface="Arial"/>
                <a:cs typeface="Arial"/>
              </a:defRPr>
            </a:pPr>
            <a:r>
              <a:rPr sz="1500" b="1">
                <a:solidFill>
                  <a:srgbClr val="20262E"/>
                </a:solidFill>
                <a:latin typeface="Arial"/>
                <a:ea typeface="Arial"/>
                <a:cs typeface="Arial"/>
              </a:rPr>
              <a:t>LF defines each stride cycle</a:t>
            </a:r>
          </a:p>
        </p:txBody>
      </p:sp>
      <p:sp>
        <p:nvSpPr>
          <p:cNvPr id="8" name="">
            <a:extLst xmlns:a="http://schemas.openxmlformats.org/drawingml/2006/main">
              <a:ext uri="{FF2B5EF4-FFF2-40B4-BE49-F238E27FC236}">
                <a16:creationId xmlns:a16="http://schemas.microsoft.com/office/drawing/2014/main" id="{86B7171C-2D86-4B7E-B350-765356A5A99D}"/>
              </a:ext>
            </a:extLst>
          </p:cNvPr>
          <p:cNvSpPr>
            <a:spLocks xmlns:a="http://schemas.openxmlformats.org/drawingml/2006/main" noGrp="1"/>
          </p:cNvSpPr>
          <p:nvPr/>
        </p:nvSpPr>
        <p:spPr>
          <a:xfrm xmlns:a="http://schemas.openxmlformats.org/drawingml/2006/main">
            <a:off x="809625" y="285750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B6670"/>
                </a:solidFill>
                <a:latin typeface="Arial"/>
                <a:ea typeface="Arial"/>
                <a:cs typeface="Arial"/>
              </a:defRPr>
            </a:pPr>
            <a:r>
              <a:rPr sz="1275" b="0">
                <a:solidFill>
                  <a:srgbClr val="5B6670"/>
                </a:solidFill>
                <a:latin typeface="Arial"/>
                <a:ea typeface="Arial"/>
                <a:cs typeface="Arial"/>
              </a:rPr>
              <a:t>Targets: RF = 0.5   LH = 0.5   RH = 0.0 cycles</a:t>
            </a:r>
          </a:p>
        </p:txBody>
      </p:sp>
      <p:sp>
        <p:nvSpPr>
          <p:cNvPr id="9" name="">
            <a:extLst xmlns:a="http://schemas.openxmlformats.org/drawingml/2006/main">
              <a:ext uri="{FF2B5EF4-FFF2-40B4-BE49-F238E27FC236}">
                <a16:creationId xmlns:a16="http://schemas.microsoft.com/office/drawing/2014/main" id="{1D5C982C-C857-4558-9A97-8CC01FEB79DE}"/>
              </a:ext>
            </a:extLst>
          </p:cNvPr>
          <p:cNvSpPr>
            <a:spLocks xmlns:a="http://schemas.openxmlformats.org/drawingml/2006/main" noGrp="1"/>
          </p:cNvSpPr>
          <p:nvPr/>
        </p:nvSpPr>
        <p:spPr>
          <a:xfrm xmlns:a="http://schemas.openxmlformats.org/drawingml/2006/main">
            <a:off x="809625" y="347662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2596E8"/>
                </a:solidFill>
                <a:latin typeface="Arial"/>
                <a:ea typeface="Arial"/>
                <a:cs typeface="Arial"/>
              </a:defRPr>
            </a:pPr>
            <a:r>
              <a:rPr sz="1575" b="1">
                <a:solidFill>
                  <a:srgbClr val="2596E8"/>
                </a:solidFill>
                <a:latin typeface="Arial"/>
                <a:ea typeface="Arial"/>
                <a:cs typeface="Arial"/>
              </a:rPr>
              <a:t>eᵢⱼ = min(|Δφᵢⱼ − δᵢⱼ|, 1 − |Δφᵢⱼ − δᵢⱼ|)</a:t>
            </a:r>
          </a:p>
        </p:txBody>
      </p:sp>
      <p:sp>
        <p:nvSpPr>
          <p:cNvPr id="10" name="">
            <a:extLst xmlns:a="http://schemas.openxmlformats.org/drawingml/2006/main">
              <a:ext uri="{FF2B5EF4-FFF2-40B4-BE49-F238E27FC236}">
                <a16:creationId xmlns:a16="http://schemas.microsoft.com/office/drawing/2014/main" id="{DFAD535F-03E5-45D3-829F-2781D4D61954}"/>
              </a:ext>
            </a:extLst>
          </p:cNvPr>
          <p:cNvSpPr>
            <a:spLocks xmlns:a="http://schemas.openxmlformats.org/drawingml/2006/main" noGrp="1"/>
          </p:cNvSpPr>
          <p:nvPr/>
        </p:nvSpPr>
        <p:spPr>
          <a:xfrm xmlns:a="http://schemas.openxmlformats.org/drawingml/2006/main">
            <a:off x="809625" y="4048125"/>
            <a:ext cx="423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0262E"/>
                </a:solidFill>
                <a:latin typeface="Arial"/>
                <a:ea typeface="Arial"/>
                <a:cs typeface="Arial"/>
              </a:defRPr>
            </a:pPr>
            <a:r>
              <a:rPr sz="1500" b="1">
                <a:solidFill>
                  <a:srgbClr val="20262E"/>
                </a:solidFill>
                <a:latin typeface="Arial"/>
                <a:ea typeface="Arial"/>
                <a:cs typeface="Arial"/>
              </a:rPr>
              <a:t>Phase MAE = mean(eᵢⱼ)</a:t>
            </a:r>
          </a:p>
        </p:txBody>
      </p:sp>
      <p:sp>
        <p:nvSpPr>
          <p:cNvPr id="11" name="">
            <a:extLst xmlns:a="http://schemas.openxmlformats.org/drawingml/2006/main">
              <a:ext uri="{FF2B5EF4-FFF2-40B4-BE49-F238E27FC236}">
                <a16:creationId xmlns:a16="http://schemas.microsoft.com/office/drawing/2014/main" id="{A6C2EAF7-0BCB-424A-8E01-C679CDC84B3A}"/>
              </a:ext>
            </a:extLst>
          </p:cNvPr>
          <p:cNvSpPr>
            <a:spLocks xmlns:a="http://schemas.openxmlformats.org/drawingml/2006/main" noGrp="1"/>
          </p:cNvSpPr>
          <p:nvPr/>
        </p:nvSpPr>
        <p:spPr>
          <a:xfrm xmlns:a="http://schemas.openxmlformats.org/drawingml/2006/main">
            <a:off x="809625" y="46196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Lower values mean touchdowns occur closer to an ideal trot schedule.</a:t>
            </a:r>
          </a:p>
        </p:txBody>
      </p:sp>
      <p:sp>
        <p:nvSpPr>
          <p:cNvPr id="12" name="">
            <a:extLst xmlns:a="http://schemas.openxmlformats.org/drawingml/2006/main">
              <a:ext uri="{FF2B5EF4-FFF2-40B4-BE49-F238E27FC236}">
                <a16:creationId xmlns:a16="http://schemas.microsoft.com/office/drawing/2014/main" id="{FA5923EE-581F-4D58-92FA-DADAFE631F09}"/>
              </a:ext>
            </a:extLst>
          </p:cNvPr>
          <p:cNvSpPr>
            <a:spLocks xmlns:a="http://schemas.openxmlformats.org/drawingml/2006/main" noGrp="1"/>
          </p:cNvSpPr>
          <p:nvPr/>
        </p:nvSpPr>
        <p:spPr>
          <a:xfrm xmlns:a="http://schemas.openxmlformats.org/drawingml/2006/main">
            <a:off x="5953125" y="1809750"/>
            <a:ext cx="5667375" cy="3714750"/>
          </a:xfrm>
          <a:prstGeom xmlns:a="http://schemas.openxmlformats.org/drawingml/2006/main" prst="roundRect">
            <a:avLst>
              <a:gd name="adj" fmla="val 2051"/>
            </a:avLst>
          </a:prstGeom>
          <a:solidFill xmlns:a="http://schemas.openxmlformats.org/drawingml/2006/main">
            <a:srgbClr val="F6FAFD"/>
          </a:solidFill>
          <a:ln xmlns:a="http://schemas.openxmlformats.org/drawingml/2006/main" w="9525">
            <a:solidFill>
              <a:srgbClr val="D8E1E8"/>
            </a:solidFill>
            <a:prstDash val="solid"/>
          </a:ln>
        </p:spPr>
      </p:sp>
      <p:sp>
        <p:nvSpPr>
          <p:cNvPr id="13" name="">
            <a:extLst xmlns:a="http://schemas.openxmlformats.org/drawingml/2006/main">
              <a:ext uri="{FF2B5EF4-FFF2-40B4-BE49-F238E27FC236}">
                <a16:creationId xmlns:a16="http://schemas.microsoft.com/office/drawing/2014/main" id="{9DE6C85C-AC17-4915-8501-58A4E315E1F8}"/>
              </a:ext>
            </a:extLst>
          </p:cNvPr>
          <p:cNvSpPr>
            <a:spLocks xmlns:a="http://schemas.openxmlformats.org/drawingml/2006/main" noGrp="1"/>
          </p:cNvSpPr>
          <p:nvPr/>
        </p:nvSpPr>
        <p:spPr>
          <a:xfrm xmlns:a="http://schemas.openxmlformats.org/drawingml/2006/main">
            <a:off x="6191250" y="204787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COMPOSITE TROT DEVIATION</a:t>
            </a:r>
          </a:p>
        </p:txBody>
      </p:sp>
      <p:sp>
        <p:nvSpPr>
          <p:cNvPr id="14" name="">
            <a:extLst xmlns:a="http://schemas.openxmlformats.org/drawingml/2006/main">
              <a:ext uri="{FF2B5EF4-FFF2-40B4-BE49-F238E27FC236}">
                <a16:creationId xmlns:a16="http://schemas.microsoft.com/office/drawing/2014/main" id="{9DB3EC37-9559-48A6-8BEA-83430749CCFA}"/>
              </a:ext>
            </a:extLst>
          </p:cNvPr>
          <p:cNvSpPr>
            <a:spLocks xmlns:a="http://schemas.openxmlformats.org/drawingml/2006/main" noGrp="1"/>
          </p:cNvSpPr>
          <p:nvPr/>
        </p:nvSpPr>
        <p:spPr>
          <a:xfrm xmlns:a="http://schemas.openxmlformats.org/drawingml/2006/main">
            <a:off x="6238875" y="2524125"/>
            <a:ext cx="5095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00" b="1">
                <a:solidFill>
                  <a:srgbClr val="2596E8"/>
                </a:solidFill>
                <a:latin typeface="Arial"/>
                <a:ea typeface="Arial"/>
                <a:cs typeface="Arial"/>
              </a:defRPr>
            </a:pPr>
            <a:r>
              <a:rPr sz="1500" b="1">
                <a:solidFill>
                  <a:srgbClr val="2596E8"/>
                </a:solidFill>
                <a:latin typeface="Arial"/>
                <a:ea typeface="Arial"/>
                <a:cs typeface="Arial"/>
              </a:rPr>
              <a:t>TDI = phase MAE + 0.25 × duty-factor CV + 0.25 × stride-period CV</a:t>
            </a:r>
          </a:p>
        </p:txBody>
      </p:sp>
      <p:sp>
        <p:nvSpPr>
          <p:cNvPr id="15" name="">
            <a:extLst xmlns:a="http://schemas.openxmlformats.org/drawingml/2006/main">
              <a:ext uri="{FF2B5EF4-FFF2-40B4-BE49-F238E27FC236}">
                <a16:creationId xmlns:a16="http://schemas.microsoft.com/office/drawing/2014/main" id="{6A57EE8F-675A-46EE-91AD-174DCA6A74EA}"/>
              </a:ext>
            </a:extLst>
          </p:cNvPr>
          <p:cNvSpPr>
            <a:spLocks xmlns:a="http://schemas.openxmlformats.org/drawingml/2006/main" noGrp="1"/>
          </p:cNvSpPr>
          <p:nvPr/>
        </p:nvSpPr>
        <p:spPr>
          <a:xfrm xmlns:a="http://schemas.openxmlformats.org/drawingml/2006/main">
            <a:off x="6286500" y="33813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20262E"/>
                </a:solidFill>
                <a:latin typeface="Arial"/>
                <a:ea typeface="Arial"/>
                <a:cs typeface="Arial"/>
              </a:defRPr>
            </a:pPr>
            <a:r>
              <a:rPr sz="1275" b="1">
                <a:solidFill>
                  <a:srgbClr val="20262E"/>
                </a:solidFill>
                <a:latin typeface="Arial"/>
                <a:ea typeface="Arial"/>
                <a:cs typeface="Arial"/>
              </a:rPr>
              <a:t>Phase MAE</a:t>
            </a:r>
          </a:p>
        </p:txBody>
      </p:sp>
      <p:sp>
        <p:nvSpPr>
          <p:cNvPr id="16" name="">
            <a:extLst xmlns:a="http://schemas.openxmlformats.org/drawingml/2006/main">
              <a:ext uri="{FF2B5EF4-FFF2-40B4-BE49-F238E27FC236}">
                <a16:creationId xmlns:a16="http://schemas.microsoft.com/office/drawing/2014/main" id="{EC064856-3B01-4BCA-BEB0-5AD481B7EC08}"/>
              </a:ext>
            </a:extLst>
          </p:cNvPr>
          <p:cNvSpPr>
            <a:spLocks xmlns:a="http://schemas.openxmlformats.org/drawingml/2006/main" noGrp="1"/>
          </p:cNvSpPr>
          <p:nvPr/>
        </p:nvSpPr>
        <p:spPr>
          <a:xfrm xmlns:a="http://schemas.openxmlformats.org/drawingml/2006/main">
            <a:off x="8239125" y="33813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Inter-leg touchdown timing</a:t>
            </a:r>
          </a:p>
        </p:txBody>
      </p:sp>
      <p:sp>
        <p:nvSpPr>
          <p:cNvPr id="17" name="">
            <a:extLst xmlns:a="http://schemas.openxmlformats.org/drawingml/2006/main">
              <a:ext uri="{FF2B5EF4-FFF2-40B4-BE49-F238E27FC236}">
                <a16:creationId xmlns:a16="http://schemas.microsoft.com/office/drawing/2014/main" id="{B4773AEF-19C5-40D4-8669-F2EE61CEF4CE}"/>
              </a:ext>
            </a:extLst>
          </p:cNvPr>
          <p:cNvSpPr>
            <a:spLocks xmlns:a="http://schemas.openxmlformats.org/drawingml/2006/main" noGrp="1"/>
          </p:cNvSpPr>
          <p:nvPr/>
        </p:nvSpPr>
        <p:spPr>
          <a:xfrm xmlns:a="http://schemas.openxmlformats.org/drawingml/2006/main">
            <a:off x="6286500" y="397192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20262E"/>
                </a:solidFill>
                <a:latin typeface="Arial"/>
                <a:ea typeface="Arial"/>
                <a:cs typeface="Arial"/>
              </a:defRPr>
            </a:pPr>
            <a:r>
              <a:rPr sz="1275" b="1">
                <a:solidFill>
                  <a:srgbClr val="20262E"/>
                </a:solidFill>
                <a:latin typeface="Arial"/>
                <a:ea typeface="Arial"/>
                <a:cs typeface="Arial"/>
              </a:rPr>
              <a:t>Duty-factor CV</a:t>
            </a:r>
          </a:p>
        </p:txBody>
      </p:sp>
      <p:sp>
        <p:nvSpPr>
          <p:cNvPr id="18" name="">
            <a:extLst xmlns:a="http://schemas.openxmlformats.org/drawingml/2006/main">
              <a:ext uri="{FF2B5EF4-FFF2-40B4-BE49-F238E27FC236}">
                <a16:creationId xmlns:a16="http://schemas.microsoft.com/office/drawing/2014/main" id="{01601CF3-D547-4E3B-9E08-86C880CCF540}"/>
              </a:ext>
            </a:extLst>
          </p:cNvPr>
          <p:cNvSpPr>
            <a:spLocks xmlns:a="http://schemas.openxmlformats.org/drawingml/2006/main" noGrp="1"/>
          </p:cNvSpPr>
          <p:nvPr/>
        </p:nvSpPr>
        <p:spPr>
          <a:xfrm xmlns:a="http://schemas.openxmlformats.org/drawingml/2006/main">
            <a:off x="8239125" y="397192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Unequal time spent on each foot</a:t>
            </a:r>
          </a:p>
        </p:txBody>
      </p:sp>
      <p:sp>
        <p:nvSpPr>
          <p:cNvPr id="19" name="">
            <a:extLst xmlns:a="http://schemas.openxmlformats.org/drawingml/2006/main">
              <a:ext uri="{FF2B5EF4-FFF2-40B4-BE49-F238E27FC236}">
                <a16:creationId xmlns:a16="http://schemas.microsoft.com/office/drawing/2014/main" id="{5C476FE0-9968-49AC-9D07-498A668558F1}"/>
              </a:ext>
            </a:extLst>
          </p:cNvPr>
          <p:cNvSpPr>
            <a:spLocks xmlns:a="http://schemas.openxmlformats.org/drawingml/2006/main" noGrp="1"/>
          </p:cNvSpPr>
          <p:nvPr/>
        </p:nvSpPr>
        <p:spPr>
          <a:xfrm xmlns:a="http://schemas.openxmlformats.org/drawingml/2006/main">
            <a:off x="6286500" y="4562475"/>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l">
              <a:defRPr sz="1275" b="1">
                <a:solidFill>
                  <a:srgbClr val="20262E"/>
                </a:solidFill>
                <a:latin typeface="Arial"/>
                <a:ea typeface="Arial"/>
                <a:cs typeface="Arial"/>
              </a:defRPr>
            </a:pPr>
            <a:r>
              <a:rPr sz="1275" b="1">
                <a:solidFill>
                  <a:srgbClr val="20262E"/>
                </a:solidFill>
                <a:latin typeface="Arial"/>
                <a:ea typeface="Arial"/>
                <a:cs typeface="Arial"/>
              </a:rPr>
              <a:t>Stride-period CV</a:t>
            </a:r>
          </a:p>
        </p:txBody>
      </p:sp>
      <p:sp>
        <p:nvSpPr>
          <p:cNvPr id="20" name="">
            <a:extLst xmlns:a="http://schemas.openxmlformats.org/drawingml/2006/main">
              <a:ext uri="{FF2B5EF4-FFF2-40B4-BE49-F238E27FC236}">
                <a16:creationId xmlns:a16="http://schemas.microsoft.com/office/drawing/2014/main" id="{94D225E9-C5AB-4542-9936-0363152AA03B}"/>
              </a:ext>
            </a:extLst>
          </p:cNvPr>
          <p:cNvSpPr>
            <a:spLocks xmlns:a="http://schemas.openxmlformats.org/drawingml/2006/main" noGrp="1"/>
          </p:cNvSpPr>
          <p:nvPr/>
        </p:nvSpPr>
        <p:spPr>
          <a:xfrm xmlns:a="http://schemas.openxmlformats.org/drawingml/2006/main">
            <a:off x="8239125" y="4562475"/>
            <a:ext cx="304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5B6670"/>
                </a:solidFill>
                <a:latin typeface="Arial"/>
                <a:ea typeface="Arial"/>
                <a:cs typeface="Arial"/>
              </a:defRPr>
            </a:pPr>
            <a:r>
              <a:rPr sz="1200" b="0">
                <a:solidFill>
                  <a:srgbClr val="5B6670"/>
                </a:solidFill>
                <a:latin typeface="Arial"/>
                <a:ea typeface="Arial"/>
                <a:cs typeface="Arial"/>
              </a:rPr>
              <a:t>Irregular stride duration</a:t>
            </a:r>
          </a:p>
        </p:txBody>
      </p:sp>
      <p:sp>
        <p:nvSpPr>
          <p:cNvPr id="21" name="">
            <a:extLst xmlns:a="http://schemas.openxmlformats.org/drawingml/2006/main">
              <a:ext uri="{FF2B5EF4-FFF2-40B4-BE49-F238E27FC236}">
                <a16:creationId xmlns:a16="http://schemas.microsoft.com/office/drawing/2014/main" id="{CE794227-B22A-4E44-8D7C-F8266B561CC2}"/>
              </a:ext>
            </a:extLst>
          </p:cNvPr>
          <p:cNvSpPr>
            <a:spLocks xmlns:a="http://schemas.openxmlformats.org/drawingml/2006/main" noGrp="1"/>
          </p:cNvSpPr>
          <p:nvPr/>
        </p:nvSpPr>
        <p:spPr>
          <a:xfrm xmlns:a="http://schemas.openxmlformats.org/drawingml/2006/main">
            <a:off x="666750" y="5810250"/>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20262E"/>
                </a:solidFill>
                <a:latin typeface="Arial"/>
                <a:ea typeface="Arial"/>
                <a:cs typeface="Arial"/>
              </a:defRPr>
            </a:pPr>
            <a:r>
              <a:rPr sz="1200" b="1">
                <a:solidFill>
                  <a:srgbClr val="20262E"/>
                </a:solidFill>
                <a:latin typeface="Arial"/>
                <a:ea typeface="Arial"/>
                <a:cs typeface="Arial"/>
              </a:rPr>
              <a:t>Protocol: 64 paired trials · seed 42 · 1.0 m/s · 2 s warm-up · 10 s measurement</a:t>
            </a:r>
          </a:p>
        </p:txBody>
      </p:sp>
    </p:spTree>
    <p:extLst>
      <p:ext uri="{BB962C8B-B14F-4D97-AF65-F5344CB8AC3E}">
        <p14:creationId xmlns:p14="http://schemas.microsoft.com/office/powerpoint/2010/main" val="17241131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FBF91F-7D4E-44E7-AEA6-F0E2A84D6018}"/>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FAILED ABLATION</a:t>
            </a:r>
          </a:p>
        </p:txBody>
      </p:sp>
      <p:sp>
        <p:nvSpPr>
          <p:cNvPr id="2" name="">
            <a:extLst xmlns:a="http://schemas.openxmlformats.org/drawingml/2006/main">
              <a:ext uri="{FF2B5EF4-FFF2-40B4-BE49-F238E27FC236}">
                <a16:creationId xmlns:a16="http://schemas.microsoft.com/office/drawing/2014/main" id="{714A8AE3-B6C7-4B52-8B8B-3D8C3CE18CCF}"/>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An event-only phase reward made the measured gait worse</a:t>
            </a:r>
          </a:p>
        </p:txBody>
      </p:sp>
      <p:sp>
        <p:nvSpPr>
          <p:cNvPr id="3" name="">
            <a:extLst xmlns:a="http://schemas.openxmlformats.org/drawingml/2006/main">
              <a:ext uri="{FF2B5EF4-FFF2-40B4-BE49-F238E27FC236}">
                <a16:creationId xmlns:a16="http://schemas.microsoft.com/office/drawing/2014/main" id="{11205F20-D2AD-4B4E-B232-1C587035F9C0}"/>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7FEC02-95D2-49A9-89A8-BA867E8E218B}"/>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0E32BBAB-514D-4696-9815-562B24FBD263}"/>
              </a:ext>
            </a:extLst>
          </p:cNvPr>
          <p:cNvSpPr>
            <a:spLocks xmlns:a="http://schemas.openxmlformats.org/drawingml/2006/main" noGrp="1"/>
          </p:cNvSpPr>
          <p:nvPr/>
        </p:nvSpPr>
        <p:spPr>
          <a:xfrm xmlns:a="http://schemas.openxmlformats.org/drawingml/2006/main">
            <a:off x="666750" y="1809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20262E"/>
                </a:solidFill>
                <a:latin typeface="Arial"/>
                <a:ea typeface="Arial"/>
                <a:cs typeface="Arial"/>
              </a:defRPr>
            </a:pPr>
            <a:r>
              <a:rPr sz="1500" b="1">
                <a:solidFill>
                  <a:srgbClr val="20262E"/>
                </a:solidFill>
                <a:latin typeface="Arial"/>
                <a:ea typeface="Arial"/>
                <a:cs typeface="Arial"/>
              </a:rPr>
              <a:t>Hypothesis</a:t>
            </a:r>
          </a:p>
        </p:txBody>
      </p:sp>
      <p:sp>
        <p:nvSpPr>
          <p:cNvPr id="6" name="">
            <a:extLst xmlns:a="http://schemas.openxmlformats.org/drawingml/2006/main">
              <a:ext uri="{FF2B5EF4-FFF2-40B4-BE49-F238E27FC236}">
                <a16:creationId xmlns:a16="http://schemas.microsoft.com/office/drawing/2014/main" id="{52AC8BD4-C422-4FDF-A42D-6BD411A34F67}"/>
              </a:ext>
            </a:extLst>
          </p:cNvPr>
          <p:cNvSpPr>
            <a:spLocks xmlns:a="http://schemas.openxmlformats.org/drawingml/2006/main" noGrp="1"/>
          </p:cNvSpPr>
          <p:nvPr/>
        </p:nvSpPr>
        <p:spPr>
          <a:xfrm xmlns:a="http://schemas.openxmlformats.org/drawingml/2006/main">
            <a:off x="666750" y="2238375"/>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B6670"/>
                </a:solidFill>
                <a:latin typeface="Arial"/>
                <a:ea typeface="Arial"/>
                <a:cs typeface="Arial"/>
              </a:defRPr>
            </a:pPr>
            <a:r>
              <a:rPr sz="1350" b="0">
                <a:solidFill>
                  <a:srgbClr val="5B6670"/>
                </a:solidFill>
                <a:latin typeface="Arial"/>
                <a:ea typeface="Arial"/>
                <a:cs typeface="Arial"/>
              </a:rPr>
              <a:t>Reward each touchdown according to its phase error relative to the latest measured stride.</a:t>
            </a:r>
          </a:p>
        </p:txBody>
      </p:sp>
      <p:sp>
        <p:nvSpPr>
          <p:cNvPr id="7" name="">
            <a:extLst xmlns:a="http://schemas.openxmlformats.org/drawingml/2006/main">
              <a:ext uri="{FF2B5EF4-FFF2-40B4-BE49-F238E27FC236}">
                <a16:creationId xmlns:a16="http://schemas.microsoft.com/office/drawing/2014/main" id="{3914D355-073E-40CE-AC5C-BB19B9E5C250}"/>
              </a:ext>
            </a:extLst>
          </p:cNvPr>
          <p:cNvSpPr>
            <a:spLocks xmlns:a="http://schemas.openxmlformats.org/drawingml/2006/main" noGrp="1"/>
          </p:cNvSpPr>
          <p:nvPr/>
        </p:nvSpPr>
        <p:spPr>
          <a:xfrm xmlns:a="http://schemas.openxmlformats.org/drawingml/2006/main">
            <a:off x="666750" y="33337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C64B4B"/>
                </a:solidFill>
                <a:latin typeface="Arial"/>
                <a:ea typeface="Arial"/>
                <a:cs typeface="Arial"/>
              </a:defRPr>
            </a:pPr>
            <a:r>
              <a:rPr sz="1500" b="1">
                <a:solidFill>
                  <a:srgbClr val="C64B4B"/>
                </a:solidFill>
                <a:latin typeface="Arial"/>
                <a:ea typeface="Arial"/>
                <a:cs typeface="Arial"/>
              </a:rPr>
              <a:t>What failed</a:t>
            </a:r>
          </a:p>
        </p:txBody>
      </p:sp>
      <p:sp>
        <p:nvSpPr>
          <p:cNvPr id="8" name="">
            <a:extLst xmlns:a="http://schemas.openxmlformats.org/drawingml/2006/main">
              <a:ext uri="{FF2B5EF4-FFF2-40B4-BE49-F238E27FC236}">
                <a16:creationId xmlns:a16="http://schemas.microsoft.com/office/drawing/2014/main" id="{B9658AC3-8A1A-4FED-8B17-7B5F66331D3B}"/>
              </a:ext>
            </a:extLst>
          </p:cNvPr>
          <p:cNvSpPr>
            <a:spLocks xmlns:a="http://schemas.openxmlformats.org/drawingml/2006/main" noGrp="1"/>
          </p:cNvSpPr>
          <p:nvPr/>
        </p:nvSpPr>
        <p:spPr>
          <a:xfrm xmlns:a="http://schemas.openxmlformats.org/drawingml/2006/main">
            <a:off x="666750" y="3762375"/>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B6670"/>
                </a:solidFill>
                <a:latin typeface="Arial"/>
                <a:ea typeface="Arial"/>
                <a:cs typeface="Arial"/>
              </a:defRPr>
            </a:pPr>
            <a:r>
              <a:rPr sz="1350" b="0">
                <a:solidFill>
                  <a:srgbClr val="5B6670"/>
                </a:solidFill>
                <a:latin typeface="Arial"/>
                <a:ea typeface="Arial"/>
                <a:cs typeface="Arial"/>
              </a:rPr>
              <a:t>Feedback arrived only at sparse touchdown events. The policy had no phase reference in its observations, so improving one leg pair shifted errors into another.</a:t>
            </a:r>
          </a:p>
        </p:txBody>
      </p:sp>
      <p:graphicFrame>
        <p:nvGraphicFramePr>
          <p:cNvPr id="20" name=""/>
          <p:cNvGraphicFramePr/>
          <p:nvPr/>
        </p:nvGraphicFramePr>
        <p:xfrm>
          <a:off xmlns:a="http://schemas.openxmlformats.org/drawingml/2006/main" x="5476875" y="1857375"/>
          <a:ext xmlns:a="http://schemas.openxmlformats.org/drawingml/2006/main" cx="5810250" cy="2381250"/>
        </p:xfrm>
        <a:graphic xmlns:a="http://schemas.openxmlformats.org/drawingml/2006/main">
          <a:graphicData uri="http://schemas.openxmlformats.org/drawingml/2006/table">
            <a:tbl>
              <a:tblPr/>
              <a:tblGrid>
                <a:gridCol w="1524000"/>
                <a:gridCol w="1143000"/>
                <a:gridCol w="1285875"/>
                <a:gridCol w="1857375"/>
              </a:tblGrid>
              <a:tr h="396875">
                <a:tc>
                  <a:txBody>
                    <a:bodyPr/>
                    <a:lstStyle/>
                    <a:p>
                      <a:r>
                        <a:t>Metric</a:t>
                      </a:r>
                    </a:p>
                  </a:txBody>
                  <a:tcPr marL="91440" marR="91440" marT="45720" marB="45720"/>
                </a:tc>
                <a:tc>
                  <a:txBody>
                    <a:bodyPr/>
                    <a:lstStyle/>
                    <a:p>
                      <a:r>
                        <a:t>Reference</a:t>
                      </a:r>
                    </a:p>
                  </a:txBody>
                  <a:tcPr marL="91440" marR="91440" marT="45720" marB="45720"/>
                </a:tc>
                <a:tc>
                  <a:txBody>
                    <a:bodyPr/>
                    <a:lstStyle/>
                    <a:p>
                      <a:r>
                        <a:t>Event reward</a:t>
                      </a:r>
                    </a:p>
                  </a:txBody>
                  <a:tcPr marL="91440" marR="91440" marT="45720" marB="45720"/>
                </a:tc>
                <a:tc>
                  <a:txBody>
                    <a:bodyPr/>
                    <a:lstStyle/>
                    <a:p>
                      <a:r>
                        <a:t>Result</a:t>
                      </a:r>
                    </a:p>
                  </a:txBody>
                  <a:tcPr marL="91440" marR="91440" marT="45720" marB="45720"/>
                </a:tc>
              </a:tr>
              <a:tr h="396875">
                <a:tc>
                  <a:txBody>
                    <a:bodyPr/>
                    <a:lstStyle/>
                    <a:p>
                      <a:r>
                        <a:t>Phase MAE ↓</a:t>
                      </a:r>
                    </a:p>
                  </a:txBody>
                  <a:tcPr marL="91440" marR="91440" marT="45720" marB="45720"/>
                </a:tc>
                <a:tc>
                  <a:txBody>
                    <a:bodyPr/>
                    <a:lstStyle/>
                    <a:p>
                      <a:r>
                        <a:t>0.0288</a:t>
                      </a:r>
                    </a:p>
                  </a:txBody>
                  <a:tcPr marL="91440" marR="91440" marT="45720" marB="45720"/>
                </a:tc>
                <a:tc>
                  <a:txBody>
                    <a:bodyPr/>
                    <a:lstStyle/>
                    <a:p>
                      <a:r>
                        <a:t>0.0437</a:t>
                      </a:r>
                    </a:p>
                  </a:txBody>
                  <a:tcPr marL="91440" marR="91440" marT="45720" marB="45720"/>
                </a:tc>
                <a:tc>
                  <a:txBody>
                    <a:bodyPr/>
                    <a:lstStyle/>
                    <a:p>
                      <a:r>
                        <a:t>51.5% worse</a:t>
                      </a:r>
                    </a:p>
                  </a:txBody>
                  <a:tcPr marL="91440" marR="91440" marT="45720" marB="45720"/>
                </a:tc>
              </a:tr>
              <a:tr h="396875">
                <a:tc>
                  <a:txBody>
                    <a:bodyPr/>
                    <a:lstStyle/>
                    <a:p>
                      <a:r>
                        <a:t>Trot deviation ↓</a:t>
                      </a:r>
                    </a:p>
                  </a:txBody>
                  <a:tcPr marL="91440" marR="91440" marT="45720" marB="45720"/>
                </a:tc>
                <a:tc>
                  <a:txBody>
                    <a:bodyPr/>
                    <a:lstStyle/>
                    <a:p>
                      <a:r>
                        <a:t>0.0606</a:t>
                      </a:r>
                    </a:p>
                  </a:txBody>
                  <a:tcPr marL="91440" marR="91440" marT="45720" marB="45720"/>
                </a:tc>
                <a:tc>
                  <a:txBody>
                    <a:bodyPr/>
                    <a:lstStyle/>
                    <a:p>
                      <a:r>
                        <a:t>0.0801</a:t>
                      </a:r>
                    </a:p>
                  </a:txBody>
                  <a:tcPr marL="91440" marR="91440" marT="45720" marB="45720"/>
                </a:tc>
                <a:tc>
                  <a:txBody>
                    <a:bodyPr/>
                    <a:lstStyle/>
                    <a:p>
                      <a:r>
                        <a:t>32.3% worse</a:t>
                      </a:r>
                    </a:p>
                  </a:txBody>
                  <a:tcPr marL="91440" marR="91440" marT="45720" marB="45720"/>
                </a:tc>
              </a:tr>
              <a:tr h="396875">
                <a:tc>
                  <a:txBody>
                    <a:bodyPr/>
                    <a:lstStyle/>
                    <a:p>
                      <a:r>
                        <a:t>Duty CV ↓</a:t>
                      </a:r>
                    </a:p>
                  </a:txBody>
                  <a:tcPr marL="91440" marR="91440" marT="45720" marB="45720"/>
                </a:tc>
                <a:tc>
                  <a:txBody>
                    <a:bodyPr/>
                    <a:lstStyle/>
                    <a:p>
                      <a:r>
                        <a:t>0.1013</a:t>
                      </a:r>
                    </a:p>
                  </a:txBody>
                  <a:tcPr marL="91440" marR="91440" marT="45720" marB="45720"/>
                </a:tc>
                <a:tc>
                  <a:txBody>
                    <a:bodyPr/>
                    <a:lstStyle/>
                    <a:p>
                      <a:r>
                        <a:t>0.1211</a:t>
                      </a:r>
                    </a:p>
                  </a:txBody>
                  <a:tcPr marL="91440" marR="91440" marT="45720" marB="45720"/>
                </a:tc>
                <a:tc>
                  <a:txBody>
                    <a:bodyPr/>
                    <a:lstStyle/>
                    <a:p>
                      <a:r>
                        <a:t>19.6% worse</a:t>
                      </a:r>
                    </a:p>
                  </a:txBody>
                  <a:tcPr marL="91440" marR="91440" marT="45720" marB="45720"/>
                </a:tc>
              </a:tr>
              <a:tr h="396875">
                <a:tc>
                  <a:txBody>
                    <a:bodyPr/>
                    <a:lstStyle/>
                    <a:p>
                      <a:r>
                        <a:t>Opposition ↑</a:t>
                      </a:r>
                    </a:p>
                  </a:txBody>
                  <a:tcPr marL="91440" marR="91440" marT="45720" marB="45720"/>
                </a:tc>
                <a:tc>
                  <a:txBody>
                    <a:bodyPr/>
                    <a:lstStyle/>
                    <a:p>
                      <a:r>
                        <a:t>0.9854</a:t>
                      </a:r>
                    </a:p>
                  </a:txBody>
                  <a:tcPr marL="91440" marR="91440" marT="45720" marB="45720"/>
                </a:tc>
                <a:tc>
                  <a:txBody>
                    <a:bodyPr/>
                    <a:lstStyle/>
                    <a:p>
                      <a:r>
                        <a:t>0.9600</a:t>
                      </a:r>
                    </a:p>
                  </a:txBody>
                  <a:tcPr marL="91440" marR="91440" marT="45720" marB="45720"/>
                </a:tc>
                <a:tc>
                  <a:txBody>
                    <a:bodyPr/>
                    <a:lstStyle/>
                    <a:p>
                      <a:r>
                        <a:t>2.5 pts lower</a:t>
                      </a:r>
                    </a:p>
                  </a:txBody>
                  <a:tcPr marL="91440" marR="91440" marT="45720" marB="45720"/>
                </a:tc>
              </a:tr>
              <a:tr h="396875">
                <a:tc>
                  <a:txBody>
                    <a:bodyPr/>
                    <a:lstStyle/>
                    <a:p>
                      <a:r>
                        <a:t>Velocity error ↓</a:t>
                      </a:r>
                    </a:p>
                  </a:txBody>
                  <a:tcPr marL="91440" marR="91440" marT="45720" marB="45720"/>
                </a:tc>
                <a:tc>
                  <a:txBody>
                    <a:bodyPr/>
                    <a:lstStyle/>
                    <a:p>
                      <a:r>
                        <a:t>0.0323</a:t>
                      </a:r>
                    </a:p>
                  </a:txBody>
                  <a:tcPr marL="91440" marR="91440" marT="45720" marB="45720"/>
                </a:tc>
                <a:tc>
                  <a:txBody>
                    <a:bodyPr/>
                    <a:lstStyle/>
                    <a:p>
                      <a:r>
                        <a:t>0.0315</a:t>
                      </a:r>
                    </a:p>
                  </a:txBody>
                  <a:tcPr marL="91440" marR="91440" marT="45720" marB="45720"/>
                </a:tc>
                <a:tc>
                  <a:txBody>
                    <a:bodyPr/>
                    <a:lstStyle/>
                    <a:p>
                      <a:r>
                        <a:t>slightly better</a:t>
                      </a:r>
                    </a:p>
                  </a:txBody>
                  <a:tcPr marL="91440" marR="91440" marT="45720" marB="45720"/>
                </a:tc>
              </a:tr>
            </a:tbl>
          </a:graphicData>
        </a:graphic>
      </p:graphicFrame>
      <p:sp>
        <p:nvSpPr>
          <p:cNvPr id="10" name="">
            <a:extLst xmlns:a="http://schemas.openxmlformats.org/drawingml/2006/main">
              <a:ext uri="{FF2B5EF4-FFF2-40B4-BE49-F238E27FC236}">
                <a16:creationId xmlns:a16="http://schemas.microsoft.com/office/drawing/2014/main" id="{95A1A45D-9A75-4379-938A-31D0C3CEE706}"/>
              </a:ext>
            </a:extLst>
          </p:cNvPr>
          <p:cNvSpPr>
            <a:spLocks xmlns:a="http://schemas.openxmlformats.org/drawingml/2006/main" noGrp="1"/>
          </p:cNvSpPr>
          <p:nvPr/>
        </p:nvSpPr>
        <p:spPr>
          <a:xfrm xmlns:a="http://schemas.openxmlformats.org/drawingml/2006/main">
            <a:off x="666750" y="5286375"/>
            <a:ext cx="10572750" cy="666750"/>
          </a:xfrm>
          <a:prstGeom xmlns:a="http://schemas.openxmlformats.org/drawingml/2006/main" prst="roundRect">
            <a:avLst>
              <a:gd name="adj" fmla="val 11429"/>
            </a:avLst>
          </a:prstGeom>
          <a:solidFill xmlns:a="http://schemas.openxmlformats.org/drawingml/2006/main">
            <a:srgbClr val="EAF6FE"/>
          </a:solidFill>
          <a:ln xmlns:a="http://schemas.openxmlformats.org/drawingml/2006/main" w="9525">
            <a:solidFill>
              <a:srgbClr val="D8E1E8"/>
            </a:solidFill>
            <a:prstDash val="solid"/>
          </a:ln>
        </p:spPr>
      </p:sp>
      <p:sp>
        <p:nvSpPr>
          <p:cNvPr id="11" name="">
            <a:extLst xmlns:a="http://schemas.openxmlformats.org/drawingml/2006/main">
              <a:ext uri="{FF2B5EF4-FFF2-40B4-BE49-F238E27FC236}">
                <a16:creationId xmlns:a16="http://schemas.microsoft.com/office/drawing/2014/main" id="{71B2637A-5F07-4FFB-890C-C863FCBBD322}"/>
              </a:ext>
            </a:extLst>
          </p:cNvPr>
          <p:cNvSpPr>
            <a:spLocks xmlns:a="http://schemas.openxmlformats.org/drawingml/2006/main" noGrp="1"/>
          </p:cNvSpPr>
          <p:nvPr/>
        </p:nvSpPr>
        <p:spPr>
          <a:xfrm xmlns:a="http://schemas.openxmlformats.org/drawingml/2006/main">
            <a:off x="904875" y="54483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20262E"/>
                </a:solidFill>
                <a:latin typeface="Arial"/>
                <a:ea typeface="Arial"/>
                <a:cs typeface="Arial"/>
              </a:defRPr>
            </a:pPr>
            <a:r>
              <a:rPr sz="1425" b="1">
                <a:solidFill>
                  <a:srgbClr val="20262E"/>
                </a:solidFill>
                <a:latin typeface="Arial"/>
                <a:ea typeface="Arial"/>
                <a:cs typeface="Arial"/>
              </a:rPr>
              <a:t>Decision: stop adjusting scalar kernels and give the policy an explicit, observable cyclic reference.</a:t>
            </a:r>
          </a:p>
        </p:txBody>
      </p:sp>
    </p:spTree>
    <p:extLst>
      <p:ext uri="{BB962C8B-B14F-4D97-AF65-F5344CB8AC3E}">
        <p14:creationId xmlns:p14="http://schemas.microsoft.com/office/powerpoint/2010/main" val="63563443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BF7CC51-FF59-49CD-8415-256DEA37F835}"/>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PHASE CLOCK</a:t>
            </a:r>
          </a:p>
        </p:txBody>
      </p:sp>
      <p:sp>
        <p:nvSpPr>
          <p:cNvPr id="2" name="">
            <a:extLst xmlns:a="http://schemas.openxmlformats.org/drawingml/2006/main">
              <a:ext uri="{FF2B5EF4-FFF2-40B4-BE49-F238E27FC236}">
                <a16:creationId xmlns:a16="http://schemas.microsoft.com/office/drawing/2014/main" id="{87919282-ECF6-4DE0-9EE0-D47D2BCAAABC}"/>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The phase clock made the desired contact schedule observable</a:t>
            </a:r>
          </a:p>
        </p:txBody>
      </p:sp>
      <p:sp>
        <p:nvSpPr>
          <p:cNvPr id="3" name="">
            <a:extLst xmlns:a="http://schemas.openxmlformats.org/drawingml/2006/main">
              <a:ext uri="{FF2B5EF4-FFF2-40B4-BE49-F238E27FC236}">
                <a16:creationId xmlns:a16="http://schemas.microsoft.com/office/drawing/2014/main" id="{67E26B6F-2C36-4CD1-A8A5-23EBE0BB7A6A}"/>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1D0C87-2790-455D-9FD8-D7D1A9963874}"/>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6A59D74-197E-47D3-891A-69D23EB1E10A}"/>
              </a:ext>
            </a:extLst>
          </p:cNvPr>
          <p:cNvSpPr>
            <a:spLocks xmlns:a="http://schemas.openxmlformats.org/drawingml/2006/main" noGrp="1"/>
          </p:cNvSpPr>
          <p:nvPr/>
        </p:nvSpPr>
        <p:spPr>
          <a:xfrm xmlns:a="http://schemas.openxmlformats.org/drawingml/2006/main">
            <a:off x="619125" y="1762125"/>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CLOCK AND OBSERVATION</a:t>
            </a:r>
          </a:p>
        </p:txBody>
      </p:sp>
      <p:sp>
        <p:nvSpPr>
          <p:cNvPr id="6" name="">
            <a:extLst xmlns:a="http://schemas.openxmlformats.org/drawingml/2006/main">
              <a:ext uri="{FF2B5EF4-FFF2-40B4-BE49-F238E27FC236}">
                <a16:creationId xmlns:a16="http://schemas.microsoft.com/office/drawing/2014/main" id="{11F4A3EB-A98B-4DA0-A941-CD4A8A0017FE}"/>
              </a:ext>
            </a:extLst>
          </p:cNvPr>
          <p:cNvSpPr>
            <a:spLocks xmlns:a="http://schemas.openxmlformats.org/drawingml/2006/main" noGrp="1"/>
          </p:cNvSpPr>
          <p:nvPr/>
        </p:nvSpPr>
        <p:spPr>
          <a:xfrm xmlns:a="http://schemas.openxmlformats.org/drawingml/2006/main">
            <a:off x="619125" y="21431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596E8"/>
                </a:solidFill>
                <a:latin typeface="Arial"/>
                <a:ea typeface="Arial"/>
                <a:cs typeface="Arial"/>
              </a:defRPr>
            </a:pPr>
            <a:r>
              <a:rPr sz="1800" b="1">
                <a:solidFill>
                  <a:srgbClr val="2596E8"/>
                </a:solidFill>
                <a:latin typeface="Arial"/>
                <a:ea typeface="Arial"/>
                <a:cs typeface="Arial"/>
              </a:rPr>
              <a:t>φₜ = (2.5t) mod 1</a:t>
            </a:r>
          </a:p>
        </p:txBody>
      </p:sp>
      <p:sp>
        <p:nvSpPr>
          <p:cNvPr id="7" name="">
            <a:extLst xmlns:a="http://schemas.openxmlformats.org/drawingml/2006/main">
              <a:ext uri="{FF2B5EF4-FFF2-40B4-BE49-F238E27FC236}">
                <a16:creationId xmlns:a16="http://schemas.microsoft.com/office/drawing/2014/main" id="{FF7157E1-61EB-4494-9FFE-D1EBAEE4B380}"/>
              </a:ext>
            </a:extLst>
          </p:cNvPr>
          <p:cNvSpPr>
            <a:spLocks xmlns:a="http://schemas.openxmlformats.org/drawingml/2006/main" noGrp="1"/>
          </p:cNvSpPr>
          <p:nvPr/>
        </p:nvSpPr>
        <p:spPr>
          <a:xfrm xmlns:a="http://schemas.openxmlformats.org/drawingml/2006/main">
            <a:off x="619125" y="26670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1">
                <a:solidFill>
                  <a:srgbClr val="20262E"/>
                </a:solidFill>
                <a:latin typeface="Arial"/>
                <a:ea typeface="Arial"/>
                <a:cs typeface="Arial"/>
              </a:defRPr>
            </a:pPr>
            <a:r>
              <a:rPr sz="1575" b="1">
                <a:solidFill>
                  <a:srgbClr val="20262E"/>
                </a:solidFill>
                <a:latin typeface="Arial"/>
                <a:ea typeface="Arial"/>
                <a:cs typeface="Arial"/>
              </a:rPr>
              <a:t>z_phase = [sin(2πφₜ), cos(2πφₜ)]</a:t>
            </a:r>
          </a:p>
        </p:txBody>
      </p:sp>
      <p:sp>
        <p:nvSpPr>
          <p:cNvPr id="8" name="">
            <a:extLst xmlns:a="http://schemas.openxmlformats.org/drawingml/2006/main">
              <a:ext uri="{FF2B5EF4-FFF2-40B4-BE49-F238E27FC236}">
                <a16:creationId xmlns:a16="http://schemas.microsoft.com/office/drawing/2014/main" id="{8573198D-EAB0-4FBE-BC6E-CB97E8F13671}"/>
              </a:ext>
            </a:extLst>
          </p:cNvPr>
          <p:cNvSpPr>
            <a:spLocks xmlns:a="http://schemas.openxmlformats.org/drawingml/2006/main" noGrp="1"/>
          </p:cNvSpPr>
          <p:nvPr/>
        </p:nvSpPr>
        <p:spPr>
          <a:xfrm xmlns:a="http://schemas.openxmlformats.org/drawingml/2006/main">
            <a:off x="666750" y="3219450"/>
            <a:ext cx="323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5B6670"/>
                </a:solidFill>
                <a:latin typeface="Arial"/>
                <a:ea typeface="Arial"/>
                <a:cs typeface="Arial"/>
              </a:defRPr>
            </a:pPr>
            <a:r>
              <a:rPr sz="1275" b="0">
                <a:solidFill>
                  <a:srgbClr val="5B6670"/>
                </a:solidFill>
                <a:latin typeface="Arial"/>
                <a:ea typeface="Arial"/>
                <a:cs typeface="Arial"/>
              </a:rPr>
              <a:t>Sine and cosine encode a continuous cycle without a jump between phase 1 and phase 0.</a:t>
            </a:r>
          </a:p>
        </p:txBody>
      </p:sp>
      <p:sp>
        <p:nvSpPr>
          <p:cNvPr id="9" name="">
            <a:extLst xmlns:a="http://schemas.openxmlformats.org/drawingml/2006/main">
              <a:ext uri="{FF2B5EF4-FFF2-40B4-BE49-F238E27FC236}">
                <a16:creationId xmlns:a16="http://schemas.microsoft.com/office/drawing/2014/main" id="{BED03BFE-E407-42F1-9222-334A55E704B7}"/>
              </a:ext>
            </a:extLst>
          </p:cNvPr>
          <p:cNvSpPr>
            <a:spLocks xmlns:a="http://schemas.openxmlformats.org/drawingml/2006/main" noGrp="1"/>
          </p:cNvSpPr>
          <p:nvPr/>
        </p:nvSpPr>
        <p:spPr>
          <a:xfrm xmlns:a="http://schemas.openxmlformats.org/drawingml/2006/main">
            <a:off x="4476750" y="1762125"/>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DESIRED TROT SCHEDULE</a:t>
            </a:r>
          </a:p>
        </p:txBody>
      </p:sp>
      <p:sp>
        <p:nvSpPr>
          <p:cNvPr id="10" name="">
            <a:extLst xmlns:a="http://schemas.openxmlformats.org/drawingml/2006/main">
              <a:ext uri="{FF2B5EF4-FFF2-40B4-BE49-F238E27FC236}">
                <a16:creationId xmlns:a16="http://schemas.microsoft.com/office/drawing/2014/main" id="{5D1BC848-92AB-420F-A8A3-EF52059E21A3}"/>
              </a:ext>
            </a:extLst>
          </p:cNvPr>
          <p:cNvSpPr>
            <a:spLocks xmlns:a="http://schemas.openxmlformats.org/drawingml/2006/main" noGrp="1"/>
          </p:cNvSpPr>
          <p:nvPr/>
        </p:nvSpPr>
        <p:spPr>
          <a:xfrm xmlns:a="http://schemas.openxmlformats.org/drawingml/2006/main">
            <a:off x="4476750" y="22383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LF</a:t>
            </a:r>
          </a:p>
        </p:txBody>
      </p:sp>
      <p:sp>
        <p:nvSpPr>
          <p:cNvPr id="11" name="">
            <a:extLst xmlns:a="http://schemas.openxmlformats.org/drawingml/2006/main">
              <a:ext uri="{FF2B5EF4-FFF2-40B4-BE49-F238E27FC236}">
                <a16:creationId xmlns:a16="http://schemas.microsoft.com/office/drawing/2014/main" id="{B5A86D78-8B85-4C94-B6E3-F9A9A575DD37}"/>
              </a:ext>
            </a:extLst>
          </p:cNvPr>
          <p:cNvSpPr>
            <a:spLocks xmlns:a="http://schemas.openxmlformats.org/drawingml/2006/main" noGrp="1"/>
          </p:cNvSpPr>
          <p:nvPr/>
        </p:nvSpPr>
        <p:spPr>
          <a:xfrm xmlns:a="http://schemas.openxmlformats.org/drawingml/2006/main">
            <a:off x="5048250" y="2266950"/>
            <a:ext cx="5715000" cy="209550"/>
          </a:xfrm>
          <a:prstGeom xmlns:a="http://schemas.openxmlformats.org/drawingml/2006/main" prst="rect">
            <a:avLst/>
          </a:prstGeom>
          <a:solidFill xmlns:a="http://schemas.openxmlformats.org/drawingml/2006/main">
            <a:srgbClr val="E6EBEF"/>
          </a:solidFill>
          <a:ln xmlns:a="http://schemas.openxmlformats.org/drawingml/2006/main" w="9525">
            <a:solidFill>
              <a:srgbClr val="E6EBEF"/>
            </a:solidFill>
            <a:prstDash val="solid"/>
          </a:ln>
        </p:spPr>
      </p:sp>
      <p:sp>
        <p:nvSpPr>
          <p:cNvPr id="12" name="">
            <a:extLst xmlns:a="http://schemas.openxmlformats.org/drawingml/2006/main">
              <a:ext uri="{FF2B5EF4-FFF2-40B4-BE49-F238E27FC236}">
                <a16:creationId xmlns:a16="http://schemas.microsoft.com/office/drawing/2014/main" id="{B8F395C0-1BFB-4F96-9281-E205CE8AC9DA}"/>
              </a:ext>
            </a:extLst>
          </p:cNvPr>
          <p:cNvSpPr>
            <a:spLocks xmlns:a="http://schemas.openxmlformats.org/drawingml/2006/main" noGrp="1"/>
          </p:cNvSpPr>
          <p:nvPr/>
        </p:nvSpPr>
        <p:spPr>
          <a:xfrm xmlns:a="http://schemas.openxmlformats.org/drawingml/2006/main">
            <a:off x="5048250" y="2266950"/>
            <a:ext cx="314325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13" name="">
            <a:extLst xmlns:a="http://schemas.openxmlformats.org/drawingml/2006/main">
              <a:ext uri="{FF2B5EF4-FFF2-40B4-BE49-F238E27FC236}">
                <a16:creationId xmlns:a16="http://schemas.microsoft.com/office/drawing/2014/main" id="{1664C244-BE32-45AB-813A-D9EAC6DFC9BD}"/>
              </a:ext>
            </a:extLst>
          </p:cNvPr>
          <p:cNvSpPr>
            <a:spLocks xmlns:a="http://schemas.openxmlformats.org/drawingml/2006/main" noGrp="1"/>
          </p:cNvSpPr>
          <p:nvPr/>
        </p:nvSpPr>
        <p:spPr>
          <a:xfrm xmlns:a="http://schemas.openxmlformats.org/drawingml/2006/main">
            <a:off x="4476750" y="28289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RF</a:t>
            </a:r>
          </a:p>
        </p:txBody>
      </p:sp>
      <p:sp>
        <p:nvSpPr>
          <p:cNvPr id="14" name="">
            <a:extLst xmlns:a="http://schemas.openxmlformats.org/drawingml/2006/main">
              <a:ext uri="{FF2B5EF4-FFF2-40B4-BE49-F238E27FC236}">
                <a16:creationId xmlns:a16="http://schemas.microsoft.com/office/drawing/2014/main" id="{5B8247BB-23E4-436D-A393-5C7B2509FFFA}"/>
              </a:ext>
            </a:extLst>
          </p:cNvPr>
          <p:cNvSpPr>
            <a:spLocks xmlns:a="http://schemas.openxmlformats.org/drawingml/2006/main" noGrp="1"/>
          </p:cNvSpPr>
          <p:nvPr/>
        </p:nvSpPr>
        <p:spPr>
          <a:xfrm xmlns:a="http://schemas.openxmlformats.org/drawingml/2006/main">
            <a:off x="5048250" y="2857500"/>
            <a:ext cx="5715000" cy="209550"/>
          </a:xfrm>
          <a:prstGeom xmlns:a="http://schemas.openxmlformats.org/drawingml/2006/main" prst="rect">
            <a:avLst/>
          </a:prstGeom>
          <a:solidFill xmlns:a="http://schemas.openxmlformats.org/drawingml/2006/main">
            <a:srgbClr val="E6EBEF"/>
          </a:solidFill>
          <a:ln xmlns:a="http://schemas.openxmlformats.org/drawingml/2006/main" w="9525">
            <a:solidFill>
              <a:srgbClr val="E6EBEF"/>
            </a:solidFill>
            <a:prstDash val="solid"/>
          </a:ln>
        </p:spPr>
      </p:sp>
      <p:sp>
        <p:nvSpPr>
          <p:cNvPr id="15" name="">
            <a:extLst xmlns:a="http://schemas.openxmlformats.org/drawingml/2006/main">
              <a:ext uri="{FF2B5EF4-FFF2-40B4-BE49-F238E27FC236}">
                <a16:creationId xmlns:a16="http://schemas.microsoft.com/office/drawing/2014/main" id="{4313A586-C480-40C4-AB13-0C652D542BBE}"/>
              </a:ext>
            </a:extLst>
          </p:cNvPr>
          <p:cNvSpPr>
            <a:spLocks xmlns:a="http://schemas.openxmlformats.org/drawingml/2006/main" noGrp="1"/>
          </p:cNvSpPr>
          <p:nvPr/>
        </p:nvSpPr>
        <p:spPr>
          <a:xfrm xmlns:a="http://schemas.openxmlformats.org/drawingml/2006/main">
            <a:off x="7905750" y="2857500"/>
            <a:ext cx="285750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16" name="">
            <a:extLst xmlns:a="http://schemas.openxmlformats.org/drawingml/2006/main">
              <a:ext uri="{FF2B5EF4-FFF2-40B4-BE49-F238E27FC236}">
                <a16:creationId xmlns:a16="http://schemas.microsoft.com/office/drawing/2014/main" id="{AD50F641-BC32-4C9B-9564-D7AC6ABC5FCA}"/>
              </a:ext>
            </a:extLst>
          </p:cNvPr>
          <p:cNvSpPr>
            <a:spLocks xmlns:a="http://schemas.openxmlformats.org/drawingml/2006/main" noGrp="1"/>
          </p:cNvSpPr>
          <p:nvPr/>
        </p:nvSpPr>
        <p:spPr>
          <a:xfrm xmlns:a="http://schemas.openxmlformats.org/drawingml/2006/main">
            <a:off x="5048250" y="2857500"/>
            <a:ext cx="28575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17" name="">
            <a:extLst xmlns:a="http://schemas.openxmlformats.org/drawingml/2006/main">
              <a:ext uri="{FF2B5EF4-FFF2-40B4-BE49-F238E27FC236}">
                <a16:creationId xmlns:a16="http://schemas.microsoft.com/office/drawing/2014/main" id="{C186CD58-9275-4B29-AD64-6596BB2F03FD}"/>
              </a:ext>
            </a:extLst>
          </p:cNvPr>
          <p:cNvSpPr>
            <a:spLocks xmlns:a="http://schemas.openxmlformats.org/drawingml/2006/main" noGrp="1"/>
          </p:cNvSpPr>
          <p:nvPr/>
        </p:nvSpPr>
        <p:spPr>
          <a:xfrm xmlns:a="http://schemas.openxmlformats.org/drawingml/2006/main">
            <a:off x="4476750" y="341947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LH</a:t>
            </a:r>
          </a:p>
        </p:txBody>
      </p:sp>
      <p:sp>
        <p:nvSpPr>
          <p:cNvPr id="18" name="">
            <a:extLst xmlns:a="http://schemas.openxmlformats.org/drawingml/2006/main">
              <a:ext uri="{FF2B5EF4-FFF2-40B4-BE49-F238E27FC236}">
                <a16:creationId xmlns:a16="http://schemas.microsoft.com/office/drawing/2014/main" id="{5AFC5B4F-349A-4B4E-BDA5-D2B4F60AFCA5}"/>
              </a:ext>
            </a:extLst>
          </p:cNvPr>
          <p:cNvSpPr>
            <a:spLocks xmlns:a="http://schemas.openxmlformats.org/drawingml/2006/main" noGrp="1"/>
          </p:cNvSpPr>
          <p:nvPr/>
        </p:nvSpPr>
        <p:spPr>
          <a:xfrm xmlns:a="http://schemas.openxmlformats.org/drawingml/2006/main">
            <a:off x="5048250" y="3448050"/>
            <a:ext cx="5715000" cy="209550"/>
          </a:xfrm>
          <a:prstGeom xmlns:a="http://schemas.openxmlformats.org/drawingml/2006/main" prst="rect">
            <a:avLst/>
          </a:prstGeom>
          <a:solidFill xmlns:a="http://schemas.openxmlformats.org/drawingml/2006/main">
            <a:srgbClr val="E6EBEF"/>
          </a:solidFill>
          <a:ln xmlns:a="http://schemas.openxmlformats.org/drawingml/2006/main" w="9525">
            <a:solidFill>
              <a:srgbClr val="E6EBEF"/>
            </a:solidFill>
            <a:prstDash val="solid"/>
          </a:ln>
        </p:spPr>
      </p:sp>
      <p:sp>
        <p:nvSpPr>
          <p:cNvPr id="19" name="">
            <a:extLst xmlns:a="http://schemas.openxmlformats.org/drawingml/2006/main">
              <a:ext uri="{FF2B5EF4-FFF2-40B4-BE49-F238E27FC236}">
                <a16:creationId xmlns:a16="http://schemas.microsoft.com/office/drawing/2014/main" id="{BC57E144-90C7-4336-B21A-37DE0A90D8A2}"/>
              </a:ext>
            </a:extLst>
          </p:cNvPr>
          <p:cNvSpPr>
            <a:spLocks xmlns:a="http://schemas.openxmlformats.org/drawingml/2006/main" noGrp="1"/>
          </p:cNvSpPr>
          <p:nvPr/>
        </p:nvSpPr>
        <p:spPr>
          <a:xfrm xmlns:a="http://schemas.openxmlformats.org/drawingml/2006/main">
            <a:off x="7905750" y="3448050"/>
            <a:ext cx="285750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20" name="">
            <a:extLst xmlns:a="http://schemas.openxmlformats.org/drawingml/2006/main">
              <a:ext uri="{FF2B5EF4-FFF2-40B4-BE49-F238E27FC236}">
                <a16:creationId xmlns:a16="http://schemas.microsoft.com/office/drawing/2014/main" id="{E7CE70F7-16F2-4B9C-9FDC-BCF1D63D94E8}"/>
              </a:ext>
            </a:extLst>
          </p:cNvPr>
          <p:cNvSpPr>
            <a:spLocks xmlns:a="http://schemas.openxmlformats.org/drawingml/2006/main" noGrp="1"/>
          </p:cNvSpPr>
          <p:nvPr/>
        </p:nvSpPr>
        <p:spPr>
          <a:xfrm xmlns:a="http://schemas.openxmlformats.org/drawingml/2006/main">
            <a:off x="5048250" y="3448050"/>
            <a:ext cx="28575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21" name="">
            <a:extLst xmlns:a="http://schemas.openxmlformats.org/drawingml/2006/main">
              <a:ext uri="{FF2B5EF4-FFF2-40B4-BE49-F238E27FC236}">
                <a16:creationId xmlns:a16="http://schemas.microsoft.com/office/drawing/2014/main" id="{94D14579-5A0A-451E-9FD3-FA411B126E04}"/>
              </a:ext>
            </a:extLst>
          </p:cNvPr>
          <p:cNvSpPr>
            <a:spLocks xmlns:a="http://schemas.openxmlformats.org/drawingml/2006/main" noGrp="1"/>
          </p:cNvSpPr>
          <p:nvPr/>
        </p:nvSpPr>
        <p:spPr>
          <a:xfrm xmlns:a="http://schemas.openxmlformats.org/drawingml/2006/main">
            <a:off x="4476750" y="4010025"/>
            <a:ext cx="42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RH</a:t>
            </a:r>
          </a:p>
        </p:txBody>
      </p:sp>
      <p:sp>
        <p:nvSpPr>
          <p:cNvPr id="22" name="">
            <a:extLst xmlns:a="http://schemas.openxmlformats.org/drawingml/2006/main">
              <a:ext uri="{FF2B5EF4-FFF2-40B4-BE49-F238E27FC236}">
                <a16:creationId xmlns:a16="http://schemas.microsoft.com/office/drawing/2014/main" id="{0EE57B8C-1AFE-4F27-8B0A-476C2EEE6BB1}"/>
              </a:ext>
            </a:extLst>
          </p:cNvPr>
          <p:cNvSpPr>
            <a:spLocks xmlns:a="http://schemas.openxmlformats.org/drawingml/2006/main" noGrp="1"/>
          </p:cNvSpPr>
          <p:nvPr/>
        </p:nvSpPr>
        <p:spPr>
          <a:xfrm xmlns:a="http://schemas.openxmlformats.org/drawingml/2006/main">
            <a:off x="5048250" y="4038600"/>
            <a:ext cx="5715000" cy="209550"/>
          </a:xfrm>
          <a:prstGeom xmlns:a="http://schemas.openxmlformats.org/drawingml/2006/main" prst="rect">
            <a:avLst/>
          </a:prstGeom>
          <a:solidFill xmlns:a="http://schemas.openxmlformats.org/drawingml/2006/main">
            <a:srgbClr val="E6EBEF"/>
          </a:solidFill>
          <a:ln xmlns:a="http://schemas.openxmlformats.org/drawingml/2006/main" w="9525">
            <a:solidFill>
              <a:srgbClr val="E6EBEF"/>
            </a:solidFill>
            <a:prstDash val="solid"/>
          </a:ln>
        </p:spPr>
      </p:sp>
      <p:sp>
        <p:nvSpPr>
          <p:cNvPr id="23" name="">
            <a:extLst xmlns:a="http://schemas.openxmlformats.org/drawingml/2006/main">
              <a:ext uri="{FF2B5EF4-FFF2-40B4-BE49-F238E27FC236}">
                <a16:creationId xmlns:a16="http://schemas.microsoft.com/office/drawing/2014/main" id="{F939A989-1903-46BE-BF5F-B7E94A7FC80F}"/>
              </a:ext>
            </a:extLst>
          </p:cNvPr>
          <p:cNvSpPr>
            <a:spLocks xmlns:a="http://schemas.openxmlformats.org/drawingml/2006/main" noGrp="1"/>
          </p:cNvSpPr>
          <p:nvPr/>
        </p:nvSpPr>
        <p:spPr>
          <a:xfrm xmlns:a="http://schemas.openxmlformats.org/drawingml/2006/main">
            <a:off x="5048250" y="4038600"/>
            <a:ext cx="3143250" cy="209550"/>
          </a:xfrm>
          <a:prstGeom xmlns:a="http://schemas.openxmlformats.org/drawingml/2006/main" prst="rect">
            <a:avLst/>
          </a:prstGeom>
          <a:solidFill xmlns:a="http://schemas.openxmlformats.org/drawingml/2006/main">
            <a:srgbClr val="2596E8"/>
          </a:solidFill>
          <a:ln xmlns:a="http://schemas.openxmlformats.org/drawingml/2006/main" w="9525">
            <a:solidFill>
              <a:srgbClr val="2596E8"/>
            </a:solidFill>
            <a:prstDash val="solid"/>
          </a:ln>
        </p:spPr>
      </p:sp>
      <p:sp>
        <p:nvSpPr>
          <p:cNvPr id="24" name="">
            <a:extLst xmlns:a="http://schemas.openxmlformats.org/drawingml/2006/main">
              <a:ext uri="{FF2B5EF4-FFF2-40B4-BE49-F238E27FC236}">
                <a16:creationId xmlns:a16="http://schemas.microsoft.com/office/drawing/2014/main" id="{1D7BFEB8-BE6E-4C8E-A3EB-435956894374}"/>
              </a:ext>
            </a:extLst>
          </p:cNvPr>
          <p:cNvSpPr>
            <a:spLocks xmlns:a="http://schemas.openxmlformats.org/drawingml/2006/main" noGrp="1"/>
          </p:cNvSpPr>
          <p:nvPr/>
        </p:nvSpPr>
        <p:spPr>
          <a:xfrm xmlns:a="http://schemas.openxmlformats.org/drawingml/2006/main">
            <a:off x="5000625" y="47148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0">
                <a:solidFill>
                  <a:srgbClr val="5B6670"/>
                </a:solidFill>
                <a:latin typeface="Arial"/>
                <a:ea typeface="Arial"/>
                <a:cs typeface="Arial"/>
              </a:defRPr>
            </a:pPr>
            <a:r>
              <a:rPr sz="1050" b="0">
                <a:solidFill>
                  <a:srgbClr val="5B6670"/>
                </a:solidFill>
                <a:latin typeface="Arial"/>
                <a:ea typeface="Arial"/>
                <a:cs typeface="Arial"/>
              </a:rPr>
              <a:t>0</a:t>
            </a:r>
          </a:p>
        </p:txBody>
      </p:sp>
      <p:sp>
        <p:nvSpPr>
          <p:cNvPr id="25" name="">
            <a:extLst xmlns:a="http://schemas.openxmlformats.org/drawingml/2006/main">
              <a:ext uri="{FF2B5EF4-FFF2-40B4-BE49-F238E27FC236}">
                <a16:creationId xmlns:a16="http://schemas.microsoft.com/office/drawing/2014/main" id="{A67E0431-D555-4096-830D-F002B0BD2446}"/>
              </a:ext>
            </a:extLst>
          </p:cNvPr>
          <p:cNvSpPr>
            <a:spLocks xmlns:a="http://schemas.openxmlformats.org/drawingml/2006/main" noGrp="1"/>
          </p:cNvSpPr>
          <p:nvPr/>
        </p:nvSpPr>
        <p:spPr>
          <a:xfrm xmlns:a="http://schemas.openxmlformats.org/drawingml/2006/main">
            <a:off x="7762875" y="4714875"/>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0">
                <a:solidFill>
                  <a:srgbClr val="5B6670"/>
                </a:solidFill>
                <a:latin typeface="Arial"/>
                <a:ea typeface="Arial"/>
                <a:cs typeface="Arial"/>
              </a:defRPr>
            </a:pPr>
            <a:r>
              <a:rPr sz="1050" b="0">
                <a:solidFill>
                  <a:srgbClr val="5B6670"/>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A59A7F7D-DD46-45E4-A2F3-60902673C2A4}"/>
              </a:ext>
            </a:extLst>
          </p:cNvPr>
          <p:cNvSpPr>
            <a:spLocks xmlns:a="http://schemas.openxmlformats.org/drawingml/2006/main" noGrp="1"/>
          </p:cNvSpPr>
          <p:nvPr/>
        </p:nvSpPr>
        <p:spPr>
          <a:xfrm xmlns:a="http://schemas.openxmlformats.org/drawingml/2006/main">
            <a:off x="10287000" y="4714875"/>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0">
                <a:solidFill>
                  <a:srgbClr val="5B6670"/>
                </a:solidFill>
                <a:latin typeface="Arial"/>
                <a:ea typeface="Arial"/>
                <a:cs typeface="Arial"/>
              </a:defRPr>
            </a:pPr>
            <a:r>
              <a:rPr sz="1050" b="0">
                <a:solidFill>
                  <a:srgbClr val="5B6670"/>
                </a:solidFill>
                <a:latin typeface="Arial"/>
                <a:ea typeface="Arial"/>
                <a:cs typeface="Arial"/>
              </a:rPr>
              <a:t>1 cycle</a:t>
            </a:r>
          </a:p>
        </p:txBody>
      </p:sp>
      <p:sp>
        <p:nvSpPr>
          <p:cNvPr id="27" name="">
            <a:extLst xmlns:a="http://schemas.openxmlformats.org/drawingml/2006/main">
              <a:ext uri="{FF2B5EF4-FFF2-40B4-BE49-F238E27FC236}">
                <a16:creationId xmlns:a16="http://schemas.microsoft.com/office/drawing/2014/main" id="{5E802421-C292-48CD-9699-39AAA6BA856E}"/>
              </a:ext>
            </a:extLst>
          </p:cNvPr>
          <p:cNvSpPr>
            <a:spLocks xmlns:a="http://schemas.openxmlformats.org/drawingml/2006/main" noGrp="1"/>
          </p:cNvSpPr>
          <p:nvPr/>
        </p:nvSpPr>
        <p:spPr>
          <a:xfrm xmlns:a="http://schemas.openxmlformats.org/drawingml/2006/main">
            <a:off x="4000500" y="509587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20262E"/>
                </a:solidFill>
                <a:latin typeface="Arial"/>
                <a:ea typeface="Arial"/>
                <a:cs typeface="Arial"/>
              </a:defRPr>
            </a:pPr>
            <a:r>
              <a:rPr sz="1650" b="1">
                <a:solidFill>
                  <a:srgbClr val="20262E"/>
                </a:solidFill>
                <a:latin typeface="Arial"/>
                <a:ea typeface="Arial"/>
                <a:cs typeface="Arial"/>
              </a:rPr>
              <a:t>r_phase = 1 − ¼ Σᵢ |cᵢ − c*ᵢ(φₜ)|</a:t>
            </a:r>
          </a:p>
        </p:txBody>
      </p:sp>
      <p:sp>
        <p:nvSpPr>
          <p:cNvPr id="28" name="">
            <a:extLst xmlns:a="http://schemas.openxmlformats.org/drawingml/2006/main">
              <a:ext uri="{FF2B5EF4-FFF2-40B4-BE49-F238E27FC236}">
                <a16:creationId xmlns:a16="http://schemas.microsoft.com/office/drawing/2014/main" id="{90BFF876-8FE5-40FC-8D1C-2519CA5E9BB8}"/>
              </a:ext>
            </a:extLst>
          </p:cNvPr>
          <p:cNvSpPr>
            <a:spLocks xmlns:a="http://schemas.openxmlformats.org/drawingml/2006/main" noGrp="1"/>
          </p:cNvSpPr>
          <p:nvPr/>
        </p:nvSpPr>
        <p:spPr>
          <a:xfrm xmlns:a="http://schemas.openxmlformats.org/drawingml/2006/main">
            <a:off x="666750" y="5715000"/>
            <a:ext cx="10858500" cy="428625"/>
          </a:xfrm>
          <a:prstGeom xmlns:a="http://schemas.openxmlformats.org/drawingml/2006/main" prst="roundRect">
            <a:avLst>
              <a:gd name="adj" fmla="val 17778"/>
            </a:avLst>
          </a:prstGeom>
          <a:solidFill xmlns:a="http://schemas.openxmlformats.org/drawingml/2006/main">
            <a:srgbClr val="EAF6FE"/>
          </a:solidFill>
          <a:ln xmlns:a="http://schemas.openxmlformats.org/drawingml/2006/main" w="9525">
            <a:solidFill>
              <a:srgbClr val="D8E1E8"/>
            </a:solidFill>
            <a:prstDash val="solid"/>
          </a:ln>
        </p:spPr>
      </p:sp>
      <p:sp>
        <p:nvSpPr>
          <p:cNvPr id="29" name="">
            <a:extLst xmlns:a="http://schemas.openxmlformats.org/drawingml/2006/main">
              <a:ext uri="{FF2B5EF4-FFF2-40B4-BE49-F238E27FC236}">
                <a16:creationId xmlns:a16="http://schemas.microsoft.com/office/drawing/2014/main" id="{78E99A5E-7DAF-41FE-B0F0-9286278C026D}"/>
              </a:ext>
            </a:extLst>
          </p:cNvPr>
          <p:cNvSpPr>
            <a:spLocks xmlns:a="http://schemas.openxmlformats.org/drawingml/2006/main" noGrp="1"/>
          </p:cNvSpPr>
          <p:nvPr/>
        </p:nvSpPr>
        <p:spPr>
          <a:xfrm xmlns:a="http://schemas.openxmlformats.org/drawingml/2006/main">
            <a:off x="904875" y="57912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Gate: vx* &gt; 0.3 m/s, |vy*| &lt; 0.1 m/s, and |ωz*| &lt; 0.1 rad/s</a:t>
            </a:r>
          </a:p>
        </p:txBody>
      </p:sp>
    </p:spTree>
    <p:extLst>
      <p:ext uri="{BB962C8B-B14F-4D97-AF65-F5344CB8AC3E}">
        <p14:creationId xmlns:p14="http://schemas.microsoft.com/office/powerpoint/2010/main" val="13514813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2CDDD68-9662-4830-9782-C2E881DBBC22}"/>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CONTROLLED CHANGE</a:t>
            </a:r>
          </a:p>
        </p:txBody>
      </p:sp>
      <p:sp>
        <p:nvSpPr>
          <p:cNvPr id="2" name="">
            <a:extLst xmlns:a="http://schemas.openxmlformats.org/drawingml/2006/main">
              <a:ext uri="{FF2B5EF4-FFF2-40B4-BE49-F238E27FC236}">
                <a16:creationId xmlns:a16="http://schemas.microsoft.com/office/drawing/2014/main" id="{C710BBAB-1357-4382-B2E3-91C03DD7E62C}"/>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Checkpoint migration isolated the effect of the two new observations</a:t>
            </a:r>
          </a:p>
        </p:txBody>
      </p:sp>
      <p:sp>
        <p:nvSpPr>
          <p:cNvPr id="3" name="">
            <a:extLst xmlns:a="http://schemas.openxmlformats.org/drawingml/2006/main">
              <a:ext uri="{FF2B5EF4-FFF2-40B4-BE49-F238E27FC236}">
                <a16:creationId xmlns:a16="http://schemas.microsoft.com/office/drawing/2014/main" id="{765EF528-D1EB-4CF3-8FED-83C31081794A}"/>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F725A34-2A7C-4CD9-8A91-CC6538E7703C}"/>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A76F781F-8DF2-4D9A-9EAD-548D5C1EA63C}"/>
              </a:ext>
            </a:extLst>
          </p:cNvPr>
          <p:cNvSpPr>
            <a:spLocks xmlns:a="http://schemas.openxmlformats.org/drawingml/2006/main" noGrp="1"/>
          </p:cNvSpPr>
          <p:nvPr/>
        </p:nvSpPr>
        <p:spPr>
          <a:xfrm xmlns:a="http://schemas.openxmlformats.org/drawingml/2006/main">
            <a:off x="714375" y="2286000"/>
            <a:ext cx="2095500" cy="1381125"/>
          </a:xfrm>
          <a:prstGeom xmlns:a="http://schemas.openxmlformats.org/drawingml/2006/main" prst="roundRect">
            <a:avLst>
              <a:gd name="adj" fmla="val 5517"/>
            </a:avLst>
          </a:prstGeom>
          <a:solidFill xmlns:a="http://schemas.openxmlformats.org/drawingml/2006/main">
            <a:srgbClr val="F6FAFD"/>
          </a:solidFill>
          <a:ln xmlns:a="http://schemas.openxmlformats.org/drawingml/2006/main" w="9525">
            <a:solidFill>
              <a:srgbClr val="D8E1E8"/>
            </a:solidFill>
            <a:prstDash val="solid"/>
          </a:ln>
        </p:spPr>
      </p:sp>
      <p:sp>
        <p:nvSpPr>
          <p:cNvPr id="6" name="">
            <a:extLst xmlns:a="http://schemas.openxmlformats.org/drawingml/2006/main">
              <a:ext uri="{FF2B5EF4-FFF2-40B4-BE49-F238E27FC236}">
                <a16:creationId xmlns:a16="http://schemas.microsoft.com/office/drawing/2014/main" id="{07146AE8-99BE-44E4-A49C-5FF00F76A5E7}"/>
              </a:ext>
            </a:extLst>
          </p:cNvPr>
          <p:cNvSpPr>
            <a:spLocks xmlns:a="http://schemas.openxmlformats.org/drawingml/2006/main" noGrp="1"/>
          </p:cNvSpPr>
          <p:nvPr/>
        </p:nvSpPr>
        <p:spPr>
          <a:xfrm xmlns:a="http://schemas.openxmlformats.org/drawingml/2006/main">
            <a:off x="857250" y="24003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2596E8"/>
                </a:solidFill>
                <a:latin typeface="Arial"/>
                <a:ea typeface="Arial"/>
                <a:cs typeface="Arial"/>
              </a:defRPr>
            </a:pPr>
            <a:r>
              <a:rPr sz="1050" b="1">
                <a:solidFill>
                  <a:srgbClr val="2596E8"/>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8271FAE-CB98-43DE-9C2C-F68607425C1E}"/>
              </a:ext>
            </a:extLst>
          </p:cNvPr>
          <p:cNvSpPr>
            <a:spLocks xmlns:a="http://schemas.openxmlformats.org/drawingml/2006/main" noGrp="1"/>
          </p:cNvSpPr>
          <p:nvPr/>
        </p:nvSpPr>
        <p:spPr>
          <a:xfrm xmlns:a="http://schemas.openxmlformats.org/drawingml/2006/main">
            <a:off x="904875" y="2714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Reference policy</a:t>
            </a:r>
          </a:p>
        </p:txBody>
      </p:sp>
      <p:sp>
        <p:nvSpPr>
          <p:cNvPr id="8" name="">
            <a:extLst xmlns:a="http://schemas.openxmlformats.org/drawingml/2006/main">
              <a:ext uri="{FF2B5EF4-FFF2-40B4-BE49-F238E27FC236}">
                <a16:creationId xmlns:a16="http://schemas.microsoft.com/office/drawing/2014/main" id="{1A77317C-722D-465C-8994-16CFB2F3F074}"/>
              </a:ext>
            </a:extLst>
          </p:cNvPr>
          <p:cNvSpPr>
            <a:spLocks xmlns:a="http://schemas.openxmlformats.org/drawingml/2006/main" noGrp="1"/>
          </p:cNvSpPr>
          <p:nvPr/>
        </p:nvSpPr>
        <p:spPr>
          <a:xfrm xmlns:a="http://schemas.openxmlformats.org/drawingml/2006/main">
            <a:off x="904875" y="30956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235 observations</a:t>
            </a:r>
          </a:p>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model_2996.pt</a:t>
            </a:r>
          </a:p>
        </p:txBody>
      </p:sp>
      <p:sp>
        <p:nvSpPr>
          <p:cNvPr id="9" name="">
            <a:extLst xmlns:a="http://schemas.openxmlformats.org/drawingml/2006/main">
              <a:ext uri="{FF2B5EF4-FFF2-40B4-BE49-F238E27FC236}">
                <a16:creationId xmlns:a16="http://schemas.microsoft.com/office/drawing/2014/main" id="{9C0F915F-5D8E-4656-9FB4-90162E225A6B}"/>
              </a:ext>
            </a:extLst>
          </p:cNvPr>
          <p:cNvSpPr>
            <a:spLocks xmlns:a="http://schemas.openxmlformats.org/drawingml/2006/main" noGrp="1"/>
          </p:cNvSpPr>
          <p:nvPr/>
        </p:nvSpPr>
        <p:spPr>
          <a:xfrm xmlns:a="http://schemas.openxmlformats.org/drawingml/2006/main">
            <a:off x="2857500" y="26670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ctr">
              <a:defRPr sz="2550" b="1">
                <a:solidFill>
                  <a:srgbClr val="2596E8"/>
                </a:solidFill>
                <a:latin typeface="Arial"/>
                <a:ea typeface="Arial"/>
                <a:cs typeface="Arial"/>
              </a:defRPr>
            </a:pPr>
            <a:r>
              <a:rPr sz="2550" b="1">
                <a:solidFill>
                  <a:srgbClr val="2596E8"/>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805E21A-C60F-43ED-8645-F34467163EB0}"/>
              </a:ext>
            </a:extLst>
          </p:cNvPr>
          <p:cNvSpPr>
            <a:spLocks xmlns:a="http://schemas.openxmlformats.org/drawingml/2006/main" noGrp="1"/>
          </p:cNvSpPr>
          <p:nvPr/>
        </p:nvSpPr>
        <p:spPr>
          <a:xfrm xmlns:a="http://schemas.openxmlformats.org/drawingml/2006/main">
            <a:off x="3333750" y="2286000"/>
            <a:ext cx="2095500" cy="1381125"/>
          </a:xfrm>
          <a:prstGeom xmlns:a="http://schemas.openxmlformats.org/drawingml/2006/main" prst="roundRect">
            <a:avLst>
              <a:gd name="adj" fmla="val 5517"/>
            </a:avLst>
          </a:prstGeom>
          <a:solidFill xmlns:a="http://schemas.openxmlformats.org/drawingml/2006/main">
            <a:srgbClr val="EAF6FE"/>
          </a:solidFill>
          <a:ln xmlns:a="http://schemas.openxmlformats.org/drawingml/2006/main" w="9525">
            <a:solidFill>
              <a:srgbClr val="D8E1E8"/>
            </a:solidFill>
            <a:prstDash val="solid"/>
          </a:ln>
        </p:spPr>
      </p:sp>
      <p:sp>
        <p:nvSpPr>
          <p:cNvPr id="11" name="">
            <a:extLst xmlns:a="http://schemas.openxmlformats.org/drawingml/2006/main">
              <a:ext uri="{FF2B5EF4-FFF2-40B4-BE49-F238E27FC236}">
                <a16:creationId xmlns:a16="http://schemas.microsoft.com/office/drawing/2014/main" id="{EAA42CA2-44A9-4FD0-97B6-658924C7B093}"/>
              </a:ext>
            </a:extLst>
          </p:cNvPr>
          <p:cNvSpPr>
            <a:spLocks xmlns:a="http://schemas.openxmlformats.org/drawingml/2006/main" noGrp="1"/>
          </p:cNvSpPr>
          <p:nvPr/>
        </p:nvSpPr>
        <p:spPr>
          <a:xfrm xmlns:a="http://schemas.openxmlformats.org/drawingml/2006/main">
            <a:off x="3476625" y="24003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2596E8"/>
                </a:solidFill>
                <a:latin typeface="Arial"/>
                <a:ea typeface="Arial"/>
                <a:cs typeface="Arial"/>
              </a:defRPr>
            </a:pPr>
            <a:r>
              <a:rPr sz="1050" b="1">
                <a:solidFill>
                  <a:srgbClr val="2596E8"/>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E0C0EA2B-090E-48F4-9DD6-CB2EE40D94EE}"/>
              </a:ext>
            </a:extLst>
          </p:cNvPr>
          <p:cNvSpPr>
            <a:spLocks xmlns:a="http://schemas.openxmlformats.org/drawingml/2006/main" noGrp="1"/>
          </p:cNvSpPr>
          <p:nvPr/>
        </p:nvSpPr>
        <p:spPr>
          <a:xfrm xmlns:a="http://schemas.openxmlformats.org/drawingml/2006/main">
            <a:off x="3524250" y="2714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Expand input</a:t>
            </a:r>
          </a:p>
        </p:txBody>
      </p:sp>
      <p:sp>
        <p:nvSpPr>
          <p:cNvPr id="13" name="">
            <a:extLst xmlns:a="http://schemas.openxmlformats.org/drawingml/2006/main">
              <a:ext uri="{FF2B5EF4-FFF2-40B4-BE49-F238E27FC236}">
                <a16:creationId xmlns:a16="http://schemas.microsoft.com/office/drawing/2014/main" id="{C37F1AE5-7C25-4A7C-834F-636BB775FE63}"/>
              </a:ext>
            </a:extLst>
          </p:cNvPr>
          <p:cNvSpPr>
            <a:spLocks xmlns:a="http://schemas.openxmlformats.org/drawingml/2006/main" noGrp="1"/>
          </p:cNvSpPr>
          <p:nvPr/>
        </p:nvSpPr>
        <p:spPr>
          <a:xfrm xmlns:a="http://schemas.openxmlformats.org/drawingml/2006/main">
            <a:off x="3524250" y="30956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Add sin/cos phase</a:t>
            </a:r>
          </a:p>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Zero new weights</a:t>
            </a:r>
          </a:p>
        </p:txBody>
      </p:sp>
      <p:sp>
        <p:nvSpPr>
          <p:cNvPr id="14" name="">
            <a:extLst xmlns:a="http://schemas.openxmlformats.org/drawingml/2006/main">
              <a:ext uri="{FF2B5EF4-FFF2-40B4-BE49-F238E27FC236}">
                <a16:creationId xmlns:a16="http://schemas.microsoft.com/office/drawing/2014/main" id="{E9194F38-80D8-4BE3-92C4-9A60256E5FCD}"/>
              </a:ext>
            </a:extLst>
          </p:cNvPr>
          <p:cNvSpPr>
            <a:spLocks xmlns:a="http://schemas.openxmlformats.org/drawingml/2006/main" noGrp="1"/>
          </p:cNvSpPr>
          <p:nvPr/>
        </p:nvSpPr>
        <p:spPr>
          <a:xfrm xmlns:a="http://schemas.openxmlformats.org/drawingml/2006/main">
            <a:off x="5476875" y="26670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ctr">
              <a:defRPr sz="2550" b="1">
                <a:solidFill>
                  <a:srgbClr val="2596E8"/>
                </a:solidFill>
                <a:latin typeface="Arial"/>
                <a:ea typeface="Arial"/>
                <a:cs typeface="Arial"/>
              </a:defRPr>
            </a:pPr>
            <a:r>
              <a:rPr sz="2550" b="1">
                <a:solidFill>
                  <a:srgbClr val="2596E8"/>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5831B99-6EA6-4AA0-BBD3-11D560339E8A}"/>
              </a:ext>
            </a:extLst>
          </p:cNvPr>
          <p:cNvSpPr>
            <a:spLocks xmlns:a="http://schemas.openxmlformats.org/drawingml/2006/main" noGrp="1"/>
          </p:cNvSpPr>
          <p:nvPr/>
        </p:nvSpPr>
        <p:spPr>
          <a:xfrm xmlns:a="http://schemas.openxmlformats.org/drawingml/2006/main">
            <a:off x="6191250" y="2286000"/>
            <a:ext cx="2095500" cy="1381125"/>
          </a:xfrm>
          <a:prstGeom xmlns:a="http://schemas.openxmlformats.org/drawingml/2006/main" prst="roundRect">
            <a:avLst>
              <a:gd name="adj" fmla="val 5517"/>
            </a:avLst>
          </a:prstGeom>
          <a:solidFill xmlns:a="http://schemas.openxmlformats.org/drawingml/2006/main">
            <a:srgbClr val="F6FAFD"/>
          </a:solidFill>
          <a:ln xmlns:a="http://schemas.openxmlformats.org/drawingml/2006/main" w="9525">
            <a:solidFill>
              <a:srgbClr val="D8E1E8"/>
            </a:solidFill>
            <a:prstDash val="solid"/>
          </a:ln>
        </p:spPr>
      </p:sp>
      <p:sp>
        <p:nvSpPr>
          <p:cNvPr id="16" name="">
            <a:extLst xmlns:a="http://schemas.openxmlformats.org/drawingml/2006/main">
              <a:ext uri="{FF2B5EF4-FFF2-40B4-BE49-F238E27FC236}">
                <a16:creationId xmlns:a16="http://schemas.microsoft.com/office/drawing/2014/main" id="{0F8BC580-D195-4446-8537-665868CE8F4A}"/>
              </a:ext>
            </a:extLst>
          </p:cNvPr>
          <p:cNvSpPr>
            <a:spLocks xmlns:a="http://schemas.openxmlformats.org/drawingml/2006/main" noGrp="1"/>
          </p:cNvSpPr>
          <p:nvPr/>
        </p:nvSpPr>
        <p:spPr>
          <a:xfrm xmlns:a="http://schemas.openxmlformats.org/drawingml/2006/main">
            <a:off x="6334125" y="24003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2596E8"/>
                </a:solidFill>
                <a:latin typeface="Arial"/>
                <a:ea typeface="Arial"/>
                <a:cs typeface="Arial"/>
              </a:defRPr>
            </a:pPr>
            <a:r>
              <a:rPr sz="1050" b="1">
                <a:solidFill>
                  <a:srgbClr val="2596E8"/>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71AB5C61-3276-4966-9B92-76F24E79773D}"/>
              </a:ext>
            </a:extLst>
          </p:cNvPr>
          <p:cNvSpPr>
            <a:spLocks xmlns:a="http://schemas.openxmlformats.org/drawingml/2006/main" noGrp="1"/>
          </p:cNvSpPr>
          <p:nvPr/>
        </p:nvSpPr>
        <p:spPr>
          <a:xfrm xmlns:a="http://schemas.openxmlformats.org/drawingml/2006/main">
            <a:off x="6381750" y="2714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Fine-tune</a:t>
            </a:r>
          </a:p>
        </p:txBody>
      </p:sp>
      <p:sp>
        <p:nvSpPr>
          <p:cNvPr id="18" name="">
            <a:extLst xmlns:a="http://schemas.openxmlformats.org/drawingml/2006/main">
              <a:ext uri="{FF2B5EF4-FFF2-40B4-BE49-F238E27FC236}">
                <a16:creationId xmlns:a16="http://schemas.microsoft.com/office/drawing/2014/main" id="{22298909-BF55-4DF6-A0A8-D81C045FD966}"/>
              </a:ext>
            </a:extLst>
          </p:cNvPr>
          <p:cNvSpPr>
            <a:spLocks xmlns:a="http://schemas.openxmlformats.org/drawingml/2006/main" noGrp="1"/>
          </p:cNvSpPr>
          <p:nvPr/>
        </p:nvSpPr>
        <p:spPr>
          <a:xfrm xmlns:a="http://schemas.openxmlformats.org/drawingml/2006/main">
            <a:off x="6381750" y="30956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4,096 environments</a:t>
            </a:r>
          </a:p>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24-step PPO rollout</a:t>
            </a:r>
          </a:p>
        </p:txBody>
      </p:sp>
      <p:sp>
        <p:nvSpPr>
          <p:cNvPr id="19" name="">
            <a:extLst xmlns:a="http://schemas.openxmlformats.org/drawingml/2006/main">
              <a:ext uri="{FF2B5EF4-FFF2-40B4-BE49-F238E27FC236}">
                <a16:creationId xmlns:a16="http://schemas.microsoft.com/office/drawing/2014/main" id="{4B0F3D12-2B1C-41B1-BD81-096F48D8792C}"/>
              </a:ext>
            </a:extLst>
          </p:cNvPr>
          <p:cNvSpPr>
            <a:spLocks xmlns:a="http://schemas.openxmlformats.org/drawingml/2006/main" noGrp="1"/>
          </p:cNvSpPr>
          <p:nvPr/>
        </p:nvSpPr>
        <p:spPr>
          <a:xfrm xmlns:a="http://schemas.openxmlformats.org/drawingml/2006/main">
            <a:off x="8334375" y="2667000"/>
            <a:ext cx="42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65"/>
          </a:bodyPr>
          <a:lstStyle xmlns:a="http://schemas.openxmlformats.org/drawingml/2006/main"/>
          <a:p xmlns:a="http://schemas.openxmlformats.org/drawingml/2006/main">
            <a:pPr algn="ctr">
              <a:defRPr sz="2550" b="1">
                <a:solidFill>
                  <a:srgbClr val="2596E8"/>
                </a:solidFill>
                <a:latin typeface="Arial"/>
                <a:ea typeface="Arial"/>
                <a:cs typeface="Arial"/>
              </a:defRPr>
            </a:pPr>
            <a:r>
              <a:rPr sz="2550" b="1">
                <a:solidFill>
                  <a:srgbClr val="2596E8"/>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7E093129-BC1B-4154-B9F3-29DC15D5D347}"/>
              </a:ext>
            </a:extLst>
          </p:cNvPr>
          <p:cNvSpPr>
            <a:spLocks xmlns:a="http://schemas.openxmlformats.org/drawingml/2006/main" noGrp="1"/>
          </p:cNvSpPr>
          <p:nvPr/>
        </p:nvSpPr>
        <p:spPr>
          <a:xfrm xmlns:a="http://schemas.openxmlformats.org/drawingml/2006/main">
            <a:off x="9048750" y="2286000"/>
            <a:ext cx="2095500" cy="1381125"/>
          </a:xfrm>
          <a:prstGeom xmlns:a="http://schemas.openxmlformats.org/drawingml/2006/main" prst="roundRect">
            <a:avLst>
              <a:gd name="adj" fmla="val 5517"/>
            </a:avLst>
          </a:prstGeom>
          <a:solidFill xmlns:a="http://schemas.openxmlformats.org/drawingml/2006/main">
            <a:srgbClr val="F6FAFD"/>
          </a:solidFill>
          <a:ln xmlns:a="http://schemas.openxmlformats.org/drawingml/2006/main" w="9525">
            <a:solidFill>
              <a:srgbClr val="D8E1E8"/>
            </a:solidFill>
            <a:prstDash val="solid"/>
          </a:ln>
        </p:spPr>
      </p:sp>
      <p:sp>
        <p:nvSpPr>
          <p:cNvPr id="21" name="">
            <a:extLst xmlns:a="http://schemas.openxmlformats.org/drawingml/2006/main">
              <a:ext uri="{FF2B5EF4-FFF2-40B4-BE49-F238E27FC236}">
                <a16:creationId xmlns:a16="http://schemas.microsoft.com/office/drawing/2014/main" id="{C5386650-C6D1-4DFA-9C52-E98A0CAFDDB0}"/>
              </a:ext>
            </a:extLst>
          </p:cNvPr>
          <p:cNvSpPr>
            <a:spLocks xmlns:a="http://schemas.openxmlformats.org/drawingml/2006/main" noGrp="1"/>
          </p:cNvSpPr>
          <p:nvPr/>
        </p:nvSpPr>
        <p:spPr>
          <a:xfrm xmlns:a="http://schemas.openxmlformats.org/drawingml/2006/main">
            <a:off x="9191625" y="240030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1">
                <a:solidFill>
                  <a:srgbClr val="2596E8"/>
                </a:solidFill>
                <a:latin typeface="Arial"/>
                <a:ea typeface="Arial"/>
                <a:cs typeface="Arial"/>
              </a:defRPr>
            </a:pPr>
            <a:r>
              <a:rPr sz="1050" b="1">
                <a:solidFill>
                  <a:srgbClr val="2596E8"/>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D69E7C7E-2E05-4EFE-9B1B-D21D451921D5}"/>
              </a:ext>
            </a:extLst>
          </p:cNvPr>
          <p:cNvSpPr>
            <a:spLocks xmlns:a="http://schemas.openxmlformats.org/drawingml/2006/main" noGrp="1"/>
          </p:cNvSpPr>
          <p:nvPr/>
        </p:nvSpPr>
        <p:spPr>
          <a:xfrm xmlns:a="http://schemas.openxmlformats.org/drawingml/2006/main">
            <a:off x="9239250" y="27146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Select by metric</a:t>
            </a:r>
          </a:p>
        </p:txBody>
      </p:sp>
      <p:sp>
        <p:nvSpPr>
          <p:cNvPr id="23" name="">
            <a:extLst xmlns:a="http://schemas.openxmlformats.org/drawingml/2006/main">
              <a:ext uri="{FF2B5EF4-FFF2-40B4-BE49-F238E27FC236}">
                <a16:creationId xmlns:a16="http://schemas.microsoft.com/office/drawing/2014/main" id="{43E8BB83-F0C3-4FF1-886A-513EE9EE74B2}"/>
              </a:ext>
            </a:extLst>
          </p:cNvPr>
          <p:cNvSpPr>
            <a:spLocks xmlns:a="http://schemas.openxmlformats.org/drawingml/2006/main" noGrp="1"/>
          </p:cNvSpPr>
          <p:nvPr/>
        </p:nvSpPr>
        <p:spPr>
          <a:xfrm xmlns:a="http://schemas.openxmlformats.org/drawingml/2006/main">
            <a:off x="9239250" y="30956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333"/>
          </a:bodyPr>
          <a:lstStyle xmlns:a="http://schemas.openxmlformats.org/drawingml/2006/main"/>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Evaluate every 50</a:t>
            </a:r>
          </a:p>
          <a:p xmlns:a="http://schemas.openxmlformats.org/drawingml/2006/main">
            <a:pPr algn="ctr">
              <a:defRPr sz="1125" b="0">
                <a:solidFill>
                  <a:srgbClr val="5B6670"/>
                </a:solidFill>
                <a:latin typeface="Arial"/>
                <a:ea typeface="Arial"/>
                <a:cs typeface="Arial"/>
              </a:defRPr>
            </a:pPr>
            <a:r>
              <a:rPr sz="1125" b="0">
                <a:solidFill>
                  <a:srgbClr val="5B6670"/>
                </a:solidFill>
                <a:latin typeface="Arial"/>
                <a:ea typeface="Arial"/>
                <a:cs typeface="Arial"/>
              </a:rPr>
              <a:t>updates</a:t>
            </a:r>
          </a:p>
        </p:txBody>
      </p:sp>
      <p:sp>
        <p:nvSpPr>
          <p:cNvPr id="24" name="">
            <a:extLst xmlns:a="http://schemas.openxmlformats.org/drawingml/2006/main">
              <a:ext uri="{FF2B5EF4-FFF2-40B4-BE49-F238E27FC236}">
                <a16:creationId xmlns:a16="http://schemas.microsoft.com/office/drawing/2014/main" id="{BFD7F544-B7A3-41D0-8696-3B29749C740B}"/>
              </a:ext>
            </a:extLst>
          </p:cNvPr>
          <p:cNvSpPr>
            <a:spLocks xmlns:a="http://schemas.openxmlformats.org/drawingml/2006/main" noGrp="1"/>
          </p:cNvSpPr>
          <p:nvPr/>
        </p:nvSpPr>
        <p:spPr>
          <a:xfrm xmlns:a="http://schemas.openxmlformats.org/drawingml/2006/main">
            <a:off x="2381250" y="4095750"/>
            <a:ext cx="742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596E8"/>
                </a:solidFill>
                <a:latin typeface="Arial"/>
                <a:ea typeface="Arial"/>
                <a:cs typeface="Arial"/>
              </a:defRPr>
            </a:pPr>
            <a:r>
              <a:rPr sz="1800" b="1">
                <a:solidFill>
                  <a:srgbClr val="2596E8"/>
                </a:solidFill>
                <a:latin typeface="Arial"/>
                <a:ea typeface="Arial"/>
                <a:cs typeface="Arial"/>
              </a:rPr>
              <a:t>W′ = [ W₍₅₁₂×₂₃₅₎   0₍₅₁₂×₂₎ ]</a:t>
            </a:r>
          </a:p>
        </p:txBody>
      </p:sp>
      <p:sp>
        <p:nvSpPr>
          <p:cNvPr id="25" name="">
            <a:extLst xmlns:a="http://schemas.openxmlformats.org/drawingml/2006/main">
              <a:ext uri="{FF2B5EF4-FFF2-40B4-BE49-F238E27FC236}">
                <a16:creationId xmlns:a16="http://schemas.microsoft.com/office/drawing/2014/main" id="{EFD12811-2036-4800-8951-E885462763A5}"/>
              </a:ext>
            </a:extLst>
          </p:cNvPr>
          <p:cNvSpPr>
            <a:spLocks xmlns:a="http://schemas.openxmlformats.org/drawingml/2006/main" noGrp="1"/>
          </p:cNvSpPr>
          <p:nvPr/>
        </p:nvSpPr>
        <p:spPr>
          <a:xfrm xmlns:a="http://schemas.openxmlformats.org/drawingml/2006/main">
            <a:off x="1619250" y="4619625"/>
            <a:ext cx="895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The migrated policy initially behaves exactly like the reference because the new phase inputs have zero influence.</a:t>
            </a:r>
          </a:p>
        </p:txBody>
      </p:sp>
      <p:sp>
        <p:nvSpPr>
          <p:cNvPr id="26" name="">
            <a:extLst xmlns:a="http://schemas.openxmlformats.org/drawingml/2006/main">
              <a:ext uri="{FF2B5EF4-FFF2-40B4-BE49-F238E27FC236}">
                <a16:creationId xmlns:a16="http://schemas.microsoft.com/office/drawing/2014/main" id="{252BFA8E-61D4-45D6-BB08-BC9680B3A6AA}"/>
              </a:ext>
            </a:extLst>
          </p:cNvPr>
          <p:cNvSpPr>
            <a:spLocks xmlns:a="http://schemas.openxmlformats.org/drawingml/2006/main" noGrp="1"/>
          </p:cNvSpPr>
          <p:nvPr/>
        </p:nvSpPr>
        <p:spPr>
          <a:xfrm xmlns:a="http://schemas.openxmlformats.org/drawingml/2006/main">
            <a:off x="666750" y="5476875"/>
            <a:ext cx="10858500" cy="523875"/>
          </a:xfrm>
          <a:prstGeom xmlns:a="http://schemas.openxmlformats.org/drawingml/2006/main" prst="roundRect">
            <a:avLst>
              <a:gd name="adj" fmla="val 14545"/>
            </a:avLst>
          </a:prstGeom>
          <a:solidFill xmlns:a="http://schemas.openxmlformats.org/drawingml/2006/main">
            <a:srgbClr val="EAF6FE"/>
          </a:solidFill>
          <a:ln xmlns:a="http://schemas.openxmlformats.org/drawingml/2006/main" w="9525">
            <a:solidFill>
              <a:srgbClr val="D8E1E8"/>
            </a:solidFill>
            <a:prstDash val="solid"/>
          </a:ln>
        </p:spPr>
      </p:sp>
      <p:sp>
        <p:nvSpPr>
          <p:cNvPr id="27" name="">
            <a:extLst xmlns:a="http://schemas.openxmlformats.org/drawingml/2006/main">
              <a:ext uri="{FF2B5EF4-FFF2-40B4-BE49-F238E27FC236}">
                <a16:creationId xmlns:a16="http://schemas.microsoft.com/office/drawing/2014/main" id="{85037EC9-1DE5-4518-8695-C276ACEEC162}"/>
              </a:ext>
            </a:extLst>
          </p:cNvPr>
          <p:cNvSpPr>
            <a:spLocks xmlns:a="http://schemas.openxmlformats.org/drawingml/2006/main" noGrp="1"/>
          </p:cNvSpPr>
          <p:nvPr/>
        </p:nvSpPr>
        <p:spPr>
          <a:xfrm xmlns:a="http://schemas.openxmlformats.org/drawingml/2006/main">
            <a:off x="904875" y="559117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0262E"/>
                </a:solidFill>
                <a:latin typeface="Arial"/>
                <a:ea typeface="Arial"/>
                <a:cs typeface="Arial"/>
              </a:defRPr>
            </a:pPr>
            <a:r>
              <a:rPr sz="1275" b="1">
                <a:solidFill>
                  <a:srgbClr val="20262E"/>
                </a:solidFill>
                <a:latin typeface="Arial"/>
                <a:ea typeface="Arial"/>
                <a:cs typeface="Arial"/>
              </a:rPr>
              <a:t>Early stopping selected model_3100.pt after the first decisive improvement, rather than treating 500 iterations as a goal.</a:t>
            </a:r>
          </a:p>
        </p:txBody>
      </p:sp>
    </p:spTree>
    <p:extLst>
      <p:ext uri="{BB962C8B-B14F-4D97-AF65-F5344CB8AC3E}">
        <p14:creationId xmlns:p14="http://schemas.microsoft.com/office/powerpoint/2010/main" val="180495366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5359B9-2020-4F9D-97C1-9A1D073C2AD4}"/>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GAIT RESULT</a:t>
            </a:r>
          </a:p>
        </p:txBody>
      </p:sp>
      <p:sp>
        <p:nvSpPr>
          <p:cNvPr id="2" name="">
            <a:extLst xmlns:a="http://schemas.openxmlformats.org/drawingml/2006/main">
              <a:ext uri="{FF2B5EF4-FFF2-40B4-BE49-F238E27FC236}">
                <a16:creationId xmlns:a16="http://schemas.microsoft.com/office/drawing/2014/main" id="{211EF82E-8986-4FB8-B755-C488924CA867}"/>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The phase-clock policy reduced touchdown error by 41.7%</a:t>
            </a:r>
          </a:p>
        </p:txBody>
      </p:sp>
      <p:sp>
        <p:nvSpPr>
          <p:cNvPr id="3" name="">
            <a:extLst xmlns:a="http://schemas.openxmlformats.org/drawingml/2006/main">
              <a:ext uri="{FF2B5EF4-FFF2-40B4-BE49-F238E27FC236}">
                <a16:creationId xmlns:a16="http://schemas.microsoft.com/office/drawing/2014/main" id="{A97F0843-824F-4DB4-93ED-56281D8A0885}"/>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D3D61E-572C-4BA3-904A-3CBF0F026F04}"/>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16</a:t>
            </a:r>
          </a:p>
        </p:txBody>
      </p:sp>
      <p:graphicFrame>
        <p:nvGraphicFramePr>
          <p:cNvPr id="14" name=""/>
          <p:cNvGraphicFramePr/>
          <p:nvPr/>
        </p:nvGraphicFramePr>
        <p:xfrm>
          <a:off xmlns:a="http://schemas.openxmlformats.org/drawingml/2006/main" x="619125" y="1809750"/>
          <a:ext xmlns:a="http://schemas.openxmlformats.org/drawingml/2006/main" cx="10953750" cy="3381375"/>
        </p:xfrm>
        <a:graphic xmlns:a="http://schemas.openxmlformats.org/drawingml/2006/main">
          <a:graphicData uri="http://schemas.openxmlformats.org/drawingml/2006/table">
            <a:tbl>
              <a:tblPr/>
              <a:tblGrid>
                <a:gridCol w="2738438"/>
                <a:gridCol w="2738438"/>
                <a:gridCol w="2738438"/>
                <a:gridCol w="2738438"/>
              </a:tblGrid>
              <a:tr h="422672">
                <a:tc>
                  <a:txBody>
                    <a:bodyPr/>
                    <a:lstStyle/>
                    <a:p>
                      <a:r>
                        <a:t>Metric</a:t>
                      </a:r>
                    </a:p>
                  </a:txBody>
                  <a:tcPr marL="91440" marR="91440" marT="45720" marB="45720"/>
                </a:tc>
                <a:tc>
                  <a:txBody>
                    <a:bodyPr/>
                    <a:lstStyle/>
                    <a:p>
                      <a:r>
                        <a:t>Reference</a:t>
                      </a:r>
                    </a:p>
                  </a:txBody>
                  <a:tcPr marL="91440" marR="91440" marT="45720" marB="45720"/>
                </a:tc>
                <a:tc>
                  <a:txBody>
                    <a:bodyPr/>
                    <a:lstStyle/>
                    <a:p>
                      <a:r>
                        <a:t>Phase clock</a:t>
                      </a:r>
                    </a:p>
                  </a:txBody>
                  <a:tcPr marL="91440" marR="91440" marT="45720" marB="45720"/>
                </a:tc>
                <a:tc>
                  <a:txBody>
                    <a:bodyPr/>
                    <a:lstStyle/>
                    <a:p>
                      <a:r>
                        <a:t>Change</a:t>
                      </a:r>
                    </a:p>
                  </a:txBody>
                  <a:tcPr marL="91440" marR="91440" marT="45720" marB="45720"/>
                </a:tc>
              </a:tr>
              <a:tr h="422672">
                <a:tc>
                  <a:txBody>
                    <a:bodyPr/>
                    <a:lstStyle/>
                    <a:p>
                      <a:r>
                        <a:t>Touchdown phase MAE ↓</a:t>
                      </a:r>
                    </a:p>
                  </a:txBody>
                  <a:tcPr marL="91440" marR="91440" marT="45720" marB="45720"/>
                </a:tc>
                <a:tc>
                  <a:txBody>
                    <a:bodyPr/>
                    <a:lstStyle/>
                    <a:p>
                      <a:r>
                        <a:t>0.02881 cycles</a:t>
                      </a:r>
                    </a:p>
                  </a:txBody>
                  <a:tcPr marL="91440" marR="91440" marT="45720" marB="45720"/>
                </a:tc>
                <a:tc>
                  <a:txBody>
                    <a:bodyPr/>
                    <a:lstStyle/>
                    <a:p>
                      <a:r>
                        <a:rPr sz="1125" b="1">
                          <a:solidFill>
                            <a:srgbClr val="138A63"/>
                          </a:solidFill>
                          <a:latin typeface="Arial"/>
                          <a:ea typeface="Arial"/>
                          <a:cs typeface="Arial"/>
                        </a:rPr>
                        <a:t>0.01680 cycles</a:t>
                      </a:r>
                    </a:p>
                  </a:txBody>
                  <a:tcPr marL="91440" marR="91440" marT="45720" marB="45720"/>
                </a:tc>
                <a:tc>
                  <a:txBody>
                    <a:bodyPr/>
                    <a:lstStyle/>
                    <a:p>
                      <a:r>
                        <a:t>41.7% lower</a:t>
                      </a:r>
                    </a:p>
                  </a:txBody>
                  <a:tcPr marL="91440" marR="91440" marT="45720" marB="45720"/>
                </a:tc>
              </a:tr>
              <a:tr h="422672">
                <a:tc>
                  <a:txBody>
                    <a:bodyPr/>
                    <a:lstStyle/>
                    <a:p>
                      <a:r>
                        <a:t>Trot deviation index ↓</a:t>
                      </a:r>
                    </a:p>
                  </a:txBody>
                  <a:tcPr marL="91440" marR="91440" marT="45720" marB="45720"/>
                </a:tc>
                <a:tc>
                  <a:txBody>
                    <a:bodyPr/>
                    <a:lstStyle/>
                    <a:p>
                      <a:r>
                        <a:t>0.06056</a:t>
                      </a:r>
                    </a:p>
                  </a:txBody>
                  <a:tcPr marL="91440" marR="91440" marT="45720" marB="45720"/>
                </a:tc>
                <a:tc>
                  <a:txBody>
                    <a:bodyPr/>
                    <a:lstStyle/>
                    <a:p>
                      <a:r>
                        <a:rPr sz="1125" b="1">
                          <a:solidFill>
                            <a:srgbClr val="138A63"/>
                          </a:solidFill>
                          <a:latin typeface="Arial"/>
                          <a:ea typeface="Arial"/>
                          <a:cs typeface="Arial"/>
                        </a:rPr>
                        <a:t>0.03774</a:t>
                      </a:r>
                    </a:p>
                  </a:txBody>
                  <a:tcPr marL="91440" marR="91440" marT="45720" marB="45720"/>
                </a:tc>
                <a:tc>
                  <a:txBody>
                    <a:bodyPr/>
                    <a:lstStyle/>
                    <a:p>
                      <a:r>
                        <a:t>37.7% lower</a:t>
                      </a:r>
                    </a:p>
                  </a:txBody>
                  <a:tcPr marL="91440" marR="91440" marT="45720" marB="45720"/>
                </a:tc>
              </a:tr>
              <a:tr h="422672">
                <a:tc>
                  <a:txBody>
                    <a:bodyPr/>
                    <a:lstStyle/>
                    <a:p>
                      <a:r>
                        <a:t>Stride-period CV ↓</a:t>
                      </a:r>
                    </a:p>
                  </a:txBody>
                  <a:tcPr marL="91440" marR="91440" marT="45720" marB="45720"/>
                </a:tc>
                <a:tc>
                  <a:txBody>
                    <a:bodyPr/>
                    <a:lstStyle/>
                    <a:p>
                      <a:r>
                        <a:t>0.02573</a:t>
                      </a:r>
                    </a:p>
                  </a:txBody>
                  <a:tcPr marL="91440" marR="91440" marT="45720" marB="45720"/>
                </a:tc>
                <a:tc>
                  <a:txBody>
                    <a:bodyPr/>
                    <a:lstStyle/>
                    <a:p>
                      <a:r>
                        <a:rPr sz="1125" b="1">
                          <a:solidFill>
                            <a:srgbClr val="138A63"/>
                          </a:solidFill>
                          <a:latin typeface="Arial"/>
                          <a:ea typeface="Arial"/>
                          <a:cs typeface="Arial"/>
                        </a:rPr>
                        <a:t>0.00116</a:t>
                      </a:r>
                    </a:p>
                  </a:txBody>
                  <a:tcPr marL="91440" marR="91440" marT="45720" marB="45720"/>
                </a:tc>
                <a:tc>
                  <a:txBody>
                    <a:bodyPr/>
                    <a:lstStyle/>
                    <a:p>
                      <a:r>
                        <a:t>95.5% lower</a:t>
                      </a:r>
                    </a:p>
                  </a:txBody>
                  <a:tcPr marL="91440" marR="91440" marT="45720" marB="45720"/>
                </a:tc>
              </a:tr>
              <a:tr h="422672">
                <a:tc>
                  <a:txBody>
                    <a:bodyPr/>
                    <a:lstStyle/>
                    <a:p>
                      <a:r>
                        <a:t>Duty-factor CV ↓</a:t>
                      </a:r>
                    </a:p>
                  </a:txBody>
                  <a:tcPr marL="91440" marR="91440" marT="45720" marB="45720"/>
                </a:tc>
                <a:tc>
                  <a:txBody>
                    <a:bodyPr/>
                    <a:lstStyle/>
                    <a:p>
                      <a:r>
                        <a:t>0.10127</a:t>
                      </a:r>
                    </a:p>
                  </a:txBody>
                  <a:tcPr marL="91440" marR="91440" marT="45720" marB="45720"/>
                </a:tc>
                <a:tc>
                  <a:txBody>
                    <a:bodyPr/>
                    <a:lstStyle/>
                    <a:p>
                      <a:r>
                        <a:rPr sz="1125" b="1">
                          <a:solidFill>
                            <a:srgbClr val="138A63"/>
                          </a:solidFill>
                          <a:latin typeface="Arial"/>
                          <a:ea typeface="Arial"/>
                          <a:cs typeface="Arial"/>
                        </a:rPr>
                        <a:t>0.08262</a:t>
                      </a:r>
                    </a:p>
                  </a:txBody>
                  <a:tcPr marL="91440" marR="91440" marT="45720" marB="45720"/>
                </a:tc>
                <a:tc>
                  <a:txBody>
                    <a:bodyPr/>
                    <a:lstStyle/>
                    <a:p>
                      <a:r>
                        <a:t>18.4% lower</a:t>
                      </a:r>
                    </a:p>
                  </a:txBody>
                  <a:tcPr marL="91440" marR="91440" marT="45720" marB="45720"/>
                </a:tc>
              </a:tr>
              <a:tr h="422672">
                <a:tc>
                  <a:txBody>
                    <a:bodyPr/>
                    <a:lstStyle/>
                    <a:p>
                      <a:r>
                        <a:t>Diagonal opposition ↑</a:t>
                      </a:r>
                    </a:p>
                  </a:txBody>
                  <a:tcPr marL="91440" marR="91440" marT="45720" marB="45720"/>
                </a:tc>
                <a:tc>
                  <a:txBody>
                    <a:bodyPr/>
                    <a:lstStyle/>
                    <a:p>
                      <a:r>
                        <a:t>0.98541</a:t>
                      </a:r>
                    </a:p>
                  </a:txBody>
                  <a:tcPr marL="91440" marR="91440" marT="45720" marB="45720"/>
                </a:tc>
                <a:tc>
                  <a:txBody>
                    <a:bodyPr/>
                    <a:lstStyle/>
                    <a:p>
                      <a:r>
                        <a:rPr sz="1125" b="1">
                          <a:solidFill>
                            <a:srgbClr val="138A63"/>
                          </a:solidFill>
                          <a:latin typeface="Arial"/>
                          <a:ea typeface="Arial"/>
                          <a:cs typeface="Arial"/>
                        </a:rPr>
                        <a:t>0.99913</a:t>
                      </a:r>
                    </a:p>
                  </a:txBody>
                  <a:tcPr marL="91440" marR="91440" marT="45720" marB="45720"/>
                </a:tc>
                <a:tc>
                  <a:txBody>
                    <a:bodyPr/>
                    <a:lstStyle/>
                    <a:p>
                      <a:r>
                        <a:t>+1.37 points</a:t>
                      </a:r>
                    </a:p>
                  </a:txBody>
                  <a:tcPr marL="91440" marR="91440" marT="45720" marB="45720"/>
                </a:tc>
              </a:tr>
              <a:tr h="422672">
                <a:tc>
                  <a:txBody>
                    <a:bodyPr/>
                    <a:lstStyle/>
                    <a:p>
                      <a:r>
                        <a:t>Velocity tracking MAE ↓</a:t>
                      </a:r>
                    </a:p>
                  </a:txBody>
                  <a:tcPr marL="91440" marR="91440" marT="45720" marB="45720"/>
                </a:tc>
                <a:tc>
                  <a:txBody>
                    <a:bodyPr/>
                    <a:lstStyle/>
                    <a:p>
                      <a:r>
                        <a:t>0.03231 m/s</a:t>
                      </a:r>
                    </a:p>
                  </a:txBody>
                  <a:tcPr marL="91440" marR="91440" marT="45720" marB="45720"/>
                </a:tc>
                <a:tc>
                  <a:txBody>
                    <a:bodyPr/>
                    <a:lstStyle/>
                    <a:p>
                      <a:r>
                        <a:t>0.03251 m/s</a:t>
                      </a:r>
                    </a:p>
                  </a:txBody>
                  <a:tcPr marL="91440" marR="91440" marT="45720" marB="45720"/>
                </a:tc>
                <a:tc>
                  <a:txBody>
                    <a:bodyPr/>
                    <a:lstStyle/>
                    <a:p>
                      <a:r>
                        <a:t>+0.00020 m/s</a:t>
                      </a:r>
                    </a:p>
                  </a:txBody>
                  <a:tcPr marL="91440" marR="91440" marT="45720" marB="45720"/>
                </a:tc>
              </a:tr>
              <a:tr h="422672">
                <a:tc>
                  <a:txBody>
                    <a:bodyPr/>
                    <a:lstStyle/>
                    <a:p>
                      <a:r>
                        <a:t>Fall rate ↓</a:t>
                      </a:r>
                    </a:p>
                  </a:txBody>
                  <a:tcPr marL="91440" marR="91440" marT="45720" marB="45720"/>
                </a:tc>
                <a:tc>
                  <a:txBody>
                    <a:bodyPr/>
                    <a:lstStyle/>
                    <a:p>
                      <a:r>
                        <a:t>0%</a:t>
                      </a:r>
                    </a:p>
                  </a:txBody>
                  <a:tcPr marL="91440" marR="91440" marT="45720" marB="45720"/>
                </a:tc>
                <a:tc>
                  <a:txBody>
                    <a:bodyPr/>
                    <a:lstStyle/>
                    <a:p>
                      <a:r>
                        <a:t>0%</a:t>
                      </a:r>
                    </a:p>
                  </a:txBody>
                  <a:tcPr marL="91440" marR="91440" marT="45720" marB="45720"/>
                </a:tc>
                <a:tc>
                  <a:txBody>
                    <a:bodyPr/>
                    <a:lstStyle/>
                    <a:p>
                      <a:r>
                        <a:t>unchanged</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3BD61E55-B860-48F8-9AB9-EAF1F91B1452}"/>
              </a:ext>
            </a:extLst>
          </p:cNvPr>
          <p:cNvSpPr>
            <a:spLocks xmlns:a="http://schemas.openxmlformats.org/drawingml/2006/main" noGrp="1"/>
          </p:cNvSpPr>
          <p:nvPr/>
        </p:nvSpPr>
        <p:spPr>
          <a:xfrm xmlns:a="http://schemas.openxmlformats.org/drawingml/2006/main">
            <a:off x="666750" y="5381625"/>
            <a:ext cx="438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11"/>
          </a:bodyPr>
          <a:lstStyle xmlns:a="http://schemas.openxmlformats.org/drawingml/2006/main"/>
          <a:p xmlns:a="http://schemas.openxmlformats.org/drawingml/2006/main">
            <a:pPr algn="l">
              <a:defRPr sz="1125" b="0">
                <a:solidFill>
                  <a:srgbClr val="5B6670"/>
                </a:solidFill>
                <a:latin typeface="Arial"/>
                <a:ea typeface="Arial"/>
                <a:cs typeface="Arial"/>
              </a:defRPr>
            </a:pPr>
            <a:r>
              <a:rPr sz="1125" b="0">
                <a:solidFill>
                  <a:srgbClr val="5B6670"/>
                </a:solidFill>
                <a:latin typeface="Arial"/>
                <a:ea typeface="Arial"/>
                <a:cs typeface="Arial"/>
              </a:rPr>
              <a:t>64 paired trials · 20,000 bootstrap resamples</a:t>
            </a:r>
          </a:p>
        </p:txBody>
      </p:sp>
      <p:sp>
        <p:nvSpPr>
          <p:cNvPr id="7" name="">
            <a:extLst xmlns:a="http://schemas.openxmlformats.org/drawingml/2006/main">
              <a:ext uri="{FF2B5EF4-FFF2-40B4-BE49-F238E27FC236}">
                <a16:creationId xmlns:a16="http://schemas.microsoft.com/office/drawing/2014/main" id="{4C5D1911-4346-4A7A-BB83-AB217ED3F31F}"/>
              </a:ext>
            </a:extLst>
          </p:cNvPr>
          <p:cNvSpPr>
            <a:spLocks xmlns:a="http://schemas.openxmlformats.org/drawingml/2006/main" noGrp="1"/>
          </p:cNvSpPr>
          <p:nvPr/>
        </p:nvSpPr>
        <p:spPr>
          <a:xfrm xmlns:a="http://schemas.openxmlformats.org/drawingml/2006/main">
            <a:off x="5715000" y="5381625"/>
            <a:ext cx="552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17"/>
          </a:bodyPr>
          <a:lstStyle xmlns:a="http://schemas.openxmlformats.org/drawingml/2006/main"/>
          <a:p xmlns:a="http://schemas.openxmlformats.org/drawingml/2006/main">
            <a:pPr algn="r">
              <a:defRPr sz="1200" b="1">
                <a:solidFill>
                  <a:srgbClr val="20262E"/>
                </a:solidFill>
                <a:latin typeface="Arial"/>
                <a:ea typeface="Arial"/>
                <a:cs typeface="Arial"/>
              </a:defRPr>
            </a:pPr>
            <a:r>
              <a:rPr sz="1200" b="1">
                <a:solidFill>
                  <a:srgbClr val="20262E"/>
                </a:solidFill>
                <a:latin typeface="Arial"/>
                <a:ea typeface="Arial"/>
                <a:cs typeface="Arial"/>
              </a:rPr>
              <a:t>Phase-MAE change 95% CI: [−0.01221, −0.01182] cycles</a:t>
            </a:r>
          </a:p>
        </p:txBody>
      </p:sp>
      <p:sp>
        <p:nvSpPr>
          <p:cNvPr id="8" name="">
            <a:extLst xmlns:a="http://schemas.openxmlformats.org/drawingml/2006/main">
              <a:ext uri="{FF2B5EF4-FFF2-40B4-BE49-F238E27FC236}">
                <a16:creationId xmlns:a16="http://schemas.microsoft.com/office/drawing/2014/main" id="{C68A3DEB-EF76-4C2A-BA60-AAD7C3F32CA8}"/>
              </a:ext>
            </a:extLst>
          </p:cNvPr>
          <p:cNvSpPr>
            <a:spLocks xmlns:a="http://schemas.openxmlformats.org/drawingml/2006/main" noGrp="1"/>
          </p:cNvSpPr>
          <p:nvPr/>
        </p:nvSpPr>
        <p:spPr>
          <a:xfrm xmlns:a="http://schemas.openxmlformats.org/drawingml/2006/main">
            <a:off x="666750" y="5762625"/>
            <a:ext cx="10858500" cy="381000"/>
          </a:xfrm>
          <a:prstGeom xmlns:a="http://schemas.openxmlformats.org/drawingml/2006/main" prst="roundRect">
            <a:avLst>
              <a:gd name="adj" fmla="val 20000"/>
            </a:avLst>
          </a:prstGeom>
          <a:solidFill xmlns:a="http://schemas.openxmlformats.org/drawingml/2006/main">
            <a:srgbClr val="EAF6FE"/>
          </a:solidFill>
          <a:ln xmlns:a="http://schemas.openxmlformats.org/drawingml/2006/main" w="9525">
            <a:solidFill>
              <a:srgbClr val="D8E1E8"/>
            </a:solidFill>
            <a:prstDash val="solid"/>
          </a:ln>
        </p:spPr>
      </p:sp>
      <p:sp>
        <p:nvSpPr>
          <p:cNvPr id="9" name="">
            <a:extLst xmlns:a="http://schemas.openxmlformats.org/drawingml/2006/main">
              <a:ext uri="{FF2B5EF4-FFF2-40B4-BE49-F238E27FC236}">
                <a16:creationId xmlns:a16="http://schemas.microsoft.com/office/drawing/2014/main" id="{42FCC35F-2C9B-458C-B409-60A9439DC470}"/>
              </a:ext>
            </a:extLst>
          </p:cNvPr>
          <p:cNvSpPr>
            <a:spLocks xmlns:a="http://schemas.openxmlformats.org/drawingml/2006/main" noGrp="1"/>
          </p:cNvSpPr>
          <p:nvPr/>
        </p:nvSpPr>
        <p:spPr>
          <a:xfrm xmlns:a="http://schemas.openxmlformats.org/drawingml/2006/main">
            <a:off x="904875" y="58197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All primary gait metrics improved; controlled tracking and survival stayed effectively unchanged.</a:t>
            </a:r>
          </a:p>
        </p:txBody>
      </p:sp>
    </p:spTree>
    <p:extLst>
      <p:ext uri="{BB962C8B-B14F-4D97-AF65-F5344CB8AC3E}">
        <p14:creationId xmlns:p14="http://schemas.microsoft.com/office/powerpoint/2010/main" val="191963585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DF45C7C-9752-4AB5-A62F-2FFEE3AA114F}"/>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r">
              <a:defRPr sz="1050" b="1">
                <a:solidFill>
                  <a:srgbClr val="2596E8"/>
                </a:solidFill>
                <a:latin typeface="Arial"/>
                <a:ea typeface="Arial"/>
                <a:cs typeface="Arial"/>
              </a:defRPr>
            </a:pPr>
            <a:r>
              <a:rPr sz="1050" b="1">
                <a:solidFill>
                  <a:srgbClr val="2596E8"/>
                </a:solidFill>
                <a:latin typeface="Arial"/>
                <a:ea typeface="Arial"/>
                <a:cs typeface="Arial"/>
              </a:rPr>
              <a:t>PROJECT 2 · TRADEOFF</a:t>
            </a:r>
          </a:p>
        </p:txBody>
      </p:sp>
      <p:sp>
        <p:nvSpPr>
          <p:cNvPr id="2" name="">
            <a:extLst xmlns:a="http://schemas.openxmlformats.org/drawingml/2006/main">
              <a:ext uri="{FF2B5EF4-FFF2-40B4-BE49-F238E27FC236}">
                <a16:creationId xmlns:a16="http://schemas.microsoft.com/office/drawing/2014/main" id="{F6CDE26A-9CB8-4E4D-B4BB-010F79B5C772}"/>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20262E"/>
                </a:solidFill>
                <a:latin typeface="Arial"/>
                <a:ea typeface="Arial"/>
                <a:cs typeface="Arial"/>
              </a:defRPr>
            </a:pPr>
            <a:r>
              <a:rPr sz="2250" b="1">
                <a:solidFill>
                  <a:srgbClr val="20262E"/>
                </a:solidFill>
                <a:latin typeface="Arial"/>
                <a:ea typeface="Arial"/>
                <a:cs typeface="Arial"/>
              </a:rPr>
              <a:t>A more regular gait cost a small amount of rough-terrain adaptability</a:t>
            </a:r>
          </a:p>
        </p:txBody>
      </p:sp>
      <p:sp>
        <p:nvSpPr>
          <p:cNvPr id="3" name="">
            <a:extLst xmlns:a="http://schemas.openxmlformats.org/drawingml/2006/main">
              <a:ext uri="{FF2B5EF4-FFF2-40B4-BE49-F238E27FC236}">
                <a16:creationId xmlns:a16="http://schemas.microsoft.com/office/drawing/2014/main" id="{3D9C090F-C306-4F0E-9A3E-25A36252DC6D}"/>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D8E1E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6D2EF1-B6A4-4F9D-B823-EEBD1573F858}"/>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5B6670"/>
                </a:solidFill>
                <a:latin typeface="Arial"/>
                <a:ea typeface="Arial"/>
                <a:cs typeface="Arial"/>
              </a:defRPr>
            </a:pPr>
            <a:r>
              <a:rPr sz="900" b="0">
                <a:solidFill>
                  <a:srgbClr val="5B6670"/>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0FB37140-85E4-4411-9AE3-3690B35B36EB}"/>
              </a:ext>
            </a:extLst>
          </p:cNvPr>
          <p:cNvSpPr>
            <a:spLocks xmlns:a="http://schemas.openxmlformats.org/drawingml/2006/main" noGrp="1"/>
          </p:cNvSpPr>
          <p:nvPr/>
        </p:nvSpPr>
        <p:spPr>
          <a:xfrm xmlns:a="http://schemas.openxmlformats.org/drawingml/2006/main">
            <a:off x="619125" y="1762125"/>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2596E8"/>
                </a:solidFill>
                <a:latin typeface="Arial"/>
                <a:ea typeface="Arial"/>
                <a:cs typeface="Arial"/>
              </a:defRPr>
            </a:pPr>
            <a:r>
              <a:rPr sz="975" b="1">
                <a:solidFill>
                  <a:srgbClr val="2596E8"/>
                </a:solidFill>
                <a:latin typeface="Arial"/>
                <a:ea typeface="Arial"/>
                <a:cs typeface="Arial"/>
              </a:rPr>
              <a:t>GENERATED ROUGH TERRAIN · 256 EPISODES</a:t>
            </a:r>
          </a:p>
        </p:txBody>
      </p:sp>
      <p:graphicFrame>
        <p:nvGraphicFramePr>
          <p:cNvPr id="19" name=""/>
          <p:cNvGraphicFramePr/>
          <p:nvPr/>
        </p:nvGraphicFramePr>
        <p:xfrm>
          <a:off xmlns:a="http://schemas.openxmlformats.org/drawingml/2006/main" x="619125" y="2143125"/>
          <a:ext xmlns:a="http://schemas.openxmlformats.org/drawingml/2006/main" cx="6858000" cy="2571750"/>
        </p:xfrm>
        <a:graphic xmlns:a="http://schemas.openxmlformats.org/drawingml/2006/main">
          <a:graphicData uri="http://schemas.openxmlformats.org/drawingml/2006/table">
            <a:tbl>
              <a:tblPr/>
              <a:tblGrid>
                <a:gridCol w="1714500"/>
                <a:gridCol w="1714500"/>
                <a:gridCol w="1714500"/>
                <a:gridCol w="1714500"/>
              </a:tblGrid>
              <a:tr h="514350">
                <a:tc>
                  <a:txBody>
                    <a:bodyPr/>
                    <a:lstStyle/>
                    <a:p>
                      <a:r>
                        <a:t>Metric</a:t>
                      </a:r>
                    </a:p>
                  </a:txBody>
                  <a:tcPr marL="91440" marR="91440" marT="45720" marB="45720"/>
                </a:tc>
                <a:tc>
                  <a:txBody>
                    <a:bodyPr/>
                    <a:lstStyle/>
                    <a:p>
                      <a:r>
                        <a:t>Reference</a:t>
                      </a:r>
                    </a:p>
                  </a:txBody>
                  <a:tcPr marL="91440" marR="91440" marT="45720" marB="45720"/>
                </a:tc>
                <a:tc>
                  <a:txBody>
                    <a:bodyPr/>
                    <a:lstStyle/>
                    <a:p>
                      <a:r>
                        <a:t>Phase clock</a:t>
                      </a:r>
                    </a:p>
                  </a:txBody>
                  <a:tcPr marL="91440" marR="91440" marT="45720" marB="45720"/>
                </a:tc>
                <a:tc>
                  <a:txBody>
                    <a:bodyPr/>
                    <a:lstStyle/>
                    <a:p>
                      <a:r>
                        <a:t>Change</a:t>
                      </a:r>
                    </a:p>
                  </a:txBody>
                  <a:tcPr marL="91440" marR="91440" marT="45720" marB="45720"/>
                </a:tc>
              </a:tr>
              <a:tr h="514350">
                <a:tc>
                  <a:txBody>
                    <a:bodyPr/>
                    <a:lstStyle/>
                    <a:p>
                      <a:r>
                        <a:t>Completion ↑</a:t>
                      </a:r>
                    </a:p>
                  </a:txBody>
                  <a:tcPr marL="91440" marR="91440" marT="45720" marB="45720"/>
                </a:tc>
                <a:tc>
                  <a:txBody>
                    <a:bodyPr/>
                    <a:lstStyle/>
                    <a:p>
                      <a:r>
                        <a:t>98.4%</a:t>
                      </a:r>
                    </a:p>
                  </a:txBody>
                  <a:tcPr marL="91440" marR="91440" marT="45720" marB="45720"/>
                </a:tc>
                <a:tc>
                  <a:txBody>
                    <a:bodyPr/>
                    <a:lstStyle/>
                    <a:p>
                      <a:r>
                        <a:t>97.7%</a:t>
                      </a:r>
                    </a:p>
                  </a:txBody>
                  <a:tcPr marL="91440" marR="91440" marT="45720" marB="45720"/>
                </a:tc>
                <a:tc>
                  <a:txBody>
                    <a:bodyPr/>
                    <a:lstStyle/>
                    <a:p>
                      <a:r>
                        <a:t>−0.7 points</a:t>
                      </a:r>
                    </a:p>
                  </a:txBody>
                  <a:tcPr marL="91440" marR="91440" marT="45720" marB="45720"/>
                </a:tc>
              </a:tr>
              <a:tr h="514350">
                <a:tc>
                  <a:txBody>
                    <a:bodyPr/>
                    <a:lstStyle/>
                    <a:p>
                      <a:r>
                        <a:t>Fall rate ↓</a:t>
                      </a:r>
                    </a:p>
                  </a:txBody>
                  <a:tcPr marL="91440" marR="91440" marT="45720" marB="45720"/>
                </a:tc>
                <a:tc>
                  <a:txBody>
                    <a:bodyPr/>
                    <a:lstStyle/>
                    <a:p>
                      <a:r>
                        <a:t>1.6%</a:t>
                      </a:r>
                    </a:p>
                  </a:txBody>
                  <a:tcPr marL="91440" marR="91440" marT="45720" marB="45720"/>
                </a:tc>
                <a:tc>
                  <a:txBody>
                    <a:bodyPr/>
                    <a:lstStyle/>
                    <a:p>
                      <a:r>
                        <a:t>2.3%</a:t>
                      </a:r>
                    </a:p>
                  </a:txBody>
                  <a:tcPr marL="91440" marR="91440" marT="45720" marB="45720"/>
                </a:tc>
                <a:tc>
                  <a:txBody>
                    <a:bodyPr/>
                    <a:lstStyle/>
                    <a:p>
                      <a:r>
                        <a:t>+0.7 points</a:t>
                      </a:r>
                    </a:p>
                  </a:txBody>
                  <a:tcPr marL="91440" marR="91440" marT="45720" marB="45720"/>
                </a:tc>
              </a:tr>
              <a:tr h="514350">
                <a:tc>
                  <a:txBody>
                    <a:bodyPr/>
                    <a:lstStyle/>
                    <a:p>
                      <a:r>
                        <a:t>Planar error ↓</a:t>
                      </a:r>
                    </a:p>
                  </a:txBody>
                  <a:tcPr marL="91440" marR="91440" marT="45720" marB="45720"/>
                </a:tc>
                <a:tc>
                  <a:txBody>
                    <a:bodyPr/>
                    <a:lstStyle/>
                    <a:p>
                      <a:r>
                        <a:t>0.062 m/s</a:t>
                      </a:r>
                    </a:p>
                  </a:txBody>
                  <a:tcPr marL="91440" marR="91440" marT="45720" marB="45720"/>
                </a:tc>
                <a:tc>
                  <a:txBody>
                    <a:bodyPr/>
                    <a:lstStyle/>
                    <a:p>
                      <a:r>
                        <a:t>0.070 m/s</a:t>
                      </a:r>
                    </a:p>
                  </a:txBody>
                  <a:tcPr marL="91440" marR="91440" marT="45720" marB="45720"/>
                </a:tc>
                <a:tc>
                  <a:txBody>
                    <a:bodyPr/>
                    <a:lstStyle/>
                    <a:p>
                      <a:r>
                        <a:t>+0.008 m/s</a:t>
                      </a:r>
                    </a:p>
                  </a:txBody>
                  <a:tcPr marL="91440" marR="91440" marT="45720" marB="45720"/>
                </a:tc>
              </a:tr>
              <a:tr h="514350">
                <a:tc>
                  <a:txBody>
                    <a:bodyPr/>
                    <a:lstStyle/>
                    <a:p>
                      <a:r>
                        <a:t>Yaw error ↓</a:t>
                      </a:r>
                    </a:p>
                  </a:txBody>
                  <a:tcPr marL="91440" marR="91440" marT="45720" marB="45720"/>
                </a:tc>
                <a:tc>
                  <a:txBody>
                    <a:bodyPr/>
                    <a:lstStyle/>
                    <a:p>
                      <a:r>
                        <a:t>0.065 rad/s</a:t>
                      </a:r>
                    </a:p>
                  </a:txBody>
                  <a:tcPr marL="91440" marR="91440" marT="45720" marB="45720"/>
                </a:tc>
                <a:tc>
                  <a:txBody>
                    <a:bodyPr/>
                    <a:lstStyle/>
                    <a:p>
                      <a:r>
                        <a:t>0.065 rad/s</a:t>
                      </a:r>
                    </a:p>
                  </a:txBody>
                  <a:tcPr marL="91440" marR="91440" marT="45720" marB="45720"/>
                </a:tc>
                <a:tc>
                  <a:txBody>
                    <a:bodyPr/>
                    <a:lstStyle/>
                    <a:p>
                      <a:r>
                        <a:t>unchanged</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92E6635B-E3E5-4F70-B799-9CAFD62E3956}"/>
              </a:ext>
            </a:extLst>
          </p:cNvPr>
          <p:cNvSpPr>
            <a:spLocks xmlns:a="http://schemas.openxmlformats.org/drawingml/2006/main" noGrp="1"/>
          </p:cNvSpPr>
          <p:nvPr/>
        </p:nvSpPr>
        <p:spPr>
          <a:xfrm xmlns:a="http://schemas.openxmlformats.org/drawingml/2006/main">
            <a:off x="7953375" y="2143125"/>
            <a:ext cx="3333750" cy="2857500"/>
          </a:xfrm>
          <a:prstGeom xmlns:a="http://schemas.openxmlformats.org/drawingml/2006/main" prst="roundRect">
            <a:avLst>
              <a:gd name="adj" fmla="val 2667"/>
            </a:avLst>
          </a:prstGeom>
          <a:solidFill xmlns:a="http://schemas.openxmlformats.org/drawingml/2006/main">
            <a:srgbClr val="F6FAFD"/>
          </a:solidFill>
          <a:ln xmlns:a="http://schemas.openxmlformats.org/drawingml/2006/main" w="9525">
            <a:solidFill>
              <a:srgbClr val="D8E1E8"/>
            </a:solidFill>
            <a:prstDash val="solid"/>
          </a:ln>
        </p:spPr>
      </p:sp>
      <p:sp>
        <p:nvSpPr>
          <p:cNvPr id="8" name="">
            <a:extLst xmlns:a="http://schemas.openxmlformats.org/drawingml/2006/main">
              <a:ext uri="{FF2B5EF4-FFF2-40B4-BE49-F238E27FC236}">
                <a16:creationId xmlns:a16="http://schemas.microsoft.com/office/drawing/2014/main" id="{C863CFB4-3C6F-43CD-88AA-15D0B18C78F9}"/>
              </a:ext>
            </a:extLst>
          </p:cNvPr>
          <p:cNvSpPr>
            <a:spLocks xmlns:a="http://schemas.openxmlformats.org/drawingml/2006/main" noGrp="1"/>
          </p:cNvSpPr>
          <p:nvPr/>
        </p:nvSpPr>
        <p:spPr>
          <a:xfrm xmlns:a="http://schemas.openxmlformats.org/drawingml/2006/main">
            <a:off x="8239125" y="2381250"/>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lgn="l">
              <a:defRPr sz="1500" b="1">
                <a:solidFill>
                  <a:srgbClr val="20262E"/>
                </a:solidFill>
                <a:latin typeface="Arial"/>
                <a:ea typeface="Arial"/>
                <a:cs typeface="Arial"/>
              </a:defRPr>
            </a:pPr>
            <a:r>
              <a:rPr sz="1500" b="1">
                <a:solidFill>
                  <a:srgbClr val="20262E"/>
                </a:solidFill>
                <a:latin typeface="Arial"/>
                <a:ea typeface="Arial"/>
                <a:cs typeface="Arial"/>
              </a:rPr>
              <a:t>Interpretation</a:t>
            </a:r>
          </a:p>
        </p:txBody>
      </p:sp>
      <p:sp>
        <p:nvSpPr>
          <p:cNvPr id="9" name="">
            <a:extLst xmlns:a="http://schemas.openxmlformats.org/drawingml/2006/main">
              <a:ext uri="{FF2B5EF4-FFF2-40B4-BE49-F238E27FC236}">
                <a16:creationId xmlns:a16="http://schemas.microsoft.com/office/drawing/2014/main" id="{4205F5E1-250D-4C54-9232-83A8805EFE00}"/>
              </a:ext>
            </a:extLst>
          </p:cNvPr>
          <p:cNvSpPr>
            <a:spLocks xmlns:a="http://schemas.openxmlformats.org/drawingml/2006/main" noGrp="1"/>
          </p:cNvSpPr>
          <p:nvPr/>
        </p:nvSpPr>
        <p:spPr>
          <a:xfrm xmlns:a="http://schemas.openxmlformats.org/drawingml/2006/main">
            <a:off x="8239125" y="2905125"/>
            <a:ext cx="2714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963"/>
          </a:bodyPr>
          <a:lstStyle xmlns:a="http://schemas.openxmlformats.org/drawingml/2006/main"/>
          <a:p xmlns:a="http://schemas.openxmlformats.org/drawingml/2006/main">
            <a:pPr algn="l">
              <a:defRPr sz="1350" b="0">
                <a:solidFill>
                  <a:srgbClr val="5B6670"/>
                </a:solidFill>
                <a:latin typeface="Arial"/>
                <a:ea typeface="Arial"/>
                <a:cs typeface="Arial"/>
              </a:defRPr>
            </a:pPr>
            <a:r>
              <a:rPr sz="1350" b="0">
                <a:solidFill>
                  <a:srgbClr val="5B6670"/>
                </a:solidFill>
                <a:latin typeface="Arial"/>
                <a:ea typeface="Arial"/>
                <a:cs typeface="Arial"/>
              </a:rPr>
              <a:t>The clock strongly regularized timing on controlled ground. Difficult terrain sometimes benefits from delaying a foot or breaking the nominal rhythm.</a:t>
            </a:r>
          </a:p>
        </p:txBody>
      </p:sp>
      <p:sp>
        <p:nvSpPr>
          <p:cNvPr id="10" name="">
            <a:extLst xmlns:a="http://schemas.openxmlformats.org/drawingml/2006/main">
              <a:ext uri="{FF2B5EF4-FFF2-40B4-BE49-F238E27FC236}">
                <a16:creationId xmlns:a16="http://schemas.microsoft.com/office/drawing/2014/main" id="{9D9C5A9B-0C80-4175-903C-0782F7169D03}"/>
              </a:ext>
            </a:extLst>
          </p:cNvPr>
          <p:cNvSpPr>
            <a:spLocks xmlns:a="http://schemas.openxmlformats.org/drawingml/2006/main" noGrp="1"/>
          </p:cNvSpPr>
          <p:nvPr/>
        </p:nvSpPr>
        <p:spPr>
          <a:xfrm xmlns:a="http://schemas.openxmlformats.org/drawingml/2006/main">
            <a:off x="8239125" y="4143375"/>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lgn="l">
              <a:defRPr sz="1275" b="1">
                <a:solidFill>
                  <a:srgbClr val="2596E8"/>
                </a:solidFill>
                <a:latin typeface="Arial"/>
                <a:ea typeface="Arial"/>
                <a:cs typeface="Arial"/>
              </a:defRPr>
            </a:pPr>
            <a:r>
              <a:rPr sz="1275" b="1">
                <a:solidFill>
                  <a:srgbClr val="2596E8"/>
                </a:solidFill>
                <a:latin typeface="Arial"/>
                <a:ea typeface="Arial"/>
                <a:cs typeface="Arial"/>
              </a:rPr>
              <a:t>Next step</a:t>
            </a:r>
          </a:p>
        </p:txBody>
      </p:sp>
      <p:sp>
        <p:nvSpPr>
          <p:cNvPr id="11" name="">
            <a:extLst xmlns:a="http://schemas.openxmlformats.org/drawingml/2006/main">
              <a:ext uri="{FF2B5EF4-FFF2-40B4-BE49-F238E27FC236}">
                <a16:creationId xmlns:a16="http://schemas.microsoft.com/office/drawing/2014/main" id="{C0F829C6-2639-4302-A6DA-8EBEB9A8A6BA}"/>
              </a:ext>
            </a:extLst>
          </p:cNvPr>
          <p:cNvSpPr>
            <a:spLocks xmlns:a="http://schemas.openxmlformats.org/drawingml/2006/main" noGrp="1"/>
          </p:cNvSpPr>
          <p:nvPr/>
        </p:nvSpPr>
        <p:spPr>
          <a:xfrm xmlns:a="http://schemas.openxmlformats.org/drawingml/2006/main">
            <a:off x="8239125" y="4448175"/>
            <a:ext cx="2714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20262E"/>
                </a:solidFill>
                <a:latin typeface="Arial"/>
                <a:ea typeface="Arial"/>
                <a:cs typeface="Arial"/>
              </a:defRPr>
            </a:pPr>
            <a:r>
              <a:rPr sz="1200" b="1">
                <a:solidFill>
                  <a:srgbClr val="20262E"/>
                </a:solidFill>
                <a:latin typeface="Arial"/>
                <a:ea typeface="Arial"/>
                <a:cs typeface="Arial"/>
              </a:rPr>
              <a:t>Adapt clock strength or phase speed using terrain difficulty.</a:t>
            </a:r>
          </a:p>
        </p:txBody>
      </p:sp>
      <p:sp>
        <p:nvSpPr>
          <p:cNvPr id="12" name="">
            <a:extLst xmlns:a="http://schemas.openxmlformats.org/drawingml/2006/main">
              <a:ext uri="{FF2B5EF4-FFF2-40B4-BE49-F238E27FC236}">
                <a16:creationId xmlns:a16="http://schemas.microsoft.com/office/drawing/2014/main" id="{1DE2055E-91FE-454F-8FE7-00C17D294346}"/>
              </a:ext>
            </a:extLst>
          </p:cNvPr>
          <p:cNvSpPr>
            <a:spLocks xmlns:a="http://schemas.openxmlformats.org/drawingml/2006/main" noGrp="1"/>
          </p:cNvSpPr>
          <p:nvPr/>
        </p:nvSpPr>
        <p:spPr>
          <a:xfrm xmlns:a="http://schemas.openxmlformats.org/drawingml/2006/main">
            <a:off x="619125" y="5286375"/>
            <a:ext cx="10668000" cy="685800"/>
          </a:xfrm>
          <a:prstGeom xmlns:a="http://schemas.openxmlformats.org/drawingml/2006/main" prst="roundRect">
            <a:avLst>
              <a:gd name="adj" fmla="val 11111"/>
            </a:avLst>
          </a:prstGeom>
          <a:solidFill xmlns:a="http://schemas.openxmlformats.org/drawingml/2006/main">
            <a:srgbClr val="EAF6FE"/>
          </a:solidFill>
          <a:ln xmlns:a="http://schemas.openxmlformats.org/drawingml/2006/main" w="9525">
            <a:solidFill>
              <a:srgbClr val="D8E1E8"/>
            </a:solidFill>
            <a:prstDash val="solid"/>
          </a:ln>
        </p:spPr>
      </p:sp>
      <p:sp>
        <p:nvSpPr>
          <p:cNvPr id="13" name="">
            <a:extLst xmlns:a="http://schemas.openxmlformats.org/drawingml/2006/main">
              <a:ext uri="{FF2B5EF4-FFF2-40B4-BE49-F238E27FC236}">
                <a16:creationId xmlns:a16="http://schemas.microsoft.com/office/drawing/2014/main" id="{724F62E4-70BA-443E-8006-092DBEF2272E}"/>
              </a:ext>
            </a:extLst>
          </p:cNvPr>
          <p:cNvSpPr>
            <a:spLocks xmlns:a="http://schemas.openxmlformats.org/drawingml/2006/main" noGrp="1"/>
          </p:cNvSpPr>
          <p:nvPr/>
        </p:nvSpPr>
        <p:spPr>
          <a:xfrm xmlns:a="http://schemas.openxmlformats.org/drawingml/2006/main">
            <a:off x="857250" y="5429250"/>
            <a:ext cx="1019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442"/>
          </a:bodyPr>
          <a:lstStyle xmlns:a="http://schemas.openxmlformats.org/drawingml/2006/main"/>
          <a:p xmlns:a="http://schemas.openxmlformats.org/drawingml/2006/main">
            <a:pPr algn="ctr">
              <a:defRPr sz="1350" b="1">
                <a:solidFill>
                  <a:srgbClr val="20262E"/>
                </a:solidFill>
                <a:latin typeface="Arial"/>
                <a:ea typeface="Arial"/>
                <a:cs typeface="Arial"/>
              </a:defRPr>
            </a:pPr>
            <a:r>
              <a:rPr sz="1350" b="1">
                <a:solidFill>
                  <a:srgbClr val="20262E"/>
                </a:solidFill>
                <a:latin typeface="Arial"/>
                <a:ea typeface="Arial"/>
                <a:cs typeface="Arial"/>
              </a:rPr>
              <a:t>Defensible result: a targeted architectural change fixed the measured gait defect and revealed a quantifiable regularity–adaptability tradeoff.</a:t>
            </a:r>
          </a:p>
        </p:txBody>
      </p:sp>
    </p:spTree>
    <p:extLst>
      <p:ext uri="{BB962C8B-B14F-4D97-AF65-F5344CB8AC3E}">
        <p14:creationId xmlns:p14="http://schemas.microsoft.com/office/powerpoint/2010/main" val="169428428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5EE4EDB-0F87-4B25-B634-BA3275715723}"/>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2 · EVALUATION</a:t>
            </a:r>
          </a:p>
        </p:txBody>
      </p:sp>
      <p:sp>
        <p:nvSpPr>
          <p:cNvPr id="2" name="">
            <a:extLst xmlns:a="http://schemas.openxmlformats.org/drawingml/2006/main">
              <a:ext uri="{FF2B5EF4-FFF2-40B4-BE49-F238E27FC236}">
                <a16:creationId xmlns:a16="http://schemas.microsoft.com/office/drawing/2014/main" id="{A2505FEB-EBBA-43CC-BDD5-EDB6C8783AB3}"/>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Held-out physics tests showed where domain randomization actually helped</a:t>
            </a:r>
          </a:p>
        </p:txBody>
      </p:sp>
      <p:sp>
        <p:nvSpPr>
          <p:cNvPr id="3" name="">
            <a:extLst xmlns:a="http://schemas.openxmlformats.org/drawingml/2006/main">
              <a:ext uri="{FF2B5EF4-FFF2-40B4-BE49-F238E27FC236}">
                <a16:creationId xmlns:a16="http://schemas.microsoft.com/office/drawing/2014/main" id="{1703968C-8001-4991-BC05-984AF139E26D}"/>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031AEDD9-EAF9-476C-A250-92BC5A696816}"/>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18</a:t>
            </a:r>
          </a:p>
        </p:txBody>
      </p:sp>
      <p:graphicFrame>
        <p:nvGraphicFramePr>
          <p:cNvPr id="18" name="Chart"/>
          <p:cNvGraphicFramePr/>
          <p:nvPr/>
        </p:nvGraphicFramePr>
        <p:xfrm>
          <a:off xmlns:a="http://schemas.openxmlformats.org/drawingml/2006/main" x="523875" y="1857375"/>
          <a:ext xmlns:a="http://schemas.openxmlformats.org/drawingml/2006/main" cx="6572250" cy="3714750"/>
        </p:xfrm>
        <a:graphic xmlns:a="http://schemas.openxmlformats.org/drawingml/2006/main">
          <a:graphicData uri="http://schemas.openxmlformats.org/drawingml/2006/chart">
            <c:chart xmlns:r="http://schemas.openxmlformats.org/officeDocument/2006/relationships" xmlns:c="http://schemas.openxmlformats.org/drawingml/2006/chart" r:id="R4603074660034ed1"/>
          </a:graphicData>
        </a:graphic>
      </p:graphicFrame>
      <p:sp>
        <p:nvSpPr>
          <p:cNvPr id="6" name="">
            <a:extLst xmlns:a="http://schemas.openxmlformats.org/drawingml/2006/main">
              <a:ext uri="{FF2B5EF4-FFF2-40B4-BE49-F238E27FC236}">
                <a16:creationId xmlns:a16="http://schemas.microsoft.com/office/drawing/2014/main" id="{3F46D3E8-9A10-4014-881B-695B37B22978}"/>
              </a:ext>
            </a:extLst>
          </p:cNvPr>
          <p:cNvSpPr>
            <a:spLocks xmlns:a="http://schemas.openxmlformats.org/drawingml/2006/main" noGrp="1"/>
          </p:cNvSpPr>
          <p:nvPr/>
        </p:nvSpPr>
        <p:spPr>
          <a:xfrm xmlns:a="http://schemas.openxmlformats.org/drawingml/2006/main">
            <a:off x="7667625" y="1952625"/>
            <a:ext cx="3571875" cy="1285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281EFAA-ED2A-409A-A76D-AE2C7C074AE7}"/>
              </a:ext>
            </a:extLst>
          </p:cNvPr>
          <p:cNvSpPr>
            <a:spLocks xmlns:a="http://schemas.openxmlformats.org/drawingml/2006/main" noGrp="1"/>
          </p:cNvSpPr>
          <p:nvPr/>
        </p:nvSpPr>
        <p:spPr>
          <a:xfrm xmlns:a="http://schemas.openxmlformats.org/drawingml/2006/main">
            <a:off x="7953375" y="219075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3D8DFF"/>
                </a:solidFill>
                <a:latin typeface="Arial"/>
                <a:ea typeface="Arial"/>
                <a:cs typeface="Arial"/>
              </a:defRPr>
            </a:pPr>
            <a:r>
              <a:rPr sz="2550" b="1">
                <a:solidFill>
                  <a:srgbClr val="3D8DFF"/>
                </a:solidFill>
                <a:latin typeface="Arial"/>
                <a:ea typeface="Arial"/>
                <a:cs typeface="Arial"/>
              </a:rPr>
              <a:t>+3.9 pts</a:t>
            </a:r>
          </a:p>
        </p:txBody>
      </p:sp>
      <p:sp>
        <p:nvSpPr>
          <p:cNvPr id="8" name="">
            <a:extLst xmlns:a="http://schemas.openxmlformats.org/drawingml/2006/main">
              <a:ext uri="{FF2B5EF4-FFF2-40B4-BE49-F238E27FC236}">
                <a16:creationId xmlns:a16="http://schemas.microsoft.com/office/drawing/2014/main" id="{A9BC0FCA-1919-49D1-8549-D0037E004F18}"/>
              </a:ext>
            </a:extLst>
          </p:cNvPr>
          <p:cNvSpPr>
            <a:spLocks xmlns:a="http://schemas.openxmlformats.org/drawingml/2006/main" noGrp="1"/>
          </p:cNvSpPr>
          <p:nvPr/>
        </p:nvSpPr>
        <p:spPr>
          <a:xfrm xmlns:a="http://schemas.openxmlformats.org/drawingml/2006/main">
            <a:off x="7953375" y="2714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buNone/>
              <a:defRPr sz="1350" b="0">
                <a:solidFill>
                  <a:srgbClr val="5F6672"/>
                </a:solidFill>
                <a:latin typeface="Arial"/>
                <a:ea typeface="Arial"/>
                <a:cs typeface="Arial"/>
              </a:defRPr>
            </a:pPr>
            <a:r>
              <a:rPr sz="1350" b="0">
                <a:solidFill>
                  <a:srgbClr val="5F6672"/>
                </a:solidFill>
                <a:latin typeface="Arial"/>
                <a:ea typeface="Arial"/>
                <a:cs typeface="Arial"/>
              </a:rPr>
              <a:t>OOD completion improvement</a:t>
            </a:r>
          </a:p>
        </p:txBody>
      </p:sp>
      <p:sp>
        <p:nvSpPr>
          <p:cNvPr id="9" name="">
            <a:extLst xmlns:a="http://schemas.openxmlformats.org/drawingml/2006/main">
              <a:ext uri="{FF2B5EF4-FFF2-40B4-BE49-F238E27FC236}">
                <a16:creationId xmlns:a16="http://schemas.microsoft.com/office/drawing/2014/main" id="{144AF4E5-BB4D-41C3-9E3C-E15191C2C8AF}"/>
              </a:ext>
            </a:extLst>
          </p:cNvPr>
          <p:cNvSpPr>
            <a:spLocks xmlns:a="http://schemas.openxmlformats.org/drawingml/2006/main" noGrp="1"/>
          </p:cNvSpPr>
          <p:nvPr/>
        </p:nvSpPr>
        <p:spPr>
          <a:xfrm xmlns:a="http://schemas.openxmlformats.org/drawingml/2006/main">
            <a:off x="7667625" y="37147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913"/>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Where it helped</a:t>
            </a:r>
          </a:p>
        </p:txBody>
      </p:sp>
      <p:sp>
        <p:nvSpPr>
          <p:cNvPr id="10" name="">
            <a:extLst xmlns:a="http://schemas.openxmlformats.org/drawingml/2006/main">
              <a:ext uri="{FF2B5EF4-FFF2-40B4-BE49-F238E27FC236}">
                <a16:creationId xmlns:a16="http://schemas.microsoft.com/office/drawing/2014/main" id="{CC027B46-F9A6-4D06-B228-27F89C3B7142}"/>
              </a:ext>
            </a:extLst>
          </p:cNvPr>
          <p:cNvSpPr>
            <a:spLocks xmlns:a="http://schemas.openxmlformats.org/drawingml/2006/main" noGrp="1"/>
          </p:cNvSpPr>
          <p:nvPr/>
        </p:nvSpPr>
        <p:spPr>
          <a:xfrm xmlns:a="http://schemas.openxmlformats.org/drawingml/2006/main">
            <a:off x="7667625" y="4143375"/>
            <a:ext cx="28575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111318"/>
                </a:solidFill>
                <a:latin typeface="Arial"/>
                <a:ea typeface="Arial"/>
                <a:cs typeface="Arial"/>
              </a:defRPr>
            </a:pPr>
            <a:r>
              <a:rPr sz="1500" b="0">
                <a:solidFill>
                  <a:srgbClr val="111318"/>
                </a:solidFill>
                <a:latin typeface="Arial"/>
                <a:ea typeface="Arial"/>
                <a:cs typeface="Arial"/>
              </a:rPr>
              <a:t>Straight walking</a:t>
            </a:r>
          </a:p>
          <a:p xmlns:a="http://schemas.openxmlformats.org/drawingml/2006/main">
            <a:pPr algn="l">
              <a:buNone/>
              <a:defRPr sz="1500" b="0">
                <a:solidFill>
                  <a:srgbClr val="111318"/>
                </a:solidFill>
                <a:latin typeface="Arial"/>
                <a:ea typeface="Arial"/>
                <a:cs typeface="Arial"/>
              </a:defRPr>
            </a:pPr>
            <a:r>
              <a:rPr sz="1500" b="0">
                <a:solidFill>
                  <a:srgbClr val="111318"/>
                </a:solidFill>
                <a:latin typeface="Arial"/>
                <a:ea typeface="Arial"/>
                <a:cs typeface="Arial"/>
              </a:rPr>
              <a:t>70.3% → 79.7%</a:t>
            </a:r>
          </a:p>
          <a:p xmlns:a="http://schemas.openxmlformats.org/drawingml/2006/main">
            <a:r>
              <a:t/>
            </a:r>
          </a:p>
          <a:p xmlns:a="http://schemas.openxmlformats.org/drawingml/2006/main">
            <a:pPr algn="l">
              <a:buNone/>
              <a:defRPr sz="1500" b="0">
                <a:solidFill>
                  <a:srgbClr val="111318"/>
                </a:solidFill>
                <a:latin typeface="Arial"/>
                <a:ea typeface="Arial"/>
                <a:cs typeface="Arial"/>
              </a:defRPr>
            </a:pPr>
            <a:r>
              <a:rPr sz="1500" b="0">
                <a:solidFill>
                  <a:srgbClr val="111318"/>
                </a:solidFill>
                <a:latin typeface="Arial"/>
                <a:ea typeface="Arial"/>
                <a:cs typeface="Arial"/>
              </a:rPr>
              <a:t>Combined motion</a:t>
            </a:r>
          </a:p>
          <a:p xmlns:a="http://schemas.openxmlformats.org/drawingml/2006/main">
            <a:pPr algn="l">
              <a:buNone/>
              <a:defRPr sz="1500" b="0">
                <a:solidFill>
                  <a:srgbClr val="111318"/>
                </a:solidFill>
                <a:latin typeface="Arial"/>
                <a:ea typeface="Arial"/>
                <a:cs typeface="Arial"/>
              </a:defRPr>
            </a:pPr>
            <a:r>
              <a:rPr sz="1500" b="0">
                <a:solidFill>
                  <a:srgbClr val="111318"/>
                </a:solidFill>
                <a:latin typeface="Arial"/>
                <a:ea typeface="Arial"/>
                <a:cs typeface="Arial"/>
              </a:rPr>
              <a:t>71.9% → 85.9%</a:t>
            </a:r>
          </a:p>
        </p:txBody>
      </p:sp>
      <p:sp>
        <p:nvSpPr>
          <p:cNvPr id="11" name="">
            <a:extLst xmlns:a="http://schemas.openxmlformats.org/drawingml/2006/main">
              <a:ext uri="{FF2B5EF4-FFF2-40B4-BE49-F238E27FC236}">
                <a16:creationId xmlns:a16="http://schemas.microsoft.com/office/drawing/2014/main" id="{BB362200-6E73-4040-8ABF-AD865B305912}"/>
              </a:ext>
            </a:extLst>
          </p:cNvPr>
          <p:cNvSpPr>
            <a:spLocks xmlns:a="http://schemas.openxmlformats.org/drawingml/2006/main" noGrp="1"/>
          </p:cNvSpPr>
          <p:nvPr/>
        </p:nvSpPr>
        <p:spPr>
          <a:xfrm xmlns:a="http://schemas.openxmlformats.org/drawingml/2006/main">
            <a:off x="7667625" y="5572125"/>
            <a:ext cx="3429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765"/>
          </a:bodyPr>
          <a:lstStyle xmlns:a="http://schemas.openxmlformats.org/drawingml/2006/main"/>
          <a:p xmlns:a="http://schemas.openxmlformats.org/drawingml/2006/main">
            <a:pPr algn="l">
              <a:buNone/>
              <a:defRPr sz="1275" b="0">
                <a:solidFill>
                  <a:srgbClr val="5F6672"/>
                </a:solidFill>
                <a:latin typeface="Arial"/>
                <a:ea typeface="Arial"/>
                <a:cs typeface="Arial"/>
              </a:defRPr>
            </a:pPr>
            <a:r>
              <a:rPr sz="1275" b="0">
                <a:solidFill>
                  <a:srgbClr val="5F6672"/>
                </a:solidFill>
                <a:latin typeface="Arial"/>
                <a:ea typeface="Arial"/>
                <a:cs typeface="Arial"/>
              </a:rPr>
              <a:t>Tradeoff: OOD in-place turning fell from 98.4% to 90.6%.</a:t>
            </a:r>
          </a:p>
        </p:txBody>
      </p:sp>
    </p:spTree>
    <p:extLst>
      <p:ext uri="{BB962C8B-B14F-4D97-AF65-F5344CB8AC3E}">
        <p14:creationId xmlns:p14="http://schemas.microsoft.com/office/powerpoint/2010/main" val="4795252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190E5CD-063F-4C10-B6D4-FAC8CD752DFA}"/>
              </a:ext>
            </a:extLst>
          </p:cNvPr>
          <p:cNvSpPr>
            <a:spLocks xmlns:a="http://schemas.openxmlformats.org/drawingml/2006/main" noGrp="1"/>
          </p:cNvSpPr>
          <p:nvPr/>
        </p:nvSpPr>
        <p:spPr>
          <a:xfrm xmlns:a="http://schemas.openxmlformats.org/drawingml/2006/main">
            <a:off x="7677150" y="1524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r">
              <a:buNone/>
              <a:defRPr sz="1050" b="1">
                <a:solidFill>
                  <a:srgbClr val="5F6672"/>
                </a:solidFill>
                <a:latin typeface="Arial"/>
                <a:ea typeface="Arial"/>
                <a:cs typeface="Arial"/>
              </a:defRPr>
            </a:pPr>
            <a:r>
              <a:rPr sz="1050" b="1">
                <a:solidFill>
                  <a:srgbClr val="5F6672"/>
                </a:solidFill>
                <a:latin typeface="Arial"/>
                <a:ea typeface="Arial"/>
                <a:cs typeface="Arial"/>
              </a:rPr>
              <a:t>PROJECT 2 · INTERPRETATION</a:t>
            </a:r>
          </a:p>
        </p:txBody>
      </p:sp>
      <p:sp>
        <p:nvSpPr>
          <p:cNvPr id="2" name="">
            <a:extLst xmlns:a="http://schemas.openxmlformats.org/drawingml/2006/main">
              <a:ext uri="{FF2B5EF4-FFF2-40B4-BE49-F238E27FC236}">
                <a16:creationId xmlns:a16="http://schemas.microsoft.com/office/drawing/2014/main" id="{0D075911-F161-4EE7-A57A-EF36763F8634}"/>
              </a:ext>
            </a:extLst>
          </p:cNvPr>
          <p:cNvSpPr>
            <a:spLocks xmlns:a="http://schemas.openxmlformats.org/drawingml/2006/main" noGrp="1"/>
          </p:cNvSpPr>
          <p:nvPr/>
        </p:nvSpPr>
        <p:spPr>
          <a:xfrm xmlns:a="http://schemas.openxmlformats.org/drawingml/2006/main">
            <a:off x="514350" y="4953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700" b="1">
                <a:solidFill>
                  <a:srgbClr val="111318"/>
                </a:solidFill>
                <a:latin typeface="Arial"/>
                <a:ea typeface="Arial"/>
                <a:cs typeface="Arial"/>
              </a:defRPr>
            </a:pPr>
            <a:r>
              <a:rPr sz="2700" b="1">
                <a:solidFill>
                  <a:srgbClr val="111318"/>
                </a:solidFill>
                <a:latin typeface="Arial"/>
                <a:ea typeface="Arial"/>
                <a:cs typeface="Arial"/>
              </a:rPr>
              <a:t>OOD robustness improved, but precise planar tracking became harder</a:t>
            </a:r>
          </a:p>
        </p:txBody>
      </p:sp>
      <p:sp>
        <p:nvSpPr>
          <p:cNvPr id="3" name="">
            <a:extLst xmlns:a="http://schemas.openxmlformats.org/drawingml/2006/main">
              <a:ext uri="{FF2B5EF4-FFF2-40B4-BE49-F238E27FC236}">
                <a16:creationId xmlns:a16="http://schemas.microsoft.com/office/drawing/2014/main" id="{73A3FD7B-4849-4615-BFF6-47D1131ECF9F}"/>
              </a:ext>
            </a:extLst>
          </p:cNvPr>
          <p:cNvSpPr>
            <a:spLocks xmlns:a="http://schemas.openxmlformats.org/drawingml/2006/main" noGrp="1"/>
          </p:cNvSpPr>
          <p:nvPr/>
        </p:nvSpPr>
        <p:spPr>
          <a:xfrm xmlns:a="http://schemas.openxmlformats.org/drawingml/2006/main">
            <a:off x="514350" y="1462088"/>
            <a:ext cx="1116330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4" name="">
            <a:extLst xmlns:a="http://schemas.openxmlformats.org/drawingml/2006/main">
              <a:ext uri="{FF2B5EF4-FFF2-40B4-BE49-F238E27FC236}">
                <a16:creationId xmlns:a16="http://schemas.microsoft.com/office/drawing/2014/main" id="{03F78F18-717A-4312-A1D7-803DCD335378}"/>
              </a:ext>
            </a:extLst>
          </p:cNvPr>
          <p:cNvSpPr>
            <a:spLocks xmlns:a="http://schemas.openxmlformats.org/drawingml/2006/main" noGrp="1"/>
          </p:cNvSpPr>
          <p:nvPr/>
        </p:nvSpPr>
        <p:spPr>
          <a:xfrm xmlns:a="http://schemas.openxmlformats.org/drawingml/2006/main">
            <a:off x="11353800" y="6400800"/>
            <a:ext cx="3238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846"/>
          </a:bodyPr>
          <a:lstStyle xmlns:a="http://schemas.openxmlformats.org/drawingml/2006/main"/>
          <a:p xmlns:a="http://schemas.openxmlformats.org/drawingml/2006/main">
            <a:pPr algn="r">
              <a:buNone/>
              <a:defRPr sz="975" b="0">
                <a:solidFill>
                  <a:srgbClr val="5F6672"/>
                </a:solidFill>
                <a:latin typeface="Arial"/>
                <a:ea typeface="Arial"/>
                <a:cs typeface="Arial"/>
              </a:defRPr>
            </a:pPr>
            <a:r>
              <a:rPr sz="975" b="0">
                <a:solidFill>
                  <a:srgbClr val="5F6672"/>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C5B60386-91B0-4D3B-A0CF-9F4469FE9ED0}"/>
              </a:ext>
            </a:extLst>
          </p:cNvPr>
          <p:cNvSpPr>
            <a:spLocks xmlns:a="http://schemas.openxmlformats.org/drawingml/2006/main" noGrp="1"/>
          </p:cNvSpPr>
          <p:nvPr/>
        </p:nvSpPr>
        <p:spPr>
          <a:xfrm xmlns:a="http://schemas.openxmlformats.org/drawingml/2006/main">
            <a:off x="666750" y="18097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buNone/>
              <a:defRPr sz="1800" b="1">
                <a:solidFill>
                  <a:srgbClr val="3D8DFF"/>
                </a:solidFill>
                <a:latin typeface="Arial"/>
                <a:ea typeface="Arial"/>
                <a:cs typeface="Arial"/>
              </a:defRPr>
            </a:pPr>
            <a:r>
              <a:rPr sz="1800" b="1">
                <a:solidFill>
                  <a:srgbClr val="3D8DFF"/>
                </a:solidFill>
                <a:latin typeface="Arial"/>
                <a:ea typeface="Arial"/>
                <a:cs typeface="Arial"/>
              </a:rPr>
              <a:t>Held-out physics</a:t>
            </a:r>
          </a:p>
        </p:txBody>
      </p:sp>
      <p:graphicFrame>
        <p:nvGraphicFramePr>
          <p:cNvPr id="17" name=""/>
          <p:cNvGraphicFramePr/>
          <p:nvPr/>
        </p:nvGraphicFramePr>
        <p:xfrm>
          <a:off xmlns:a="http://schemas.openxmlformats.org/drawingml/2006/main" x="666750" y="2286000"/>
          <a:ext xmlns:a="http://schemas.openxmlformats.org/drawingml/2006/main" cx="10858500" cy="2190750"/>
        </p:xfrm>
        <a:graphic xmlns:a="http://schemas.openxmlformats.org/drawingml/2006/main">
          <a:graphicData uri="http://schemas.openxmlformats.org/drawingml/2006/table">
            <a:tbl>
              <a:tblPr firstRow="1" bandRow="0"/>
              <a:tblGrid>
                <a:gridCol w="4262215"/>
                <a:gridCol w="2029626"/>
                <a:gridCol w="2029626"/>
                <a:gridCol w="2537033"/>
              </a:tblGrid>
              <a:tr h="547688">
                <a:tc>
                  <a:txBody>
                    <a:bodyPr/>
                    <a:lstStyle/>
                    <a:p>
                      <a:r>
                        <a:rPr sz="1350" b="1">
                          <a:solidFill>
                            <a:srgbClr val="FFFFFF"/>
                          </a:solidFill>
                        </a:rPr>
                        <a:t>Metric</a:t>
                      </a:r>
                    </a:p>
                  </a:txBody>
                  <a:tcPr marL="91440" marR="91440" marT="45720" marB="45720" anchor="ctr">
                    <a:solidFill>
                      <a:srgbClr val="111318"/>
                    </a:solidFill>
                  </a:tcPr>
                </a:tc>
                <a:tc>
                  <a:txBody>
                    <a:bodyPr/>
                    <a:lstStyle/>
                    <a:p>
                      <a:r>
                        <a:rPr sz="1350" b="1">
                          <a:solidFill>
                            <a:srgbClr val="FFFFFF"/>
                          </a:solidFill>
                        </a:rPr>
                        <a:t>Control</a:t>
                      </a:r>
                    </a:p>
                  </a:txBody>
                  <a:tcPr marL="91440" marR="91440" marT="45720" marB="45720" anchor="ctr">
                    <a:solidFill>
                      <a:srgbClr val="111318"/>
                    </a:solidFill>
                  </a:tcPr>
                </a:tc>
                <a:tc>
                  <a:txBody>
                    <a:bodyPr/>
                    <a:lstStyle/>
                    <a:p>
                      <a:r>
                        <a:rPr sz="1350" b="1">
                          <a:solidFill>
                            <a:srgbClr val="FFFFFF"/>
                          </a:solidFill>
                        </a:rPr>
                        <a:t>DR</a:t>
                      </a:r>
                    </a:p>
                  </a:txBody>
                  <a:tcPr marL="91440" marR="91440" marT="45720" marB="45720" anchor="ctr">
                    <a:solidFill>
                      <a:srgbClr val="111318"/>
                    </a:solidFill>
                  </a:tcPr>
                </a:tc>
                <a:tc>
                  <a:txBody>
                    <a:bodyPr/>
                    <a:lstStyle/>
                    <a:p>
                      <a:r>
                        <a:rPr sz="1350" b="1">
                          <a:solidFill>
                            <a:srgbClr val="FFFFFF"/>
                          </a:solidFill>
                        </a:rPr>
                        <a:t>Change</a:t>
                      </a:r>
                    </a:p>
                  </a:txBody>
                  <a:tcPr marL="91440" marR="91440" marT="45720" marB="45720" anchor="ctr">
                    <a:solidFill>
                      <a:srgbClr val="111318"/>
                    </a:solidFill>
                  </a:tcPr>
                </a:tc>
              </a:tr>
              <a:tr h="547688">
                <a:tc>
                  <a:txBody>
                    <a:bodyPr/>
                    <a:lstStyle/>
                    <a:p>
                      <a:r>
                        <a:rPr sz="1350" b="1">
                          <a:solidFill>
                            <a:srgbClr val="111318"/>
                          </a:solidFill>
                        </a:rPr>
                        <a:t>Completion</a:t>
                      </a:r>
                    </a:p>
                  </a:txBody>
                  <a:tcPr marL="91440" marR="91440" marT="45720" marB="45720" anchor="ctr">
                    <a:solidFill>
                      <a:srgbClr val="FFFFFF"/>
                    </a:solidFill>
                  </a:tcPr>
                </a:tc>
                <a:tc>
                  <a:txBody>
                    <a:bodyPr/>
                    <a:lstStyle/>
                    <a:p>
                      <a:r>
                        <a:rPr sz="1350">
                          <a:solidFill>
                            <a:srgbClr val="111318"/>
                          </a:solidFill>
                        </a:rPr>
                        <a:t>85.2%</a:t>
                      </a:r>
                    </a:p>
                  </a:txBody>
                  <a:tcPr marL="91440" marR="91440" marT="45720" marB="45720" anchor="ctr">
                    <a:solidFill>
                      <a:srgbClr val="FFFFFF"/>
                    </a:solidFill>
                  </a:tcPr>
                </a:tc>
                <a:tc>
                  <a:txBody>
                    <a:bodyPr/>
                    <a:lstStyle/>
                    <a:p>
                      <a:r>
                        <a:rPr sz="1350">
                          <a:solidFill>
                            <a:srgbClr val="111318"/>
                          </a:solidFill>
                        </a:rPr>
                        <a:t>89.1%</a:t>
                      </a:r>
                    </a:p>
                  </a:txBody>
                  <a:tcPr marL="91440" marR="91440" marT="45720" marB="45720" anchor="ctr">
                    <a:solidFill>
                      <a:srgbClr val="FFFFFF"/>
                    </a:solidFill>
                  </a:tcPr>
                </a:tc>
                <a:tc>
                  <a:txBody>
                    <a:bodyPr/>
                    <a:lstStyle/>
                    <a:p>
                      <a:r>
                        <a:rPr sz="1350" b="1">
                          <a:solidFill>
                            <a:srgbClr val="3D8DFF"/>
                          </a:solidFill>
                        </a:rPr>
                        <a:t>+3.9 points</a:t>
                      </a:r>
                    </a:p>
                  </a:txBody>
                  <a:tcPr marL="91440" marR="91440" marT="45720" marB="45720" anchor="ctr">
                    <a:solidFill>
                      <a:srgbClr val="EAF5FB"/>
                    </a:solidFill>
                  </a:tcPr>
                </a:tc>
              </a:tr>
              <a:tr h="547688">
                <a:tc>
                  <a:txBody>
                    <a:bodyPr/>
                    <a:lstStyle/>
                    <a:p>
                      <a:r>
                        <a:rPr sz="1350" b="1">
                          <a:solidFill>
                            <a:srgbClr val="111318"/>
                          </a:solidFill>
                        </a:rPr>
                        <a:t>Planar velocity error</a:t>
                      </a:r>
                    </a:p>
                  </a:txBody>
                  <a:tcPr marL="91440" marR="91440" marT="45720" marB="45720" anchor="ctr">
                    <a:solidFill>
                      <a:srgbClr val="FFFFFF"/>
                    </a:solidFill>
                  </a:tcPr>
                </a:tc>
                <a:tc>
                  <a:txBody>
                    <a:bodyPr/>
                    <a:lstStyle/>
                    <a:p>
                      <a:r>
                        <a:rPr sz="1350">
                          <a:solidFill>
                            <a:srgbClr val="111318"/>
                          </a:solidFill>
                        </a:rPr>
                        <a:t>0.155 m/s</a:t>
                      </a:r>
                    </a:p>
                  </a:txBody>
                  <a:tcPr marL="91440" marR="91440" marT="45720" marB="45720" anchor="ctr">
                    <a:solidFill>
                      <a:srgbClr val="FFFFFF"/>
                    </a:solidFill>
                  </a:tcPr>
                </a:tc>
                <a:tc>
                  <a:txBody>
                    <a:bodyPr/>
                    <a:lstStyle/>
                    <a:p>
                      <a:r>
                        <a:rPr sz="1350">
                          <a:solidFill>
                            <a:srgbClr val="111318"/>
                          </a:solidFill>
                        </a:rPr>
                        <a:t>0.175 m/s</a:t>
                      </a:r>
                    </a:p>
                  </a:txBody>
                  <a:tcPr marL="91440" marR="91440" marT="45720" marB="45720" anchor="ctr">
                    <a:solidFill>
                      <a:srgbClr val="FFFFFF"/>
                    </a:solidFill>
                  </a:tcPr>
                </a:tc>
                <a:tc>
                  <a:txBody>
                    <a:bodyPr/>
                    <a:lstStyle/>
                    <a:p>
                      <a:r>
                        <a:rPr sz="1350" b="1">
                          <a:solidFill>
                            <a:srgbClr val="A65400"/>
                          </a:solidFill>
                        </a:rPr>
                        <a:t>12.9% worse</a:t>
                      </a:r>
                    </a:p>
                  </a:txBody>
                  <a:tcPr marL="91440" marR="91440" marT="45720" marB="45720" anchor="ctr">
                    <a:solidFill>
                      <a:srgbClr val="FFF3E8"/>
                    </a:solidFill>
                  </a:tcPr>
                </a:tc>
              </a:tr>
              <a:tr h="547688">
                <a:tc>
                  <a:txBody>
                    <a:bodyPr/>
                    <a:lstStyle/>
                    <a:p>
                      <a:r>
                        <a:rPr sz="1350" b="1">
                          <a:solidFill>
                            <a:srgbClr val="111318"/>
                          </a:solidFill>
                        </a:rPr>
                        <a:t>Yaw-rate error</a:t>
                      </a:r>
                    </a:p>
                  </a:txBody>
                  <a:tcPr marL="91440" marR="91440" marT="45720" marB="45720" anchor="ctr">
                    <a:solidFill>
                      <a:srgbClr val="FFFFFF"/>
                    </a:solidFill>
                  </a:tcPr>
                </a:tc>
                <a:tc>
                  <a:txBody>
                    <a:bodyPr/>
                    <a:lstStyle/>
                    <a:p>
                      <a:r>
                        <a:rPr sz="1350">
                          <a:solidFill>
                            <a:srgbClr val="111318"/>
                          </a:solidFill>
                        </a:rPr>
                        <a:t>0.131 rad/s</a:t>
                      </a:r>
                    </a:p>
                  </a:txBody>
                  <a:tcPr marL="91440" marR="91440" marT="45720" marB="45720" anchor="ctr">
                    <a:solidFill>
                      <a:srgbClr val="FFFFFF"/>
                    </a:solidFill>
                  </a:tcPr>
                </a:tc>
                <a:tc>
                  <a:txBody>
                    <a:bodyPr/>
                    <a:lstStyle/>
                    <a:p>
                      <a:r>
                        <a:rPr sz="1350">
                          <a:solidFill>
                            <a:srgbClr val="111318"/>
                          </a:solidFill>
                        </a:rPr>
                        <a:t>0.126 rad/s</a:t>
                      </a:r>
                    </a:p>
                  </a:txBody>
                  <a:tcPr marL="91440" marR="91440" marT="45720" marB="45720" anchor="ctr">
                    <a:solidFill>
                      <a:srgbClr val="FFFFFF"/>
                    </a:solidFill>
                  </a:tcPr>
                </a:tc>
                <a:tc>
                  <a:txBody>
                    <a:bodyPr/>
                    <a:lstStyle/>
                    <a:p>
                      <a:r>
                        <a:rPr sz="1350" b="1">
                          <a:solidFill>
                            <a:srgbClr val="3D8DFF"/>
                          </a:solidFill>
                        </a:rPr>
                        <a:t>3.8% lower error</a:t>
                      </a:r>
                    </a:p>
                  </a:txBody>
                  <a:tcPr marL="91440" marR="91440" marT="45720" marB="45720" anchor="ctr">
                    <a:solidFill>
                      <a:srgbClr val="EAF5FB"/>
                    </a:solidFill>
                  </a:tcPr>
                </a:tc>
              </a:tr>
            </a:tbl>
          </a:graphicData>
        </a:graphic>
      </p:graphicFrame>
      <p:sp>
        <p:nvSpPr>
          <p:cNvPr id="7" name="">
            <a:extLst xmlns:a="http://schemas.openxmlformats.org/drawingml/2006/main">
              <a:ext uri="{FF2B5EF4-FFF2-40B4-BE49-F238E27FC236}">
                <a16:creationId xmlns:a16="http://schemas.microsoft.com/office/drawing/2014/main" id="{AACAA777-394F-43B0-9E51-FB21CD3976C7}"/>
              </a:ext>
            </a:extLst>
          </p:cNvPr>
          <p:cNvSpPr>
            <a:spLocks xmlns:a="http://schemas.openxmlformats.org/drawingml/2006/main" noGrp="1"/>
          </p:cNvSpPr>
          <p:nvPr/>
        </p:nvSpPr>
        <p:spPr>
          <a:xfrm xmlns:a="http://schemas.openxmlformats.org/drawingml/2006/main">
            <a:off x="666750" y="4953000"/>
            <a:ext cx="10858500" cy="1047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6E6524A-E7A4-4C1C-B656-12FF2368AB3D}"/>
              </a:ext>
            </a:extLst>
          </p:cNvPr>
          <p:cNvSpPr>
            <a:spLocks xmlns:a="http://schemas.openxmlformats.org/drawingml/2006/main" noGrp="1"/>
          </p:cNvSpPr>
          <p:nvPr/>
        </p:nvSpPr>
        <p:spPr>
          <a:xfrm xmlns:a="http://schemas.openxmlformats.org/drawingml/2006/main">
            <a:off x="904875" y="5162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016"/>
          </a:bodyPr>
          <a:lstStyle xmlns:a="http://schemas.openxmlformats.org/drawingml/2006/main"/>
          <a:p xmlns:a="http://schemas.openxmlformats.org/drawingml/2006/main">
            <a:pPr algn="l">
              <a:buNone/>
              <a:defRPr sz="1575" b="1">
                <a:solidFill>
                  <a:srgbClr val="3D8DFF"/>
                </a:solidFill>
                <a:latin typeface="Arial"/>
                <a:ea typeface="Arial"/>
                <a:cs typeface="Arial"/>
              </a:defRPr>
            </a:pPr>
            <a:r>
              <a:rPr sz="1575" b="1">
                <a:solidFill>
                  <a:srgbClr val="3D8DFF"/>
                </a:solidFill>
                <a:latin typeface="Arial"/>
                <a:ea typeface="Arial"/>
                <a:cs typeface="Arial"/>
              </a:rPr>
              <a:t>The defensible conclusion</a:t>
            </a:r>
          </a:p>
        </p:txBody>
      </p:sp>
      <p:sp>
        <p:nvSpPr>
          <p:cNvPr id="9" name="">
            <a:extLst xmlns:a="http://schemas.openxmlformats.org/drawingml/2006/main">
              <a:ext uri="{FF2B5EF4-FFF2-40B4-BE49-F238E27FC236}">
                <a16:creationId xmlns:a16="http://schemas.microsoft.com/office/drawing/2014/main" id="{25548DBE-C179-4CD6-8626-575AA969DBE7}"/>
              </a:ext>
            </a:extLst>
          </p:cNvPr>
          <p:cNvSpPr>
            <a:spLocks xmlns:a="http://schemas.openxmlformats.org/drawingml/2006/main" noGrp="1"/>
          </p:cNvSpPr>
          <p:nvPr/>
        </p:nvSpPr>
        <p:spPr>
          <a:xfrm xmlns:a="http://schemas.openxmlformats.org/drawingml/2006/main">
            <a:off x="3476625" y="512445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97"/>
          </a:bodyPr>
          <a:lstStyle xmlns:a="http://schemas.openxmlformats.org/drawingml/2006/main"/>
          <a:p xmlns:a="http://schemas.openxmlformats.org/drawingml/2006/main">
            <a:pPr algn="l">
              <a:buNone/>
              <a:defRPr sz="1500" b="1">
                <a:solidFill>
                  <a:srgbClr val="111318"/>
                </a:solidFill>
                <a:latin typeface="Arial"/>
                <a:ea typeface="Arial"/>
                <a:cs typeface="Arial"/>
              </a:defRPr>
            </a:pPr>
            <a:r>
              <a:rPr sz="1500" b="1">
                <a:solidFill>
                  <a:srgbClr val="111318"/>
                </a:solidFill>
                <a:latin typeface="Arial"/>
                <a:ea typeface="Arial"/>
                <a:cs typeface="Arial"/>
              </a:rPr>
              <a:t>Nominally, DR improved both survival and tracking. Under held-out physics, it survived more often but accepted larger planar tracking errors—the expected robustness–precision tradeoff.</a:t>
            </a:r>
          </a:p>
        </p:txBody>
      </p:sp>
    </p:spTree>
    <p:extLst>
      <p:ext uri="{BB962C8B-B14F-4D97-AF65-F5344CB8AC3E}">
        <p14:creationId xmlns:p14="http://schemas.microsoft.com/office/powerpoint/2010/main" val="194701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C56B4F-3FBD-41EE-896E-ECEA10E7A795}"/>
              </a:ext>
            </a:extLst>
          </p:cNvPr>
          <p:cNvSpPr>
            <a:spLocks xmlns:a="http://schemas.openxmlformats.org/drawingml/2006/main" noGrp="1"/>
          </p:cNvSpPr>
          <p:nvPr/>
        </p:nvSpPr>
        <p:spPr>
          <a:xfrm xmlns:a="http://schemas.openxmlformats.org/drawingml/2006/main">
            <a:off x="523875" y="4191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l">
              <a:buNone/>
              <a:defRPr sz="1050" b="1">
                <a:solidFill>
                  <a:srgbClr val="3D8DFF"/>
                </a:solidFill>
                <a:latin typeface="Arial"/>
                <a:ea typeface="Arial"/>
                <a:cs typeface="Arial"/>
              </a:defRPr>
            </a:pPr>
            <a:r>
              <a:rPr sz="1050" b="1">
                <a:solidFill>
                  <a:srgbClr val="3D8DFF"/>
                </a:solidFill>
                <a:latin typeface="Arial"/>
                <a:ea typeface="Arial"/>
                <a:cs typeface="Arial"/>
              </a:rPr>
              <a:t>WHAT THE TWO PROJECTS DEMONSTRATE</a:t>
            </a:r>
          </a:p>
        </p:txBody>
      </p:sp>
      <p:sp>
        <p:nvSpPr>
          <p:cNvPr id="2" name="">
            <a:extLst xmlns:a="http://schemas.openxmlformats.org/drawingml/2006/main">
              <a:ext uri="{FF2B5EF4-FFF2-40B4-BE49-F238E27FC236}">
                <a16:creationId xmlns:a16="http://schemas.microsoft.com/office/drawing/2014/main" id="{F2E3C417-08E3-4765-B781-E1C5D7958221}"/>
              </a:ext>
            </a:extLst>
          </p:cNvPr>
          <p:cNvSpPr>
            <a:spLocks xmlns:a="http://schemas.openxmlformats.org/drawingml/2006/main" noGrp="1"/>
          </p:cNvSpPr>
          <p:nvPr/>
        </p:nvSpPr>
        <p:spPr>
          <a:xfrm xmlns:a="http://schemas.openxmlformats.org/drawingml/2006/main">
            <a:off x="523875" y="1143000"/>
            <a:ext cx="10287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704"/>
          </a:bodyPr>
          <a:lstStyle xmlns:a="http://schemas.openxmlformats.org/drawingml/2006/main"/>
          <a:p xmlns:a="http://schemas.openxmlformats.org/drawingml/2006/main">
            <a:pPr algn="l">
              <a:buNone/>
              <a:defRPr sz="3375" b="1">
                <a:solidFill>
                  <a:srgbClr val="111318"/>
                </a:solidFill>
                <a:latin typeface="Arial"/>
                <a:ea typeface="Arial"/>
                <a:cs typeface="Arial"/>
              </a:defRPr>
            </a:pPr>
            <a:r>
              <a:rPr sz="3375" b="1">
                <a:solidFill>
                  <a:srgbClr val="111318"/>
                </a:solidFill>
                <a:latin typeface="Arial"/>
                <a:ea typeface="Arial"/>
                <a:cs typeface="Arial"/>
              </a:rPr>
              <a:t>Different locomotion problems, one repeatable engineering approach</a:t>
            </a:r>
          </a:p>
        </p:txBody>
      </p:sp>
      <p:sp>
        <p:nvSpPr>
          <p:cNvPr id="3" name="">
            <a:extLst xmlns:a="http://schemas.openxmlformats.org/drawingml/2006/main">
              <a:ext uri="{FF2B5EF4-FFF2-40B4-BE49-F238E27FC236}">
                <a16:creationId xmlns:a16="http://schemas.microsoft.com/office/drawing/2014/main" id="{EC3BE1F5-F0A5-4B8A-80E0-CBD0DA8E2029}"/>
              </a:ext>
            </a:extLst>
          </p:cNvPr>
          <p:cNvSpPr>
            <a:spLocks xmlns:a="http://schemas.openxmlformats.org/drawingml/2006/main" noGrp="1"/>
          </p:cNvSpPr>
          <p:nvPr/>
        </p:nvSpPr>
        <p:spPr>
          <a:xfrm xmlns:a="http://schemas.openxmlformats.org/drawingml/2006/main">
            <a:off x="523875" y="3048000"/>
            <a:ext cx="3333750" cy="1666875"/>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733C043-F267-4074-82AA-866EFD12CABE}"/>
              </a:ext>
            </a:extLst>
          </p:cNvPr>
          <p:cNvSpPr>
            <a:spLocks xmlns:a="http://schemas.openxmlformats.org/drawingml/2006/main" noGrp="1"/>
          </p:cNvSpPr>
          <p:nvPr/>
        </p:nvSpPr>
        <p:spPr>
          <a:xfrm xmlns:a="http://schemas.openxmlformats.org/drawingml/2006/main">
            <a:off x="762000" y="3333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Define behavior</a:t>
            </a:r>
          </a:p>
        </p:txBody>
      </p:sp>
      <p:sp>
        <p:nvSpPr>
          <p:cNvPr id="5" name="">
            <a:extLst xmlns:a="http://schemas.openxmlformats.org/drawingml/2006/main">
              <a:ext uri="{FF2B5EF4-FFF2-40B4-BE49-F238E27FC236}">
                <a16:creationId xmlns:a16="http://schemas.microsoft.com/office/drawing/2014/main" id="{9E9CEE72-EA3B-4F44-91C4-1A1D41DD7283}"/>
              </a:ext>
            </a:extLst>
          </p:cNvPr>
          <p:cNvSpPr>
            <a:spLocks xmlns:a="http://schemas.openxmlformats.org/drawingml/2006/main" noGrp="1"/>
          </p:cNvSpPr>
          <p:nvPr/>
        </p:nvSpPr>
        <p:spPr>
          <a:xfrm xmlns:a="http://schemas.openxmlformats.org/drawingml/2006/main">
            <a:off x="762000" y="39052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Translate intent into measurable outcomes.</a:t>
            </a:r>
          </a:p>
        </p:txBody>
      </p:sp>
      <p:sp>
        <p:nvSpPr>
          <p:cNvPr id="6" name="">
            <a:extLst xmlns:a="http://schemas.openxmlformats.org/drawingml/2006/main">
              <a:ext uri="{FF2B5EF4-FFF2-40B4-BE49-F238E27FC236}">
                <a16:creationId xmlns:a16="http://schemas.microsoft.com/office/drawing/2014/main" id="{6640FFC7-923F-4917-BEAD-3635E9F9C76C}"/>
              </a:ext>
            </a:extLst>
          </p:cNvPr>
          <p:cNvSpPr>
            <a:spLocks xmlns:a="http://schemas.openxmlformats.org/drawingml/2006/main" noGrp="1"/>
          </p:cNvSpPr>
          <p:nvPr/>
        </p:nvSpPr>
        <p:spPr>
          <a:xfrm xmlns:a="http://schemas.openxmlformats.org/drawingml/2006/main">
            <a:off x="4238625" y="3048000"/>
            <a:ext cx="3333750" cy="1666875"/>
          </a:xfrm>
          <a:prstGeom xmlns:a="http://schemas.openxmlformats.org/drawingml/2006/main" prst="rect">
            <a:avLst/>
          </a:prstGeom>
          <a:solidFill xmlns:a="http://schemas.openxmlformats.org/drawingml/2006/main">
            <a:srgbClr val="F1F3F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9E2CBA9-943A-4592-BAD4-C8C746A41EE9}"/>
              </a:ext>
            </a:extLst>
          </p:cNvPr>
          <p:cNvSpPr>
            <a:spLocks xmlns:a="http://schemas.openxmlformats.org/drawingml/2006/main" noGrp="1"/>
          </p:cNvSpPr>
          <p:nvPr/>
        </p:nvSpPr>
        <p:spPr>
          <a:xfrm xmlns:a="http://schemas.openxmlformats.org/drawingml/2006/main">
            <a:off x="4476750" y="3333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Build progressively</a:t>
            </a:r>
          </a:p>
        </p:txBody>
      </p:sp>
      <p:sp>
        <p:nvSpPr>
          <p:cNvPr id="8" name="">
            <a:extLst xmlns:a="http://schemas.openxmlformats.org/drawingml/2006/main">
              <a:ext uri="{FF2B5EF4-FFF2-40B4-BE49-F238E27FC236}">
                <a16:creationId xmlns:a16="http://schemas.microsoft.com/office/drawing/2014/main" id="{8A6668D4-8E6A-4D16-84BA-EC5986F38D27}"/>
              </a:ext>
            </a:extLst>
          </p:cNvPr>
          <p:cNvSpPr>
            <a:spLocks xmlns:a="http://schemas.openxmlformats.org/drawingml/2006/main" noGrp="1"/>
          </p:cNvSpPr>
          <p:nvPr/>
        </p:nvSpPr>
        <p:spPr>
          <a:xfrm xmlns:a="http://schemas.openxmlformats.org/drawingml/2006/main">
            <a:off x="4476750" y="39052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Isolate capabilities before combining them.</a:t>
            </a:r>
          </a:p>
        </p:txBody>
      </p:sp>
      <p:sp>
        <p:nvSpPr>
          <p:cNvPr id="9" name="">
            <a:extLst xmlns:a="http://schemas.openxmlformats.org/drawingml/2006/main">
              <a:ext uri="{FF2B5EF4-FFF2-40B4-BE49-F238E27FC236}">
                <a16:creationId xmlns:a16="http://schemas.microsoft.com/office/drawing/2014/main" id="{72171A52-ABD8-4094-9FC7-4A7D9D8BC5F7}"/>
              </a:ext>
            </a:extLst>
          </p:cNvPr>
          <p:cNvSpPr>
            <a:spLocks xmlns:a="http://schemas.openxmlformats.org/drawingml/2006/main" noGrp="1"/>
          </p:cNvSpPr>
          <p:nvPr/>
        </p:nvSpPr>
        <p:spPr>
          <a:xfrm xmlns:a="http://schemas.openxmlformats.org/drawingml/2006/main">
            <a:off x="7953375" y="3048000"/>
            <a:ext cx="3333750" cy="16668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D08131-E70A-47BB-B056-82EA79A06FCC}"/>
              </a:ext>
            </a:extLst>
          </p:cNvPr>
          <p:cNvSpPr>
            <a:spLocks xmlns:a="http://schemas.openxmlformats.org/drawingml/2006/main" noGrp="1"/>
          </p:cNvSpPr>
          <p:nvPr/>
        </p:nvSpPr>
        <p:spPr>
          <a:xfrm xmlns:a="http://schemas.openxmlformats.org/drawingml/2006/main">
            <a:off x="8191500" y="33337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Evaluate honestly</a:t>
            </a:r>
          </a:p>
        </p:txBody>
      </p:sp>
      <p:sp>
        <p:nvSpPr>
          <p:cNvPr id="11" name="">
            <a:extLst xmlns:a="http://schemas.openxmlformats.org/drawingml/2006/main">
              <a:ext uri="{FF2B5EF4-FFF2-40B4-BE49-F238E27FC236}">
                <a16:creationId xmlns:a16="http://schemas.microsoft.com/office/drawing/2014/main" id="{454D8381-DE21-499E-A8C8-08DAC1C9E4A5}"/>
              </a:ext>
            </a:extLst>
          </p:cNvPr>
          <p:cNvSpPr>
            <a:spLocks xmlns:a="http://schemas.openxmlformats.org/drawingml/2006/main" noGrp="1"/>
          </p:cNvSpPr>
          <p:nvPr/>
        </p:nvSpPr>
        <p:spPr>
          <a:xfrm xmlns:a="http://schemas.openxmlformats.org/drawingml/2006/main">
            <a:off x="8191500" y="3905250"/>
            <a:ext cx="276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425" b="0">
                <a:solidFill>
                  <a:srgbClr val="5F6672"/>
                </a:solidFill>
                <a:latin typeface="Arial"/>
                <a:ea typeface="Arial"/>
                <a:cs typeface="Arial"/>
              </a:defRPr>
            </a:pPr>
            <a:r>
              <a:rPr sz="1425" b="0">
                <a:solidFill>
                  <a:srgbClr val="5F6672"/>
                </a:solidFill>
                <a:latin typeface="Arial"/>
                <a:ea typeface="Arial"/>
                <a:cs typeface="Arial"/>
              </a:rPr>
              <a:t>Test the shipped loop and report tradeoffs.</a:t>
            </a:r>
          </a:p>
        </p:txBody>
      </p:sp>
      <p:sp>
        <p:nvSpPr>
          <p:cNvPr id="12" name="">
            <a:extLst xmlns:a="http://schemas.openxmlformats.org/drawingml/2006/main">
              <a:ext uri="{FF2B5EF4-FFF2-40B4-BE49-F238E27FC236}">
                <a16:creationId xmlns:a16="http://schemas.microsoft.com/office/drawing/2014/main" id="{1847E9F5-1081-400D-A48D-F2D89C1B8917}"/>
              </a:ext>
            </a:extLst>
          </p:cNvPr>
          <p:cNvSpPr>
            <a:spLocks xmlns:a="http://schemas.openxmlformats.org/drawingml/2006/main" noGrp="1"/>
          </p:cNvSpPr>
          <p:nvPr/>
        </p:nvSpPr>
        <p:spPr>
          <a:xfrm xmlns:a="http://schemas.openxmlformats.org/drawingml/2006/main">
            <a:off x="523875" y="5329238"/>
            <a:ext cx="11144250" cy="9525"/>
          </a:xfrm>
          <a:prstGeom xmlns:a="http://schemas.openxmlformats.org/drawingml/2006/main" prst="rect">
            <a:avLst/>
          </a:prstGeom>
          <a:solidFill xmlns:a="http://schemas.openxmlformats.org/drawingml/2006/main">
            <a:srgbClr val="C7CBD1"/>
          </a:solidFill>
          <a:ln xmlns:a="http://schemas.openxmlformats.org/drawingml/2006/main" w="0">
            <a:solidFill>
              <a:srgbClr val="C7CBD1"/>
            </a:solidFill>
            <a:prstDash val="solid"/>
          </a:ln>
        </p:spPr>
      </p:sp>
      <p:sp>
        <p:nvSpPr>
          <p:cNvPr id="13" name="">
            <a:extLst xmlns:a="http://schemas.openxmlformats.org/drawingml/2006/main">
              <a:ext uri="{FF2B5EF4-FFF2-40B4-BE49-F238E27FC236}">
                <a16:creationId xmlns:a16="http://schemas.microsoft.com/office/drawing/2014/main" id="{1AEB8F90-D16C-49C6-92F6-EC604885E3B6}"/>
              </a:ext>
            </a:extLst>
          </p:cNvPr>
          <p:cNvSpPr>
            <a:spLocks xmlns:a="http://schemas.openxmlformats.org/drawingml/2006/main" noGrp="1"/>
          </p:cNvSpPr>
          <p:nvPr/>
        </p:nvSpPr>
        <p:spPr>
          <a:xfrm xmlns:a="http://schemas.openxmlformats.org/drawingml/2006/main">
            <a:off x="523875" y="561975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927"/>
          </a:bodyPr>
          <a:lstStyle xmlns:a="http://schemas.openxmlformats.org/drawingml/2006/main"/>
          <a:p xmlns:a="http://schemas.openxmlformats.org/drawingml/2006/main">
            <a:pPr algn="l">
              <a:buNone/>
              <a:defRPr sz="1725" b="1">
                <a:solidFill>
                  <a:srgbClr val="111318"/>
                </a:solidFill>
                <a:latin typeface="Arial"/>
                <a:ea typeface="Arial"/>
                <a:cs typeface="Arial"/>
              </a:defRPr>
            </a:pPr>
            <a:r>
              <a:rPr sz="1725" b="1">
                <a:solidFill>
                  <a:srgbClr val="111318"/>
                </a:solidFill>
                <a:latin typeface="Arial"/>
                <a:ea typeface="Arial"/>
                <a:cs typeface="Arial"/>
              </a:rPr>
              <a:t>Project 1 shipped precise, low-latency character repositioning. Project 2 shipped controllable, measurable rough-terrain robot locomotion.</a:t>
            </a:r>
          </a:p>
        </p:txBody>
      </p:sp>
    </p:spTree>
    <p:extLst>
      <p:ext uri="{BB962C8B-B14F-4D97-AF65-F5344CB8AC3E}">
        <p14:creationId xmlns:p14="http://schemas.microsoft.com/office/powerpoint/2010/main" val="8337879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2026-09-13T10:42:51.8630000Z</dcterms:created>
  <dcterms:modified xsi:type="dcterms:W3CDTF">2026-09-13T10:42:51.8630000Z</dcterms:modified>
</coreProperties>
</file>